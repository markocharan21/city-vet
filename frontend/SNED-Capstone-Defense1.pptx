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dia/image10.svg" ContentType="image/svg+xml"/>
  <Override PartName="/ppt/media/image11.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8288000" cy="10287000"/>
  <p:notesSz cx="6858000" cy="9144000"/>
  <p:embeddedFontLst>
    <p:embeddedFont>
      <p:font typeface="Glacial Indifference Bold" panose="020B0604020202020204" charset="0"/>
      <p:regular r:id="rId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0" d="100"/>
          <a:sy n="50" d="100"/>
        </p:scale>
        <p:origin x="154"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font" Target="fonts/font1.fntdata"/><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Respondents</c:v>
                </c:pt>
              </c:strCache>
            </c:strRef>
          </c:tx>
          <c:spPr>
            <a:solidFill>
              <a:srgbClr val="EC6A27"/>
            </a:solidFill>
          </c:spPr>
          <c:invertIfNegative val="0"/>
          <c:cat>
            <c:strRef>
              <c:f>Sheet1!$A$2:$A$6</c:f>
              <c:strCache>
                <c:ptCount val="5"/>
                <c:pt idx="0">
                  <c:v>SNED students / parents</c:v>
                </c:pt>
                <c:pt idx="1">
                  <c:v>SNED teachers</c:v>
                </c:pt>
                <c:pt idx="2">
                  <c:v>IT experts</c:v>
                </c:pt>
                <c:pt idx="3">
                  <c:v>Teacher coordinator</c:v>
                </c:pt>
                <c:pt idx="4">
                  <c:v>School principal</c:v>
                </c:pt>
              </c:strCache>
            </c:strRef>
          </c:cat>
          <c:val>
            <c:numRef>
              <c:f>Sheet1!$B$2:$B$6</c:f>
              <c:numCache>
                <c:formatCode>General</c:formatCode>
                <c:ptCount val="5"/>
                <c:pt idx="0">
                  <c:v>40</c:v>
                </c:pt>
                <c:pt idx="1">
                  <c:v>15</c:v>
                </c:pt>
                <c:pt idx="2">
                  <c:v>5</c:v>
                </c:pt>
                <c:pt idx="3">
                  <c:v>1</c:v>
                </c:pt>
                <c:pt idx="4">
                  <c:v>1</c:v>
                </c:pt>
              </c:numCache>
            </c:numRef>
          </c:val>
        </c:ser>
        <c:dLbls>
          <c:txPr>
            <a:bodyPr/>
            <a:lstStyle/>
            <a:p>
              <a:pPr>
                <a:defRPr sz="1800" b="1"/>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9B9A9D"/>
            </a:solidFill>
          </a:ln>
        </c:spPr>
        <c:txPr>
          <a:bodyPr/>
          <a:lstStyle/>
          <a:p>
            <a:pPr>
              <a:defRPr sz="1600"/>
            </a:pPr>
          </a:p>
        </c:txPr>
        <c:crossAx val="-2113994440"/>
        <c:crosses val="autoZero"/>
        <c:auto val="1"/>
        <c:lblAlgn val="ctr"/>
        <c:lblOffset val="100"/>
        <c:noMultiLvlLbl val="0"/>
      </c:catAx>
      <c:valAx>
        <c:axId val="-2113994440"/>
        <c:scaling>
          <c:max val="50.0"/>
          <c:min val="0.0"/>
        </c:scaling>
        <c:delete/>
        <c:axPos val="b"/>
        <c:majorGridlines>
          <c:spPr>
            <a:ln>
              <a:solidFill>
                <a:srgbClr val="DDDDDD"/>
              </a:solidFill>
            </a:ln>
          </c:spPr>
        </c:majorGridlines>
        <c:majorTickMark val="out"/>
        <c:minorTickMark val="none"/>
        <c:tickLblPos val="nextTo"/>
        <c:spPr>
          <a:ln>
            <a:noFill/>
          </a:ln>
        </c:spPr>
        <c:txPr>
          <a:bodyPr/>
          <a:lstStyle/>
          <a:p>
            <a:pPr>
              <a:defRPr sz="1400"/>
            </a:pPr>
          </a:p>
        </c:txPr>
        <c:crossAx val="-2068027336"/>
        <c:crosses val="autoZero"/>
        <c:majorUnit val="10.0"/>
      </c:valAx>
    </c:plotArea>
    <c:dispBlanksAs val="gap"/>
  </c:chart>
  <c:txPr>
    <a:bodyPr/>
    <a:lstStyle/>
    <a:p>
      <a:pPr>
        <a:defRPr sz="1600">
          <a:solidFill>
            <a:srgbClr val="4A4A4A"/>
          </a:solidFill>
          <a:latin typeface="Glacial Indifference"/>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Weighted mean</c:v>
                </c:pt>
              </c:strCache>
            </c:strRef>
          </c:tx>
          <c:spPr>
            <a:solidFill>
              <a:srgbClr val="EC6A27"/>
            </a:solidFill>
          </c:spPr>
          <c:invertIfNegative val="0"/>
          <c:cat>
            <c:strRef>
              <c:f>Sheet1!$A$2:$A$5</c:f>
              <c:strCache>
                <c:ptCount val="4"/>
                <c:pt idx="0">
                  <c:v>Adjust accessibility settings (Teachers)</c:v>
                </c:pt>
                <c:pt idx="1">
                  <c:v>Accurate progress reports (Teachers)</c:v>
                </c:pt>
                <c:pt idx="2">
                  <c:v>Timely notifications (Students / Guardians)</c:v>
                </c:pt>
                <c:pt idx="3">
                  <c:v>View child's progress (Students / Guardians)</c:v>
                </c:pt>
              </c:strCache>
            </c:strRef>
          </c:cat>
          <c:val>
            <c:numRef>
              <c:f>Sheet1!$B$2:$B$5</c:f>
              <c:numCache>
                <c:formatCode>General</c:formatCode>
                <c:ptCount val="4"/>
                <c:pt idx="0">
                  <c:v>4.44</c:v>
                </c:pt>
                <c:pt idx="1">
                  <c:v>4.33</c:v>
                </c:pt>
                <c:pt idx="2">
                  <c:v>4.2</c:v>
                </c:pt>
                <c:pt idx="3">
                  <c:v>4.08</c:v>
                </c:pt>
              </c:numCache>
            </c:numRef>
          </c:val>
        </c:ser>
        <c:dLbls>
          <c:numFmt formatCode="0.00" sourceLinked="0"/>
          <c:txPr>
            <a:bodyPr/>
            <a:lstStyle/>
            <a:p>
              <a:pPr>
                <a:defRPr sz="1600" b="1">
                  <a:solidFill>
                    <a:srgbClr val="1E1E1E"/>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9B9A9D"/>
            </a:solidFill>
          </a:ln>
        </c:spPr>
        <c:txPr>
          <a:bodyPr/>
          <a:lstStyle/>
          <a:p>
            <a:pPr>
              <a:defRPr sz="1600"/>
            </a:pPr>
          </a:p>
        </c:txPr>
        <c:crossAx val="-2113994440"/>
        <c:crosses val="autoZero"/>
        <c:auto val="1"/>
        <c:lblAlgn val="ctr"/>
        <c:lblOffset val="100"/>
        <c:noMultiLvlLbl val="0"/>
      </c:catAx>
      <c:valAx>
        <c:axId val="-2113994440"/>
        <c:scaling>
          <c:max val="5.0"/>
          <c:min val="0.0"/>
        </c:scaling>
        <c:delete/>
        <c:axPos val="b"/>
        <c:majorGridlines>
          <c:spPr>
            <a:ln>
              <a:solidFill>
                <a:srgbClr val="DDDDDD"/>
              </a:solidFill>
            </a:ln>
          </c:spPr>
        </c:majorGridlines>
        <c:majorTickMark val="out"/>
        <c:minorTickMark val="none"/>
        <c:tickLblPos val="nextTo"/>
        <c:spPr>
          <a:ln>
            <a:noFill/>
          </a:ln>
        </c:spPr>
        <c:txPr>
          <a:bodyPr/>
          <a:lstStyle/>
          <a:p>
            <a:pPr>
              <a:defRPr sz="1400"/>
            </a:pPr>
          </a:p>
        </c:txPr>
        <c:crossAx val="-2068027336"/>
        <c:crosses val="autoZero"/>
        <c:majorUnit val="1.0"/>
      </c:valAx>
    </c:plotArea>
    <c:dispBlanksAs val="gap"/>
  </c:chart>
  <c:txPr>
    <a:bodyPr/>
    <a:lstStyle/>
    <a:p>
      <a:pPr>
        <a:defRPr sz="1600">
          <a:solidFill>
            <a:srgbClr val="4A4A4A"/>
          </a:solidFill>
          <a:latin typeface="Glacial Indifference"/>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Students / Guardians (n = 40)</c:v>
                </c:pt>
              </c:strCache>
            </c:strRef>
          </c:tx>
          <c:spPr>
            <a:solidFill>
              <a:srgbClr val="EC6A27"/>
            </a:solidFill>
          </c:spPr>
          <c:invertIfNegative val="0"/>
          <c:cat>
            <c:strRef>
              <c:f>Sheet1!$A$2:$A$6</c:f>
              <c:strCache>
                <c:ptCount val="5"/>
                <c:pt idx="0">
                  <c:v>Functionality</c:v>
                </c:pt>
                <c:pt idx="1">
                  <c:v>Usability</c:v>
                </c:pt>
                <c:pt idx="2">
                  <c:v>Accessibility</c:v>
                </c:pt>
                <c:pt idx="3">
                  <c:v>User satisfaction</c:v>
                </c:pt>
                <c:pt idx="4">
                  <c:v>Grand mean</c:v>
                </c:pt>
              </c:strCache>
            </c:strRef>
          </c:cat>
          <c:val>
            <c:numRef>
              <c:f>Sheet1!$B$2:$B$6</c:f>
              <c:numCache>
                <c:formatCode>General</c:formatCode>
                <c:ptCount val="5"/>
                <c:pt idx="0">
                  <c:v>4.14</c:v>
                </c:pt>
                <c:pt idx="1">
                  <c:v>4.17</c:v>
                </c:pt>
                <c:pt idx="2">
                  <c:v>4.18</c:v>
                </c:pt>
                <c:pt idx="3">
                  <c:v>4.34</c:v>
                </c:pt>
                <c:pt idx="4">
                  <c:v>4.21</c:v>
                </c:pt>
              </c:numCache>
            </c:numRef>
          </c:val>
        </c:ser>
        <c:ser>
          <c:idx val="1"/>
          <c:order val="1"/>
          <c:tx>
            <c:strRef>
              <c:f>Sheet1!$C$1</c:f>
              <c:strCache>
                <c:ptCount val="1"/>
                <c:pt idx="0">
                  <c:v>Teachers and staff (n = 17)</c:v>
                </c:pt>
              </c:strCache>
            </c:strRef>
          </c:tx>
          <c:spPr>
            <a:solidFill>
              <a:srgbClr val="9B9A9D"/>
            </a:solidFill>
          </c:spPr>
          <c:invertIfNegative val="0"/>
          <c:cat>
            <c:strRef>
              <c:f>Sheet1!$A$2:$A$6</c:f>
              <c:strCache>
                <c:ptCount val="5"/>
                <c:pt idx="0">
                  <c:v>Functionality</c:v>
                </c:pt>
                <c:pt idx="1">
                  <c:v>Usability</c:v>
                </c:pt>
                <c:pt idx="2">
                  <c:v>Accessibility</c:v>
                </c:pt>
                <c:pt idx="3">
                  <c:v>User satisfaction</c:v>
                </c:pt>
                <c:pt idx="4">
                  <c:v>Grand mean</c:v>
                </c:pt>
              </c:strCache>
            </c:strRef>
          </c:cat>
          <c:val>
            <c:numRef>
              <c:f>Sheet1!$C$2:$C$6</c:f>
              <c:numCache>
                <c:formatCode>General</c:formatCode>
                <c:ptCount val="5"/>
                <c:pt idx="0">
                  <c:v>4.27</c:v>
                </c:pt>
                <c:pt idx="1">
                  <c:v>4.14</c:v>
                </c:pt>
                <c:pt idx="2">
                  <c:v>4.14</c:v>
                </c:pt>
                <c:pt idx="3">
                  <c:v>4.05</c:v>
                </c:pt>
                <c:pt idx="4">
                  <c:v>4.14</c:v>
                </c:pt>
              </c:numCache>
            </c:numRef>
          </c:val>
        </c:ser>
        <c:dLbls>
          <c:numFmt formatCode="0.00" sourceLinked="0"/>
          <c:txPr>
            <a:bodyPr/>
            <a:lstStyle/>
            <a:p>
              <a:pPr>
                <a:defRPr sz="1500" b="1">
                  <a:solidFill>
                    <a:srgbClr val="1E1E1E"/>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9B9A9D"/>
            </a:solidFill>
          </a:ln>
        </c:spPr>
        <c:txPr>
          <a:bodyPr/>
          <a:lstStyle/>
          <a:p>
            <a:pPr>
              <a:defRPr sz="1600"/>
            </a:pPr>
          </a:p>
        </c:txPr>
        <c:crossAx val="-2113994440"/>
        <c:crosses val="autoZero"/>
        <c:auto val="1"/>
        <c:lblAlgn val="ctr"/>
        <c:lblOffset val="100"/>
        <c:noMultiLvlLbl val="0"/>
      </c:catAx>
      <c:valAx>
        <c:axId val="-2113994440"/>
        <c:scaling>
          <c:max val="5.0"/>
          <c:min val="0.0"/>
        </c:scaling>
        <c:delete val="0"/>
        <c:axPos val="l"/>
        <c:majorGridlines>
          <c:spPr>
            <a:ln>
              <a:solidFill>
                <a:srgbClr val="DDDDDD"/>
              </a:solidFill>
            </a:ln>
          </c:spPr>
        </c:majorGridlines>
        <c:majorTickMark val="out"/>
        <c:minorTickMark val="none"/>
        <c:tickLblPos val="nextTo"/>
        <c:spPr>
          <a:ln>
            <a:noFill/>
          </a:ln>
        </c:spPr>
        <c:txPr>
          <a:bodyPr/>
          <a:lstStyle/>
          <a:p>
            <a:pPr>
              <a:defRPr sz="1400"/>
            </a:pPr>
          </a:p>
        </c:txPr>
        <c:crossAx val="-2068027336"/>
        <c:crosses val="autoZero"/>
        <c:majorUnit val="1.0"/>
      </c:valAx>
    </c:plotArea>
    <c:legend>
      <c:legendPos val="t"/>
      <c:overlay val="0"/>
      <c:txPr>
        <a:bodyPr/>
        <a:lstStyle/>
        <a:p>
          <a:pPr>
            <a:defRPr sz="1600"/>
          </a:pPr>
        </a:p>
      </c:txPr>
    </c:legend>
    <c:dispBlanksAs val="gap"/>
  </c:chart>
  <c:txPr>
    <a:bodyPr/>
    <a:lstStyle/>
    <a:p>
      <a:pPr>
        <a:defRPr sz="1600">
          <a:solidFill>
            <a:srgbClr val="4A4A4A"/>
          </a:solidFill>
          <a:latin typeface="Glacial Indifference"/>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Weighted mean</c:v>
                </c:pt>
              </c:strCache>
            </c:strRef>
          </c:tx>
          <c:spPr>
            <a:solidFill>
              <a:srgbClr val="EC6A27"/>
            </a:solidFill>
          </c:spPr>
          <c:invertIfNegative val="0"/>
          <c:cat>
            <c:strRef>
              <c:f>Sheet1!$A$2:$A$9</c:f>
              <c:strCache>
                <c:ptCount val="8"/>
                <c:pt idx="0">
                  <c:v>Function suitability</c:v>
                </c:pt>
                <c:pt idx="1">
                  <c:v>Performance efficiency</c:v>
                </c:pt>
                <c:pt idx="2">
                  <c:v>Compatibility</c:v>
                </c:pt>
                <c:pt idx="3">
                  <c:v>Usability</c:v>
                </c:pt>
                <c:pt idx="4">
                  <c:v>Reliability</c:v>
                </c:pt>
                <c:pt idx="5">
                  <c:v>Security</c:v>
                </c:pt>
                <c:pt idx="6">
                  <c:v>Maintainability</c:v>
                </c:pt>
                <c:pt idx="7">
                  <c:v>Portability</c:v>
                </c:pt>
              </c:strCache>
            </c:strRef>
          </c:cat>
          <c:val>
            <c:numRef>
              <c:f>Sheet1!$B$2:$B$9</c:f>
              <c:numCache>
                <c:formatCode>General</c:formatCode>
                <c:ptCount val="8"/>
                <c:pt idx="0">
                  <c:v>3.95</c:v>
                </c:pt>
                <c:pt idx="1">
                  <c:v>4.05</c:v>
                </c:pt>
                <c:pt idx="2">
                  <c:v>4.15</c:v>
                </c:pt>
                <c:pt idx="3">
                  <c:v>4.0</c:v>
                </c:pt>
                <c:pt idx="4">
                  <c:v>4.1</c:v>
                </c:pt>
                <c:pt idx="5">
                  <c:v>4.2</c:v>
                </c:pt>
                <c:pt idx="6">
                  <c:v>4.15</c:v>
                </c:pt>
                <c:pt idx="7">
                  <c:v>4.2</c:v>
                </c:pt>
              </c:numCache>
            </c:numRef>
          </c:val>
        </c:ser>
        <c:dLbls>
          <c:numFmt formatCode="0.00" sourceLinked="0"/>
          <c:txPr>
            <a:bodyPr/>
            <a:lstStyle/>
            <a:p>
              <a:pPr>
                <a:defRPr sz="1600" b="1">
                  <a:solidFill>
                    <a:srgbClr val="1E1E1E"/>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9B9A9D"/>
            </a:solidFill>
          </a:ln>
        </c:spPr>
        <c:txPr>
          <a:bodyPr/>
          <a:lstStyle/>
          <a:p>
            <a:pPr>
              <a:defRPr sz="1600"/>
            </a:pPr>
          </a:p>
        </c:txPr>
        <c:crossAx val="-2113994440"/>
        <c:crosses val="autoZero"/>
        <c:auto val="1"/>
        <c:lblAlgn val="ctr"/>
        <c:lblOffset val="100"/>
        <c:noMultiLvlLbl val="0"/>
      </c:catAx>
      <c:valAx>
        <c:axId val="-2113994440"/>
        <c:scaling>
          <c:max val="5.0"/>
          <c:min val="0.0"/>
        </c:scaling>
        <c:delete/>
        <c:axPos val="b"/>
        <c:majorGridlines>
          <c:spPr>
            <a:ln>
              <a:solidFill>
                <a:srgbClr val="DDDDDD"/>
              </a:solidFill>
            </a:ln>
          </c:spPr>
        </c:majorGridlines>
        <c:majorTickMark val="out"/>
        <c:minorTickMark val="none"/>
        <c:tickLblPos val="nextTo"/>
        <c:spPr>
          <a:ln>
            <a:noFill/>
          </a:ln>
        </c:spPr>
        <c:txPr>
          <a:bodyPr/>
          <a:lstStyle/>
          <a:p>
            <a:pPr>
              <a:defRPr sz="1400"/>
            </a:pPr>
          </a:p>
        </c:txPr>
        <c:crossAx val="-2068027336"/>
        <c:crosses val="autoZero"/>
        <c:majorUnit val="1.0"/>
      </c:valAx>
    </c:plotArea>
    <c:dispBlanksAs val="gap"/>
  </c:chart>
  <c:txPr>
    <a:bodyPr/>
    <a:lstStyle/>
    <a:p>
      <a:pPr>
        <a:defRPr sz="1600">
          <a:solidFill>
            <a:srgbClr val="4A4A4A"/>
          </a:solidFill>
          <a:latin typeface="Glacial Indifference"/>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Respondents</c:v>
                </c:pt>
              </c:strCache>
            </c:strRef>
          </c:tx>
          <c:cat>
            <c:strRef>
              <c:f>Sheet1!$A$2:$A$3</c:f>
              <c:strCache>
                <c:ptCount val="2"/>
                <c:pt idx="0">
                  <c:v>End users (clinic staff &amp; pet owners)</c:v>
                </c:pt>
                <c:pt idx="1">
                  <c:v>IT experts</c:v>
                </c:pt>
              </c:strCache>
            </c:strRef>
          </c:cat>
          <c:val>
            <c:numRef>
              <c:f>Sheet1!$B$2:$B$3</c:f>
              <c:numCache>
                <c:formatCode>General</c:formatCode>
                <c:ptCount val="2"/>
                <c:pt idx="0">
                  <c:v>50</c:v>
                </c:pt>
                <c:pt idx="1">
                  <c:v>5</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Weighted mean</c:v>
                </c:pt>
              </c:strCache>
            </c:strRef>
          </c:tx>
          <c:cat>
            <c:strRef>
              <c:f>Sheet1!$A$2:$A$5</c:f>
              <c:strCache>
                <c:ptCount val="4"/>
                <c:pt idx="0">
                  <c:v>Loads pet records in acceptable time</c:v>
                </c:pt>
                <c:pt idx="1">
                  <c:v>Clear message after submitted action</c:v>
                </c:pt>
                <c:pt idx="2">
                  <c:v>Form for pet owner information</c:v>
                </c:pt>
                <c:pt idx="3">
                  <c:v>Prompt response on registration</c:v>
                </c:pt>
              </c:strCache>
            </c:strRef>
          </c:cat>
          <c:val>
            <c:numRef>
              <c:f>Sheet1!$B$2:$B$5</c:f>
              <c:numCache>
                <c:formatCode>General</c:formatCode>
                <c:ptCount val="4"/>
                <c:pt idx="0">
                  <c:v>4.44</c:v>
                </c:pt>
                <c:pt idx="1">
                  <c:v>4.4</c:v>
                </c:pt>
                <c:pt idx="2">
                  <c:v>4.38</c:v>
                </c:pt>
                <c:pt idx="3">
                  <c:v>4.34</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End users (n = 50)</c:v>
                </c:pt>
              </c:strCache>
            </c:strRef>
          </c:tx>
          <c:cat>
            <c:strRef>
              <c:f>Sheet1!$A$2:$A$5</c:f>
              <c:strCache>
                <c:ptCount val="4"/>
                <c:pt idx="0">
                  <c:v>Functional Suitability</c:v>
                </c:pt>
                <c:pt idx="1">
                  <c:v>Performance Efficiency</c:v>
                </c:pt>
                <c:pt idx="2">
                  <c:v>Usability</c:v>
                </c:pt>
                <c:pt idx="3">
                  <c:v>Overall</c:v>
                </c:pt>
              </c:strCache>
            </c:strRef>
          </c:cat>
          <c:val>
            <c:numRef>
              <c:f>Sheet1!$B$2:$B$5</c:f>
              <c:numCache>
                <c:formatCode>General</c:formatCode>
                <c:ptCount val="4"/>
                <c:pt idx="0">
                  <c:v>4.25</c:v>
                </c:pt>
                <c:pt idx="1">
                  <c:v>4.28</c:v>
                </c:pt>
                <c:pt idx="2">
                  <c:v>4.22</c:v>
                </c:pt>
                <c:pt idx="3">
                  <c:v>4.25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Weighted mean</c:v>
                </c:pt>
              </c:strCache>
            </c:strRef>
          </c:tx>
          <c:cat>
            <c:strRef>
              <c:f>Sheet1!$A$2:$A$6</c:f>
              <c:strCache>
                <c:ptCount val="5"/>
                <c:pt idx="0">
                  <c:v>Functional Suitability</c:v>
                </c:pt>
                <c:pt idx="1">
                  <c:v>Performance Efficiency</c:v>
                </c:pt>
                <c:pt idx="2">
                  <c:v>Usability</c:v>
                </c:pt>
                <c:pt idx="3">
                  <c:v>Reliability</c:v>
                </c:pt>
                <c:pt idx="4">
                  <c:v>Security</c:v>
                </c:pt>
              </c:strCache>
            </c:strRef>
          </c:cat>
          <c:val>
            <c:numRef>
              <c:f>Sheet1!$B$2:$B$6</c:f>
              <c:numCache>
                <c:formatCode>General</c:formatCode>
                <c:ptCount val="5"/>
                <c:pt idx="0">
                  <c:v>4.93</c:v>
                </c:pt>
                <c:pt idx="1">
                  <c:v>4.87</c:v>
                </c:pt>
                <c:pt idx="2">
                  <c:v>5.0</c:v>
                </c:pt>
                <c:pt idx="3">
                  <c:v>4.97</c:v>
                </c:pt>
                <c:pt idx="4">
                  <c:v>4.97</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Greet the panel. Introduce the title, the group and each researcher, and the adviser. About 20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background, then the problems we saw at Bigaa Elementary School, then the gap: generic platforms are not accessible enough for SNED learners. About 1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general objective in your own words, then the three specific objectives. Tell the panel that the results later are presented objective by objective. About 40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on the left, limitations on the right. Stress that it is one school, one program, and only the research period. About 45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two phases: we studied the problem first, then built and evaluated the system. Mention the 62 respondents and that the evaluation followed a one-week UAT. About 1 minute.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our proof that we followed Agile Scrum. Walk through the sprints quickly: requirements first, then login, lessons, assessments, progress and communication, accessibility, and finally testing and UAT. About 50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two or three screens as examples: the login, the student portal and the accessibility settings. These are the actual outputs of the sprints. About 40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first: every function passed unit testing and every integration scenario passed. Then accessibility ratings from both groups. Discussion: defects were fixed within the sprint, which is how Scrum works. Conclusion: Objective 1 was met. About 55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eight modules covering everything in Objective 2. The chart shows the highest-rated items: teachers can adjust accessibility settings (4.44) and get accurate reports (4.33); parents get timely notifications (4.20). Conclusion: Objective 2 was met. About 55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chart: guardians rated satisfaction highest (4.34), teachers rated functionality highest (4.27). Grand mean is 4.19, interpreted as Agree. The lowest items were about devices and slow internet, which are outside the core system. About 55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IT experts rated eight quality characteristics. Security and portability were highest at 4.20; function suitability was lowest at 3.95. Together with the user ratings, the study met its general objective. About 45 seconds.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recommendation comes from a specific finding. Slow internet and device use were the lowest items, teacher satisfaction was the lowest criterion, and function suitability was the lowest for the IT experts. The last one comes from our limitations. About 50 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panel and invite questions. About 10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chart" Target="../charts/chart1.xml"/><Relationship Id="rId14" Type="http://schemas.openxmlformats.org/officeDocument/2006/relationships/notesSlide" Target="../notesSlides/notesSlide5.xml"/><Relationship Id="rId15" Type="http://schemas.openxmlformats.org/officeDocument/2006/relationships/chart" Target="../charts/char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image" Target="../media/image12.jpg"/><Relationship Id="rId14" Type="http://schemas.openxmlformats.org/officeDocument/2006/relationships/image" Target="../media/image13.jpg"/><Relationship Id="rId15" Type="http://schemas.openxmlformats.org/officeDocument/2006/relationships/image" Target="../media/image14.jpg"/><Relationship Id="rId16" Type="http://schemas.openxmlformats.org/officeDocument/2006/relationships/image" Target="../media/image15.jpg"/><Relationship Id="rId17" Type="http://schemas.openxmlformats.org/officeDocument/2006/relationships/image" Target="../media/image16.jpg"/><Relationship Id="rId18" Type="http://schemas.openxmlformats.org/officeDocument/2006/relationships/image" Target="../media/image17.jpg"/><Relationship Id="rId19" Type="http://schemas.openxmlformats.org/officeDocument/2006/relationships/notesSlide" Target="../notesSlides/notesSlide7.xml"/><Relationship Id="rId20" Type="http://schemas.openxmlformats.org/officeDocument/2006/relationships/image" Target="../media/image18.png"/><Relationship Id="rId21" Type="http://schemas.openxmlformats.org/officeDocument/2006/relationships/image" Target="../media/image19.pn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 Id="rId25"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chart" Target="../charts/chart2.xml"/><Relationship Id="rId14" Type="http://schemas.openxmlformats.org/officeDocument/2006/relationships/notesSlide" Target="../notesSlides/notesSlide9.xml"/><Relationship Id="rId15" Type="http://schemas.openxmlformats.org/officeDocument/2006/relationships/chart" Target="../charts/char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chart" Target="../charts/chart3.xml"/><Relationship Id="rId14" Type="http://schemas.openxmlformats.org/officeDocument/2006/relationships/notesSlide" Target="../notesSlides/notesSlide10.xml"/><Relationship Id="rId15" Type="http://schemas.openxmlformats.org/officeDocument/2006/relationships/chart" Target="../charts/char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chart" Target="../charts/chart4.xml"/><Relationship Id="rId14" Type="http://schemas.openxmlformats.org/officeDocument/2006/relationships/notesSlide" Target="../notesSlides/notesSlide11.xml"/><Relationship Id="rId15" Type="http://schemas.openxmlformats.org/officeDocument/2006/relationships/chart" Target="../charts/char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 Id="rId8" Type="http://schemas.openxmlformats.org/officeDocument/2006/relationships/image" Target="../media/image7.svg"/><Relationship Id="rId9" Type="http://schemas.openxmlformats.org/officeDocument/2006/relationships/image" Target="../media/image8.svg"/><Relationship Id="rId10" Type="http://schemas.openxmlformats.org/officeDocument/2006/relationships/image" Target="../media/image9.svg"/><Relationship Id="rId11" Type="http://schemas.openxmlformats.org/officeDocument/2006/relationships/image" Target="../media/image10.svg"/><Relationship Id="rId12" Type="http://schemas.openxmlformats.org/officeDocument/2006/relationships/image" Target="../media/image11.svg"/><Relationship Id="rId1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1097280" y="1188720"/>
            <a:ext cx="16093440" cy="457200"/>
          </a:xfrm>
          <a:prstGeom prst="rect">
            <a:avLst/>
          </a:prstGeom>
          <a:noFill/>
        </p:spPr>
        <p:txBody>
          <a:bodyPr wrap="square" anchor="t" lIns="0" rIns="0" tIns="0" bIns="0">
            <a:spAutoFit/>
          </a:bodyPr>
          <a:lstStyle/>
          <a:p>
            <a:pPr algn="ctr">
              <a:spcAft>
                <a:spcPts val="800"/>
              </a:spcAft>
            </a:pPr>
            <a:r>
              <a:rPr sz="2200" b="1">
                <a:solidFill>
                  <a:srgbClr val="EC6A27"/>
                </a:solidFill>
                <a:latin typeface="Glacial Indifference Bold"/>
                <a:ea typeface="Glacial Indifference Bold"/>
                <a:cs typeface="Glacial Indifference Bold"/>
              </a:rPr>
              <a:t>CAPSTONE PROJECT DEFENSE  |  BACHELOR OF SCIENCE IN INFORMATION TECHNOLOGY</a:t>
            </a:r>
          </a:p>
        </p:txBody>
      </p:sp>
      <p:sp>
        <p:nvSpPr>
          <p:cNvPr id="14" name="TextBox 13"/>
          <p:cNvSpPr txBox="1"/>
          <p:nvPr/>
        </p:nvSpPr>
        <p:spPr>
          <a:xfrm>
            <a:off x="1097280" y="1920240"/>
            <a:ext cx="16093440" cy="3291840"/>
          </a:xfrm>
          <a:prstGeom prst="rect">
            <a:avLst/>
          </a:prstGeom>
          <a:noFill/>
        </p:spPr>
        <p:txBody>
          <a:bodyPr wrap="square" anchor="ctr" lIns="0" rIns="0" tIns="0" bIns="0">
            <a:spAutoFit/>
          </a:bodyPr>
          <a:lstStyle/>
          <a:p>
            <a:pPr algn="ctr">
              <a:spcAft>
                <a:spcPts val="400"/>
              </a:spcAft>
            </a:pPr>
            <a:r>
              <a:rPr sz="4400" b="1">
                <a:solidFill>
                  <a:srgbClr val="1E1E1E"/>
                </a:solidFill>
                <a:latin typeface="Glacial Indifference Bold"/>
              </a:rPr>
              <a:t>WEB-BASED QR-ENABLED PET REGISTRATION,</a:t>
            </a:r>
          </a:p>
          <a:p>
            <a:pPr algn="ctr">
              <a:spcAft>
                <a:spcPts val="400"/>
              </a:spcAft>
            </a:pPr>
            <a:r>
              <a:rPr sz="4400" b="1">
                <a:solidFill>
                  <a:srgbClr val="1E1E1E"/>
                </a:solidFill>
                <a:latin typeface="Glacial Indifference Bold"/>
              </a:rPr>
              <a:t>VACCINATION, AND TRACEABILITY MANAGEMENT SYSTEM</a:t>
            </a:r>
          </a:p>
          <a:p>
            <a:pPr algn="ctr">
              <a:spcAft>
                <a:spcPts val="400"/>
              </a:spcAft>
            </a:pPr>
            <a:r>
              <a:rPr sz="4400" b="1">
                <a:solidFill>
                  <a:srgbClr val="1E1E1E"/>
                </a:solidFill>
                <a:latin typeface="Glacial Indifference Bold"/>
              </a:rPr>
              <a:t>WITH PAYMENT MONITORING AND DATA ANALYTICS</a:t>
            </a:r>
          </a:p>
        </p:txBody>
      </p:sp>
      <p:sp>
        <p:nvSpPr>
          <p:cNvPr id="15" name="TextBox 14"/>
          <p:cNvSpPr txBox="1"/>
          <p:nvPr/>
        </p:nvSpPr>
        <p:spPr>
          <a:xfrm>
            <a:off x="1097280" y="5760720"/>
            <a:ext cx="16093440" cy="1188720"/>
          </a:xfrm>
          <a:prstGeom prst="rect">
            <a:avLst/>
          </a:prstGeom>
          <a:noFill/>
        </p:spPr>
        <p:txBody>
          <a:bodyPr wrap="square" anchor="t" lIns="0" rIns="0" tIns="0" bIns="0">
            <a:spAutoFit/>
          </a:bodyPr>
          <a:lstStyle/>
          <a:p>
            <a:pPr algn="ctr">
              <a:spcAft>
                <a:spcPts val="400"/>
              </a:spcAft>
            </a:pPr>
            <a:r>
              <a:rPr sz="2800" b="0">
                <a:solidFill>
                  <a:srgbClr val="4A4A4A"/>
                </a:solidFill>
                <a:latin typeface="Glacial Indifference"/>
                <a:ea typeface="Glacial Indifference"/>
                <a:cs typeface="Glacial Indifference"/>
              </a:rPr>
              <a:t>Group [No.]  |  College of Computing Studies</a:t>
            </a:r>
          </a:p>
          <a:p>
            <a:pPr algn="ctr">
              <a:spcAft>
                <a:spcPts val="400"/>
              </a:spcAft>
            </a:pPr>
            <a:r>
              <a:rPr sz="2800" b="0">
                <a:solidFill>
                  <a:srgbClr val="4A4A4A"/>
                </a:solidFill>
                <a:latin typeface="Glacial Indifference"/>
                <a:ea typeface="Glacial Indifference"/>
                <a:cs typeface="Glacial Indifference"/>
              </a:rPr>
              <a:t>Pamantasan ng Cabuyao, City of Cabuyao, Laguna</a:t>
            </a:r>
          </a:p>
        </p:txBody>
      </p:sp>
      <p:sp>
        <p:nvSpPr>
          <p:cNvPr id="16" name="TextBox 15"/>
          <p:cNvSpPr txBox="1"/>
          <p:nvPr/>
        </p:nvSpPr>
        <p:spPr>
          <a:xfrm>
            <a:off x="868680" y="8732520"/>
            <a:ext cx="6400800" cy="914400"/>
          </a:xfrm>
          <a:prstGeom prst="rect">
            <a:avLst/>
          </a:prstGeom>
          <a:noFill/>
        </p:spPr>
        <p:txBody>
          <a:bodyPr wrap="square" anchor="t" lIns="0" rIns="0" tIns="0" bIns="0">
            <a:spAutoFit/>
          </a:bodyPr>
          <a:lstStyle/>
          <a:p>
            <a:pPr algn="l">
              <a:spcAft>
                <a:spcPts val="200"/>
              </a:spcAft>
            </a:pPr>
            <a:r>
              <a:rPr sz="1400" b="1">
                <a:solidFill>
                  <a:srgbClr val="1E1E1E"/>
                </a:solidFill>
                <a:latin typeface="Glacial Indifference Bold"/>
              </a:rPr>
              <a:t>RESEARCH TITLE:</a:t>
            </a:r>
          </a:p>
          <a:p>
            <a:pPr algn="l">
              <a:spcAft>
                <a:spcPts val="200"/>
              </a:spcAft>
            </a:pPr>
            <a:r>
              <a:rPr sz="1400" b="1">
                <a:solidFill>
                  <a:srgbClr val="1E1E1E"/>
                </a:solidFill>
                <a:latin typeface="Glacial Indifference Bold"/>
              </a:rPr>
              <a:t>Web-Based QR-Enabled Pet Registration, Vaccination, and Traceability Management System with Payment Monitoring and Data Analytics for the City Veterinary Animal Clinic in Cabuyao City, Laguna</a:t>
            </a:r>
          </a:p>
        </p:txBody>
      </p:sp>
      <p:sp>
        <p:nvSpPr>
          <p:cNvPr id="17" name="TextBox 16"/>
          <p:cNvSpPr txBox="1"/>
          <p:nvPr/>
        </p:nvSpPr>
        <p:spPr>
          <a:xfrm>
            <a:off x="8586216" y="8686800"/>
            <a:ext cx="2743200" cy="365760"/>
          </a:xfrm>
          <a:prstGeom prst="rect">
            <a:avLst/>
          </a:prstGeom>
          <a:noFill/>
        </p:spPr>
        <p:txBody>
          <a:bodyPr wrap="square" anchor="t" lIns="0" rIns="0" tIns="0" bIns="0">
            <a:spAutoFit/>
          </a:bodyPr>
          <a:lstStyle/>
          <a:p>
            <a:pPr algn="l">
              <a:spcAft>
                <a:spcPts val="800"/>
              </a:spcAft>
            </a:pPr>
            <a:r>
              <a:rPr sz="1900" b="1">
                <a:solidFill>
                  <a:srgbClr val="1E1E1E"/>
                </a:solidFill>
                <a:latin typeface="Glacial Indifference Bold"/>
                <a:ea typeface="Glacial Indifference Bold"/>
                <a:cs typeface="Glacial Indifference Bold"/>
              </a:rPr>
              <a:t>RESEARCHERS:</a:t>
            </a:r>
          </a:p>
        </p:txBody>
      </p:sp>
      <p:sp>
        <p:nvSpPr>
          <p:cNvPr id="18" name="TextBox 17"/>
          <p:cNvSpPr txBox="1"/>
          <p:nvPr/>
        </p:nvSpPr>
        <p:spPr>
          <a:xfrm>
            <a:off x="11109960" y="8686800"/>
            <a:ext cx="3566160" cy="777240"/>
          </a:xfrm>
          <a:prstGeom prst="rect">
            <a:avLst/>
          </a:prstGeom>
          <a:noFill/>
        </p:spPr>
        <p:txBody>
          <a:bodyPr wrap="square" anchor="t" lIns="0" rIns="0" tIns="0" bIns="0">
            <a:spAutoFit/>
          </a:bodyPr>
          <a:lstStyle/>
          <a:p>
            <a:pPr algn="l">
              <a:spcAft>
                <a:spcPts val="200"/>
              </a:spcAft>
            </a:pPr>
            <a:r>
              <a:rPr sz="1600" b="0">
                <a:solidFill>
                  <a:srgbClr val="1E1E1E"/>
                </a:solidFill>
                <a:latin typeface="Glacial Indifference"/>
                <a:ea typeface="Glacial Indifference"/>
                <a:cs typeface="Glacial Indifference"/>
              </a:rPr>
              <a:t>Escarez, Kurt Ronel B.</a:t>
            </a:r>
          </a:p>
          <a:p>
            <a:pPr algn="l">
              <a:spcAft>
                <a:spcPts val="200"/>
              </a:spcAft>
            </a:pPr>
            <a:r>
              <a:rPr sz="1600" b="0">
                <a:solidFill>
                  <a:srgbClr val="1E1E1E"/>
                </a:solidFill>
                <a:latin typeface="Glacial Indifference"/>
                <a:ea typeface="Glacial Indifference"/>
                <a:cs typeface="Glacial Indifference"/>
              </a:rPr>
              <a:t>Parao, Eliseo Evangelista Jr.</a:t>
            </a:r>
          </a:p>
        </p:txBody>
      </p:sp>
      <p:sp>
        <p:nvSpPr>
          <p:cNvPr id="19" name="TextBox 18"/>
          <p:cNvSpPr txBox="1"/>
          <p:nvPr/>
        </p:nvSpPr>
        <p:spPr>
          <a:xfrm>
            <a:off x="14630400" y="8686800"/>
            <a:ext cx="3566160" cy="777240"/>
          </a:xfrm>
          <a:prstGeom prst="rect">
            <a:avLst/>
          </a:prstGeom>
          <a:noFill/>
        </p:spPr>
        <p:txBody>
          <a:bodyPr wrap="square" anchor="t" lIns="0" rIns="0" tIns="0" bIns="0">
            <a:spAutoFit/>
          </a:bodyPr>
          <a:lstStyle/>
          <a:p>
            <a:pPr algn="l">
              <a:spcAft>
                <a:spcPts val="200"/>
              </a:spcAft>
            </a:pPr>
            <a:r>
              <a:rPr sz="1600" b="0">
                <a:solidFill>
                  <a:srgbClr val="1E1E1E"/>
                </a:solidFill>
                <a:latin typeface="Glacial Indifference"/>
                <a:ea typeface="Glacial Indifference"/>
                <a:cs typeface="Glacial Indifference"/>
              </a:rPr>
              <a:t>Onda, Kurby Dane B.</a:t>
            </a:r>
          </a:p>
          <a:p>
            <a:pPr algn="l">
              <a:spcAft>
                <a:spcPts val="200"/>
              </a:spcAft>
            </a:pPr>
            <a:r>
              <a:rPr sz="1600" b="0">
                <a:solidFill>
                  <a:srgbClr val="1E1E1E"/>
                </a:solidFill>
                <a:latin typeface="Glacial Indifference"/>
                <a:ea typeface="Glacial Indifference"/>
                <a:cs typeface="Glacial Indifference"/>
              </a:rPr>
              <a:t>Quintana, Felipe A. Jr.</a:t>
            </a:r>
          </a:p>
        </p:txBody>
      </p:sp>
      <p:sp>
        <p:nvSpPr>
          <p:cNvPr id="20" name="TextBox 19"/>
          <p:cNvSpPr txBox="1"/>
          <p:nvPr/>
        </p:nvSpPr>
        <p:spPr>
          <a:xfrm>
            <a:off x="8586216" y="9509760"/>
            <a:ext cx="2743200" cy="365760"/>
          </a:xfrm>
          <a:prstGeom prst="rect">
            <a:avLst/>
          </a:prstGeom>
          <a:noFill/>
        </p:spPr>
        <p:txBody>
          <a:bodyPr wrap="square" anchor="t" lIns="0" rIns="0" tIns="0" bIns="0">
            <a:spAutoFit/>
          </a:bodyPr>
          <a:lstStyle/>
          <a:p>
            <a:pPr algn="l">
              <a:spcAft>
                <a:spcPts val="800"/>
              </a:spcAft>
            </a:pPr>
            <a:r>
              <a:rPr sz="1900" b="1">
                <a:solidFill>
                  <a:srgbClr val="1E1E1E"/>
                </a:solidFill>
                <a:latin typeface="Glacial Indifference Bold"/>
                <a:ea typeface="Glacial Indifference Bold"/>
                <a:cs typeface="Glacial Indifference Bold"/>
              </a:rPr>
              <a:t>ADVISER:</a:t>
            </a:r>
          </a:p>
        </p:txBody>
      </p:sp>
      <p:sp>
        <p:nvSpPr>
          <p:cNvPr id="21" name="TextBox 20"/>
          <p:cNvSpPr txBox="1"/>
          <p:nvPr/>
        </p:nvSpPr>
        <p:spPr>
          <a:xfrm>
            <a:off x="10332720" y="9528048"/>
            <a:ext cx="5943600" cy="365760"/>
          </a:xfrm>
          <a:prstGeom prst="rect">
            <a:avLst/>
          </a:prstGeom>
          <a:noFill/>
        </p:spPr>
        <p:txBody>
          <a:bodyPr wrap="square" anchor="t" lIns="0" rIns="0" tIns="0" bIns="0">
            <a:spAutoFit/>
          </a:bodyPr>
          <a:lstStyle/>
          <a:p>
            <a:pPr algn="l">
              <a:spcAft>
                <a:spcPts val="800"/>
              </a:spcAft>
            </a:pPr>
            <a:r>
              <a:rPr sz="1700" b="0">
                <a:solidFill>
                  <a:srgbClr val="1E1E1E"/>
                </a:solidFill>
                <a:latin typeface="Glacial Indifference"/>
                <a:ea typeface="Glacial Indifference"/>
                <a:cs typeface="Glacial Indifference"/>
              </a:rPr>
              <a:t>[Adviser name]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RATIONALE</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Why we conducted this research</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Rounded Rectangle 15"/>
          <p:cNvSpPr/>
          <p:nvPr/>
        </p:nvSpPr>
        <p:spPr>
          <a:xfrm>
            <a:off x="822960" y="2011680"/>
            <a:ext cx="5349240" cy="56692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7" name="TextBox 16"/>
          <p:cNvSpPr txBox="1"/>
          <p:nvPr/>
        </p:nvSpPr>
        <p:spPr>
          <a:xfrm>
            <a:off x="1143000" y="2240280"/>
            <a:ext cx="4709159" cy="457200"/>
          </a:xfrm>
          <a:prstGeom prst="rect">
            <a:avLst/>
          </a:prstGeom>
          <a:noFill/>
        </p:spPr>
        <p:txBody>
          <a:bodyPr wrap="square" anchor="t" lIns="0" rIns="0" tIns="0" bIns="0">
            <a:spAutoFit/>
          </a:bodyPr>
          <a:lstStyle/>
          <a:p>
            <a:pPr algn="l">
              <a:spcAft>
                <a:spcPts val="800"/>
              </a:spcAft>
            </a:pPr>
            <a:r>
              <a:rPr sz="2400" b="1">
                <a:solidFill>
                  <a:srgbClr val="EC6A27"/>
                </a:solidFill>
                <a:latin typeface="Glacial Indifference Bold"/>
                <a:ea typeface="Glacial Indifference Bold"/>
                <a:cs typeface="Glacial Indifference Bold"/>
              </a:rPr>
              <a:t>Background</a:t>
            </a:r>
          </a:p>
        </p:txBody>
      </p:sp>
      <p:sp>
        <p:nvSpPr>
          <p:cNvPr id="18" name="TextBox 17"/>
          <p:cNvSpPr txBox="1"/>
          <p:nvPr/>
        </p:nvSpPr>
        <p:spPr>
          <a:xfrm>
            <a:off x="1143000" y="2834640"/>
            <a:ext cx="4709159" cy="4663440"/>
          </a:xfrm>
          <a:prstGeom prst="rect">
            <a:avLst/>
          </a:prstGeom>
          <a:noFill/>
        </p:spPr>
        <p:txBody>
          <a:bodyPr wrap="square" anchor="t" lIns="0" rIns="0" tIns="0" bIns="0">
            <a:spAutoFit/>
          </a:bodyPr>
          <a:lstStyle/>
          <a:p>
            <a:pPr algn="l" marL="347472" indent="-347472">
              <a:spcAft>
                <a:spcPts val="1400"/>
              </a:spcAft>
              <a:buClr>
                <a:srgbClr val="EC6A27"/>
              </a:buClr>
              <a:buFont typeface="Arial"/>
              <a:buChar char="•"/>
            </a:pPr>
            <a:r>
              <a:rPr sz="2600" b="0">
                <a:solidFill>
                  <a:srgbClr val="1E1E1E"/>
                </a:solidFill>
                <a:latin typeface="Glacial Indifference"/>
              </a:rPr>
              <a:t>The clinic manages owner and pet registration, vaccination, and payment records</a:t>
            </a:r>
          </a:p>
          <a:p>
            <a:pPr algn="l" marL="347472" indent="-347472">
              <a:spcAft>
                <a:spcPts val="1400"/>
              </a:spcAft>
              <a:buClr>
                <a:srgbClr val="EC6A27"/>
              </a:buClr>
              <a:buFont typeface="Arial"/>
              <a:buChar char="•"/>
            </a:pPr>
            <a:r>
              <a:rPr sz="2600" b="0">
                <a:solidFill>
                  <a:srgbClr val="1E1E1E"/>
                </a:solidFill>
                <a:latin typeface="Glacial Indifference"/>
              </a:rPr>
              <a:t>Records are still mostly manual - prone to delays, inconsistencies, and difficult data access</a:t>
            </a:r>
          </a:p>
          <a:p>
            <a:pPr algn="l" marL="347472" indent="-347472">
              <a:spcAft>
                <a:spcPts val="1400"/>
              </a:spcAft>
              <a:buClr>
                <a:srgbClr val="EC6A27"/>
              </a:buClr>
              <a:buFont typeface="Arial"/>
              <a:buChar char="•"/>
            </a:pPr>
            <a:r>
              <a:rPr sz="2600" b="0">
                <a:solidFill>
                  <a:srgbClr val="1E1E1E"/>
                </a:solidFill>
                <a:latin typeface="Glacial Indifference"/>
              </a:rPr>
              <a:t>Matching Treasury-issued Official Receipts with payments is hard to trace</a:t>
            </a:r>
          </a:p>
        </p:txBody>
      </p:sp>
      <p:sp>
        <p:nvSpPr>
          <p:cNvPr id="19" name="Rounded Rectangle 18"/>
          <p:cNvSpPr/>
          <p:nvPr/>
        </p:nvSpPr>
        <p:spPr>
          <a:xfrm>
            <a:off x="6446520" y="2011680"/>
            <a:ext cx="5349240" cy="56692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0" name="TextBox 19"/>
          <p:cNvSpPr txBox="1"/>
          <p:nvPr/>
        </p:nvSpPr>
        <p:spPr>
          <a:xfrm>
            <a:off x="6766559" y="2240280"/>
            <a:ext cx="4709159" cy="457200"/>
          </a:xfrm>
          <a:prstGeom prst="rect">
            <a:avLst/>
          </a:prstGeom>
          <a:noFill/>
        </p:spPr>
        <p:txBody>
          <a:bodyPr wrap="square" anchor="t" lIns="0" rIns="0" tIns="0" bIns="0">
            <a:spAutoFit/>
          </a:bodyPr>
          <a:lstStyle/>
          <a:p>
            <a:pPr algn="l">
              <a:spcAft>
                <a:spcPts val="800"/>
              </a:spcAft>
            </a:pPr>
            <a:r>
              <a:rPr sz="2400" b="1">
                <a:solidFill>
                  <a:srgbClr val="EC6A27"/>
                </a:solidFill>
                <a:latin typeface="Glacial Indifference Bold"/>
              </a:rPr>
              <a:t>Problems at the clinic</a:t>
            </a:r>
          </a:p>
        </p:txBody>
      </p:sp>
      <p:sp>
        <p:nvSpPr>
          <p:cNvPr id="21" name="TextBox 20"/>
          <p:cNvSpPr txBox="1"/>
          <p:nvPr/>
        </p:nvSpPr>
        <p:spPr>
          <a:xfrm>
            <a:off x="6766559" y="2834640"/>
            <a:ext cx="4709159" cy="4663440"/>
          </a:xfrm>
          <a:prstGeom prst="rect">
            <a:avLst/>
          </a:prstGeom>
          <a:noFill/>
        </p:spPr>
        <p:txBody>
          <a:bodyPr wrap="square" anchor="t" lIns="0" rIns="0" tIns="0" bIns="0">
            <a:spAutoFit/>
          </a:bodyPr>
          <a:lstStyle/>
          <a:p>
            <a:pPr algn="l" marL="347472" indent="-347472">
              <a:spcAft>
                <a:spcPts val="1400"/>
              </a:spcAft>
              <a:buClr>
                <a:srgbClr val="EC6A27"/>
              </a:buClr>
              <a:buFont typeface="Arial"/>
              <a:buChar char="•"/>
            </a:pPr>
            <a:r>
              <a:rPr sz="2600" b="0">
                <a:solidFill>
                  <a:srgbClr val="1E1E1E"/>
                </a:solidFill>
                <a:latin typeface="Glacial Indifference"/>
              </a:rPr>
              <a:t>Manual and fragmented registration with long waiting lines</a:t>
            </a:r>
          </a:p>
          <a:p>
            <a:pPr algn="l" marL="347472" indent="-347472">
              <a:spcAft>
                <a:spcPts val="1400"/>
              </a:spcAft>
              <a:buClr>
                <a:srgbClr val="EC6A27"/>
              </a:buClr>
              <a:buFont typeface="Arial"/>
              <a:buChar char="•"/>
            </a:pPr>
            <a:r>
              <a:rPr sz="2600" b="0">
                <a:solidFill>
                  <a:srgbClr val="1E1E1E"/>
                </a:solidFill>
                <a:latin typeface="Glacial Indifference"/>
              </a:rPr>
              <a:t>Difficulty tracing which clients have paid and which have not</a:t>
            </a:r>
          </a:p>
          <a:p>
            <a:pPr algn="l" marL="347472" indent="-347472">
              <a:spcAft>
                <a:spcPts val="1400"/>
              </a:spcAft>
              <a:buClr>
                <a:srgbClr val="EC6A27"/>
              </a:buClr>
              <a:buFont typeface="Arial"/>
              <a:buChar char="•"/>
            </a:pPr>
            <a:r>
              <a:rPr sz="2600" b="0">
                <a:solidFill>
                  <a:srgbClr val="1E1E1E"/>
                </a:solidFill>
                <a:latin typeface="Glacial Indifference"/>
              </a:rPr>
              <a:t>Poor vaccination tracking and weak analytics for planning</a:t>
            </a:r>
          </a:p>
        </p:txBody>
      </p:sp>
      <p:sp>
        <p:nvSpPr>
          <p:cNvPr id="22" name="Rounded Rectangle 21"/>
          <p:cNvSpPr/>
          <p:nvPr/>
        </p:nvSpPr>
        <p:spPr>
          <a:xfrm>
            <a:off x="12070080" y="2011680"/>
            <a:ext cx="5349240" cy="566928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3" name="TextBox 22"/>
          <p:cNvSpPr txBox="1"/>
          <p:nvPr/>
        </p:nvSpPr>
        <p:spPr>
          <a:xfrm>
            <a:off x="12390119" y="2240280"/>
            <a:ext cx="4709159" cy="457200"/>
          </a:xfrm>
          <a:prstGeom prst="rect">
            <a:avLst/>
          </a:prstGeom>
          <a:noFill/>
        </p:spPr>
        <p:txBody>
          <a:bodyPr wrap="square" anchor="t" lIns="0" rIns="0" tIns="0" bIns="0">
            <a:spAutoFit/>
          </a:bodyPr>
          <a:lstStyle/>
          <a:p>
            <a:pPr algn="l">
              <a:spcAft>
                <a:spcPts val="800"/>
              </a:spcAft>
            </a:pPr>
            <a:r>
              <a:rPr sz="2400" b="1">
                <a:solidFill>
                  <a:srgbClr val="FFFFFF"/>
                </a:solidFill>
                <a:latin typeface="Glacial Indifference Bold"/>
                <a:ea typeface="Glacial Indifference Bold"/>
                <a:cs typeface="Glacial Indifference Bold"/>
              </a:rPr>
              <a:t>Research Gap</a:t>
            </a:r>
          </a:p>
        </p:txBody>
      </p:sp>
      <p:sp>
        <p:nvSpPr>
          <p:cNvPr id="24" name="TextBox 23"/>
          <p:cNvSpPr txBox="1"/>
          <p:nvPr/>
        </p:nvSpPr>
        <p:spPr>
          <a:xfrm>
            <a:off x="12390119" y="2834640"/>
            <a:ext cx="4709159" cy="4663440"/>
          </a:xfrm>
          <a:prstGeom prst="rect">
            <a:avLst/>
          </a:prstGeom>
          <a:noFill/>
        </p:spPr>
        <p:txBody>
          <a:bodyPr wrap="square" anchor="t" lIns="0" rIns="0" tIns="0" bIns="0">
            <a:spAutoFit/>
          </a:bodyPr>
          <a:lstStyle/>
          <a:p>
            <a:pPr algn="l" marL="347472" indent="-347472">
              <a:spcAft>
                <a:spcPts val="1400"/>
              </a:spcAft>
              <a:buClr>
                <a:srgbClr val="FFFFFF"/>
              </a:buClr>
              <a:buFont typeface="Arial"/>
              <a:buChar char="•"/>
            </a:pPr>
            <a:r>
              <a:rPr sz="2500" b="0">
                <a:solidFill>
                  <a:srgbClr val="FFFFFF"/>
                </a:solidFill>
                <a:latin typeface="Glacial Indifference"/>
              </a:rPr>
              <a:t>Existing systems lack an integrated registration, QR traceability, payment, and analytics platform</a:t>
            </a:r>
          </a:p>
          <a:p>
            <a:pPr algn="l" marL="347472" indent="-347472">
              <a:spcAft>
                <a:spcPts val="1400"/>
              </a:spcAft>
              <a:buClr>
                <a:srgbClr val="FFFFFF"/>
              </a:buClr>
              <a:buFont typeface="Arial"/>
              <a:buChar char="•"/>
            </a:pPr>
            <a:r>
              <a:rPr sz="2500" b="0">
                <a:solidFill>
                  <a:srgbClr val="FFFFFF"/>
                </a:solidFill>
                <a:latin typeface="Glacial Indifference"/>
              </a:rPr>
              <a:t>No single scannable identifier linking a pet's registration, vaccination, payment, and clinical records</a:t>
            </a:r>
          </a:p>
          <a:p>
            <a:pPr algn="l" marL="347472" indent="-347472">
              <a:spcAft>
                <a:spcPts val="1400"/>
              </a:spcAft>
              <a:buClr>
                <a:srgbClr val="FFFFFF"/>
              </a:buClr>
              <a:buFont typeface="Arial"/>
              <a:buChar char="•"/>
            </a:pPr>
            <a:r>
              <a:rPr sz="2500" b="0">
                <a:solidFill>
                  <a:srgbClr val="FFFFFF"/>
                </a:solidFill>
                <a:latin typeface="Glacial Indifference"/>
              </a:rPr>
              <a:t>A web-based system built for the City Veterinary Animal Clinic is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OBJECTIVES</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What we set out to do</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Rounded Rectangle 15"/>
          <p:cNvSpPr/>
          <p:nvPr/>
        </p:nvSpPr>
        <p:spPr>
          <a:xfrm>
            <a:off x="822960" y="1965960"/>
            <a:ext cx="16642080" cy="132588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l">
              <a:spcAft>
                <a:spcPts val="0"/>
              </a:spcAft>
            </a:pPr>
            <a:r>
              <a:rPr sz="2400" b="1">
                <a:solidFill>
                  <a:srgbClr val="FFFFFF"/>
                </a:solidFill>
                <a:latin typeface="Glacial Indifference Bold"/>
              </a:rPr>
              <a:t>General objective: Implement and document an integrated web-based system - the Web-Based QR-Enabled Pet Registration, Vaccination, and Traceability Management System with Payment Monitoring and Data Analytics - for the City Veterinary Animal Clinic of Cabuyao City, Laguna.</a:t>
            </a:r>
          </a:p>
        </p:txBody>
      </p:sp>
      <p:sp>
        <p:nvSpPr>
          <p:cNvPr id="17" name="Rounded Rectangle 16"/>
          <p:cNvSpPr/>
          <p:nvPr/>
        </p:nvSpPr>
        <p:spPr>
          <a:xfrm>
            <a:off x="822960" y="3611880"/>
            <a:ext cx="5349240" cy="41605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8" name="TextBox 17"/>
          <p:cNvSpPr txBox="1"/>
          <p:nvPr/>
        </p:nvSpPr>
        <p:spPr>
          <a:xfrm>
            <a:off x="1143000" y="3794760"/>
            <a:ext cx="4709159" cy="41148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OBJECTIVE 1</a:t>
            </a:r>
          </a:p>
        </p:txBody>
      </p:sp>
      <p:sp>
        <p:nvSpPr>
          <p:cNvPr id="19" name="TextBox 18"/>
          <p:cNvSpPr txBox="1"/>
          <p:nvPr/>
        </p:nvSpPr>
        <p:spPr>
          <a:xfrm>
            <a:off x="1143000" y="4114800"/>
            <a:ext cx="4709159" cy="731520"/>
          </a:xfrm>
          <a:prstGeom prst="rect">
            <a:avLst/>
          </a:prstGeom>
          <a:noFill/>
        </p:spPr>
        <p:txBody>
          <a:bodyPr wrap="square" anchor="t" lIns="0" rIns="0" tIns="0" bIns="0">
            <a:spAutoFit/>
          </a:bodyPr>
          <a:lstStyle/>
          <a:p>
            <a:pPr algn="l">
              <a:spcAft>
                <a:spcPts val="800"/>
              </a:spcAft>
            </a:pPr>
            <a:r>
              <a:rPr sz="3600" b="1">
                <a:solidFill>
                  <a:srgbClr val="1E1E1E"/>
                </a:solidFill>
                <a:latin typeface="Glacial Indifference Bold"/>
              </a:rPr>
              <a:t>Develop and implement</a:t>
            </a:r>
          </a:p>
        </p:txBody>
      </p:sp>
      <p:sp>
        <p:nvSpPr>
          <p:cNvPr id="20" name="TextBox 19"/>
          <p:cNvSpPr txBox="1"/>
          <p:nvPr/>
        </p:nvSpPr>
        <p:spPr>
          <a:xfrm>
            <a:off x="1143000" y="4892040"/>
            <a:ext cx="4709159" cy="2743200"/>
          </a:xfrm>
          <a:prstGeom prst="rect">
            <a:avLst/>
          </a:prstGeom>
          <a:noFill/>
        </p:spPr>
        <p:txBody>
          <a:bodyPr wrap="square" anchor="t" lIns="0" rIns="0" tIns="0" bIns="0">
            <a:spAutoFit/>
          </a:bodyPr>
          <a:lstStyle/>
          <a:p>
            <a:pPr algn="l" marL="347472" indent="-347472">
              <a:spcAft>
                <a:spcPts val="600"/>
              </a:spcAft>
              <a:buClr>
                <a:srgbClr val="EC6A27"/>
              </a:buClr>
              <a:buFont typeface="Arial"/>
              <a:buChar char="•"/>
            </a:pPr>
            <a:r>
              <a:rPr sz="2200" b="0">
                <a:solidFill>
                  <a:srgbClr val="1E1E1E"/>
                </a:solidFill>
                <a:latin typeface="Glacial Indifference"/>
              </a:rPr>
              <a:t>Role-based access for Admin, Staff, Veterinarian, and Pet Owner</a:t>
            </a:r>
          </a:p>
          <a:p>
            <a:pPr algn="l" marL="347472" indent="-347472">
              <a:spcAft>
                <a:spcPts val="600"/>
              </a:spcAft>
              <a:buClr>
                <a:srgbClr val="EC6A27"/>
              </a:buClr>
              <a:buFont typeface="Arial"/>
              <a:buChar char="•"/>
            </a:pPr>
            <a:r>
              <a:rPr sz="2200" b="0">
                <a:solidFill>
                  <a:srgbClr val="1E1E1E"/>
                </a:solidFill>
                <a:latin typeface="Glacial Indifference"/>
              </a:rPr>
              <a:t>Owner and pet registration, a unique QR code per pet, and a digital pet booklet</a:t>
            </a:r>
          </a:p>
          <a:p>
            <a:pPr algn="l" marL="347472" indent="-347472">
              <a:spcAft>
                <a:spcPts val="600"/>
              </a:spcAft>
              <a:buClr>
                <a:srgbClr val="EC6A27"/>
              </a:buClr>
              <a:buFont typeface="Arial"/>
              <a:buChar char="•"/>
            </a:pPr>
            <a:r>
              <a:rPr sz="2200" b="0">
                <a:solidFill>
                  <a:srgbClr val="1E1E1E"/>
                </a:solidFill>
                <a:latin typeface="Glacial Indifference"/>
              </a:rPr>
              <a:t>Vaccination monitoring and a multi-step consultation workflow with medicine prescription</a:t>
            </a:r>
          </a:p>
          <a:p>
            <a:pPr algn="l" marL="347472" indent="-347472">
              <a:spcAft>
                <a:spcPts val="600"/>
              </a:spcAft>
              <a:buClr>
                <a:srgbClr val="EC6A27"/>
              </a:buClr>
              <a:buFont typeface="Arial"/>
              <a:buChar char="•"/>
            </a:pPr>
            <a:r>
              <a:rPr sz="2200" b="0">
                <a:solidFill>
                  <a:srgbClr val="1E1E1E"/>
                </a:solidFill>
                <a:latin typeface="Glacial Indifference"/>
              </a:rPr>
              <a:t>Treasury-issued Official Receipt monitoring and offline draft registration</a:t>
            </a:r>
          </a:p>
        </p:txBody>
      </p:sp>
      <p:sp>
        <p:nvSpPr>
          <p:cNvPr id="21" name="Rounded Rectangle 20"/>
          <p:cNvSpPr/>
          <p:nvPr/>
        </p:nvSpPr>
        <p:spPr>
          <a:xfrm>
            <a:off x="6446520" y="3611880"/>
            <a:ext cx="5349240" cy="41605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2" name="TextBox 21"/>
          <p:cNvSpPr txBox="1"/>
          <p:nvPr/>
        </p:nvSpPr>
        <p:spPr>
          <a:xfrm>
            <a:off x="6766559" y="3794760"/>
            <a:ext cx="4709159" cy="41148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OBJECTIVE 2</a:t>
            </a:r>
          </a:p>
        </p:txBody>
      </p:sp>
      <p:sp>
        <p:nvSpPr>
          <p:cNvPr id="23" name="TextBox 22"/>
          <p:cNvSpPr txBox="1"/>
          <p:nvPr/>
        </p:nvSpPr>
        <p:spPr>
          <a:xfrm>
            <a:off x="6766559" y="4114800"/>
            <a:ext cx="4709159" cy="731520"/>
          </a:xfrm>
          <a:prstGeom prst="rect">
            <a:avLst/>
          </a:prstGeom>
          <a:noFill/>
        </p:spPr>
        <p:txBody>
          <a:bodyPr wrap="square" anchor="t" lIns="0" rIns="0" tIns="0" bIns="0">
            <a:spAutoFit/>
          </a:bodyPr>
          <a:lstStyle/>
          <a:p>
            <a:pPr algn="l">
              <a:spcAft>
                <a:spcPts val="800"/>
              </a:spcAft>
            </a:pPr>
            <a:r>
              <a:rPr sz="3600" b="1">
                <a:solidFill>
                  <a:srgbClr val="1E1E1E"/>
                </a:solidFill>
                <a:latin typeface="Glacial Indifference Bold"/>
              </a:rPr>
              <a:t>Implement a centralized online system</a:t>
            </a:r>
          </a:p>
        </p:txBody>
      </p:sp>
      <p:sp>
        <p:nvSpPr>
          <p:cNvPr id="24" name="TextBox 23"/>
          <p:cNvSpPr txBox="1"/>
          <p:nvPr/>
        </p:nvSpPr>
        <p:spPr>
          <a:xfrm>
            <a:off x="6766559" y="4892040"/>
            <a:ext cx="4709159" cy="2743200"/>
          </a:xfrm>
          <a:prstGeom prst="rect">
            <a:avLst/>
          </a:prstGeom>
          <a:noFill/>
        </p:spPr>
        <p:txBody>
          <a:bodyPr wrap="square" anchor="t" lIns="0" rIns="0" tIns="0" bIns="0">
            <a:spAutoFit/>
          </a:bodyPr>
          <a:lstStyle/>
          <a:p>
            <a:pPr algn="l" marL="347472" indent="-347472">
              <a:spcAft>
                <a:spcPts val="600"/>
              </a:spcAft>
              <a:buClr>
                <a:srgbClr val="EC6A27"/>
              </a:buClr>
              <a:buFont typeface="Arial"/>
              <a:buChar char="•"/>
            </a:pPr>
            <a:r>
              <a:rPr sz="2200" b="0">
                <a:solidFill>
                  <a:srgbClr val="1E1E1E"/>
                </a:solidFill>
                <a:latin typeface="Glacial Indifference"/>
              </a:rPr>
              <a:t>Unified database linking owner, pet, payment, vaccination, clinical, and medicine records</a:t>
            </a:r>
          </a:p>
          <a:p>
            <a:pPr algn="l" marL="347472" indent="-347472">
              <a:spcAft>
                <a:spcPts val="600"/>
              </a:spcAft>
              <a:buClr>
                <a:srgbClr val="EC6A27"/>
              </a:buClr>
              <a:buFont typeface="Arial"/>
              <a:buChar char="•"/>
            </a:pPr>
            <a:r>
              <a:rPr sz="2200" b="0">
                <a:solidFill>
                  <a:srgbClr val="1E1E1E"/>
                </a:solidFill>
                <a:latin typeface="Glacial Indifference"/>
              </a:rPr>
              <a:t>Role-specific dashboards and workflows for each system role</a:t>
            </a:r>
          </a:p>
          <a:p>
            <a:pPr algn="l" marL="347472" indent="-347472">
              <a:spcAft>
                <a:spcPts val="600"/>
              </a:spcAft>
              <a:buClr>
                <a:srgbClr val="EC6A27"/>
              </a:buClr>
              <a:buFont typeface="Arial"/>
              <a:buChar char="•"/>
            </a:pPr>
            <a:r>
              <a:rPr sz="2200" b="0">
                <a:solidFill>
                  <a:srgbClr val="1E1E1E"/>
                </a:solidFill>
                <a:latin typeface="Glacial Indifference"/>
              </a:rPr>
              <a:t>QR scanning, search and filter functions</a:t>
            </a:r>
          </a:p>
          <a:p>
            <a:pPr algn="l" marL="347472" indent="-347472">
              <a:spcAft>
                <a:spcPts val="600"/>
              </a:spcAft>
              <a:buClr>
                <a:srgbClr val="EC6A27"/>
              </a:buClr>
              <a:buFont typeface="Arial"/>
              <a:buChar char="•"/>
            </a:pPr>
            <a:r>
              <a:rPr sz="2200" b="0">
                <a:solidFill>
                  <a:srgbClr val="1E1E1E"/>
                </a:solidFill>
                <a:latin typeface="Glacial Indifference"/>
              </a:rPr>
              <a:t>Data analytics and reporting with activity auditing</a:t>
            </a:r>
          </a:p>
        </p:txBody>
      </p:sp>
      <p:sp>
        <p:nvSpPr>
          <p:cNvPr id="25" name="Rounded Rectangle 24"/>
          <p:cNvSpPr/>
          <p:nvPr/>
        </p:nvSpPr>
        <p:spPr>
          <a:xfrm>
            <a:off x="12070080" y="3611880"/>
            <a:ext cx="5349240" cy="41605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6" name="TextBox 25"/>
          <p:cNvSpPr txBox="1"/>
          <p:nvPr/>
        </p:nvSpPr>
        <p:spPr>
          <a:xfrm>
            <a:off x="12390119" y="3794760"/>
            <a:ext cx="4709159" cy="41148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OBJECTIVE 3</a:t>
            </a:r>
          </a:p>
        </p:txBody>
      </p:sp>
      <p:sp>
        <p:nvSpPr>
          <p:cNvPr id="27" name="TextBox 26"/>
          <p:cNvSpPr txBox="1"/>
          <p:nvPr/>
        </p:nvSpPr>
        <p:spPr>
          <a:xfrm>
            <a:off x="12390119" y="4114800"/>
            <a:ext cx="4709159" cy="731520"/>
          </a:xfrm>
          <a:prstGeom prst="rect">
            <a:avLst/>
          </a:prstGeom>
          <a:noFill/>
        </p:spPr>
        <p:txBody>
          <a:bodyPr wrap="square" anchor="t" lIns="0" rIns="0" tIns="0" bIns="0">
            <a:spAutoFit/>
          </a:bodyPr>
          <a:lstStyle/>
          <a:p>
            <a:pPr algn="l">
              <a:spcAft>
                <a:spcPts val="800"/>
              </a:spcAft>
            </a:pPr>
            <a:r>
              <a:rPr sz="3600" b="1">
                <a:solidFill>
                  <a:srgbClr val="1E1E1E"/>
                </a:solidFill>
                <a:latin typeface="Glacial Indifference Bold"/>
                <a:ea typeface="Glacial Indifference Bold"/>
                <a:cs typeface="Glacial Indifference Bold"/>
              </a:rPr>
              <a:t>Evaluate</a:t>
            </a:r>
          </a:p>
        </p:txBody>
      </p:sp>
      <p:sp>
        <p:nvSpPr>
          <p:cNvPr id="28" name="TextBox 27"/>
          <p:cNvSpPr txBox="1"/>
          <p:nvPr/>
        </p:nvSpPr>
        <p:spPr>
          <a:xfrm>
            <a:off x="12390119" y="4892040"/>
            <a:ext cx="4709159" cy="2743200"/>
          </a:xfrm>
          <a:prstGeom prst="rect">
            <a:avLst/>
          </a:prstGeom>
          <a:noFill/>
        </p:spPr>
        <p:txBody>
          <a:bodyPr wrap="square" anchor="t" lIns="0" rIns="0" tIns="0" bIns="0">
            <a:spAutoFit/>
          </a:bodyPr>
          <a:lstStyle/>
          <a:p>
            <a:pPr algn="l" marL="347472" indent="-347472">
              <a:spcAft>
                <a:spcPts val="600"/>
              </a:spcAft>
              <a:buClr>
                <a:srgbClr val="EC6A27"/>
              </a:buClr>
              <a:buFont typeface="Arial"/>
              <a:buChar char="•"/>
            </a:pPr>
            <a:r>
              <a:rPr sz="2200" b="0">
                <a:solidFill>
                  <a:srgbClr val="1E1E1E"/>
                </a:solidFill>
                <a:latin typeface="Glacial Indifference"/>
              </a:rPr>
              <a:t>ISO/IEC 25010 Software Quality Model</a:t>
            </a:r>
          </a:p>
          <a:p>
            <a:pPr algn="l" marL="347472" indent="-347472">
              <a:spcAft>
                <a:spcPts val="600"/>
              </a:spcAft>
              <a:buClr>
                <a:srgbClr val="EC6A27"/>
              </a:buClr>
              <a:buFont typeface="Arial"/>
              <a:buChar char="•"/>
            </a:pPr>
            <a:r>
              <a:rPr sz="2200" b="0">
                <a:solidFill>
                  <a:srgbClr val="1E1E1E"/>
                </a:solidFill>
                <a:latin typeface="Glacial Indifference"/>
              </a:rPr>
              <a:t>End users: Functional Suitability, Performance Efficiency, Usability</a:t>
            </a:r>
          </a:p>
          <a:p>
            <a:pPr algn="l" marL="347472" indent="-347472">
              <a:spcAft>
                <a:spcPts val="600"/>
              </a:spcAft>
              <a:buClr>
                <a:srgbClr val="EC6A27"/>
              </a:buClr>
              <a:buFont typeface="Arial"/>
              <a:buChar char="•"/>
            </a:pPr>
            <a:r>
              <a:rPr sz="2200" b="0">
                <a:solidFill>
                  <a:srgbClr val="1E1E1E"/>
                </a:solidFill>
                <a:latin typeface="Glacial Indifference"/>
              </a:rPr>
              <a:t>IT experts: plus Reliability and Security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SCOPE AND LIMITATIONS</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What the study covers, and where it stops</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Rounded Rectangle 15"/>
          <p:cNvSpPr/>
          <p:nvPr/>
        </p:nvSpPr>
        <p:spPr>
          <a:xfrm>
            <a:off x="822960" y="2011680"/>
            <a:ext cx="8138160" cy="57607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7" name="TextBox 16"/>
          <p:cNvSpPr txBox="1"/>
          <p:nvPr/>
        </p:nvSpPr>
        <p:spPr>
          <a:xfrm>
            <a:off x="1143000" y="2240280"/>
            <a:ext cx="7498080" cy="457200"/>
          </a:xfrm>
          <a:prstGeom prst="rect">
            <a:avLst/>
          </a:prstGeom>
          <a:noFill/>
        </p:spPr>
        <p:txBody>
          <a:bodyPr wrap="square" anchor="t" lIns="0" rIns="0" tIns="0" bIns="0">
            <a:spAutoFit/>
          </a:bodyPr>
          <a:lstStyle/>
          <a:p>
            <a:pPr algn="l">
              <a:spcAft>
                <a:spcPts val="800"/>
              </a:spcAft>
            </a:pPr>
            <a:r>
              <a:rPr sz="2400" b="1">
                <a:solidFill>
                  <a:srgbClr val="EC6A27"/>
                </a:solidFill>
                <a:latin typeface="Glacial Indifference Bold"/>
                <a:ea typeface="Glacial Indifference Bold"/>
                <a:cs typeface="Glacial Indifference Bold"/>
              </a:rPr>
              <a:t>Scope</a:t>
            </a:r>
          </a:p>
        </p:txBody>
      </p:sp>
      <p:sp>
        <p:nvSpPr>
          <p:cNvPr id="18" name="TextBox 17"/>
          <p:cNvSpPr txBox="1"/>
          <p:nvPr/>
        </p:nvSpPr>
        <p:spPr>
          <a:xfrm>
            <a:off x="1143000" y="2834640"/>
            <a:ext cx="7498080" cy="4754879"/>
          </a:xfrm>
          <a:prstGeom prst="rect">
            <a:avLst/>
          </a:prstGeom>
          <a:noFill/>
        </p:spPr>
        <p:txBody>
          <a:bodyPr wrap="square" anchor="t" lIns="0" rIns="0" tIns="0" bIns="0">
            <a:spAutoFit/>
          </a:bodyPr>
          <a:lstStyle/>
          <a:p>
            <a:pPr algn="l" marL="347472" indent="-347472">
              <a:spcAft>
                <a:spcPts val="1000"/>
              </a:spcAft>
              <a:buClr>
                <a:srgbClr val="EC6A27"/>
              </a:buClr>
              <a:buFont typeface="Arial"/>
              <a:buChar char="•"/>
            </a:pPr>
            <a:r>
              <a:rPr sz="2400" b="0">
                <a:solidFill>
                  <a:srgbClr val="1E1E1E"/>
                </a:solidFill>
                <a:latin typeface="Glacial Indifference"/>
              </a:rPr>
              <a:t>City Veterinary Animal Clinic of Cabuyao City, Laguna only</a:t>
            </a:r>
          </a:p>
          <a:p>
            <a:pPr algn="l" marL="347472" indent="-347472">
              <a:spcAft>
                <a:spcPts val="1000"/>
              </a:spcAft>
              <a:buClr>
                <a:srgbClr val="EC6A27"/>
              </a:buClr>
              <a:buFont typeface="Arial"/>
              <a:buChar char="•"/>
            </a:pPr>
            <a:r>
              <a:rPr sz="2400" b="0">
                <a:solidFill>
                  <a:srgbClr val="1E1E1E"/>
                </a:solidFill>
                <a:latin typeface="Glacial Indifference"/>
              </a:rPr>
              <a:t>Role-based access for Admin, Staff, Veterinarian, and Pet Owner</a:t>
            </a:r>
          </a:p>
          <a:p>
            <a:pPr algn="l" marL="347472" indent="-347472">
              <a:spcAft>
                <a:spcPts val="1000"/>
              </a:spcAft>
              <a:buClr>
                <a:srgbClr val="EC6A27"/>
              </a:buClr>
              <a:buFont typeface="Arial"/>
              <a:buChar char="•"/>
            </a:pPr>
            <a:r>
              <a:rPr sz="2400" b="0">
                <a:solidFill>
                  <a:srgbClr val="1E1E1E"/>
                </a:solidFill>
                <a:latin typeface="Glacial Indifference"/>
              </a:rPr>
              <a:t>Owner and pet registration, QR code generation, and a digital pet booklet</a:t>
            </a:r>
          </a:p>
          <a:p>
            <a:pPr algn="l" marL="347472" indent="-347472">
              <a:spcAft>
                <a:spcPts val="1000"/>
              </a:spcAft>
              <a:buClr>
                <a:srgbClr val="EC6A27"/>
              </a:buClr>
              <a:buFont typeface="Arial"/>
              <a:buChar char="•"/>
            </a:pPr>
            <a:r>
              <a:rPr sz="2400" b="0">
                <a:solidFill>
                  <a:srgbClr val="1E1E1E"/>
                </a:solidFill>
                <a:latin typeface="Glacial Indifference"/>
              </a:rPr>
              <a:t>Vaccination monitoring; clinical and medicine records; payment monitoring via Official Receipts</a:t>
            </a:r>
          </a:p>
          <a:p>
            <a:pPr algn="l" marL="347472" indent="-347472">
              <a:spcAft>
                <a:spcPts val="1000"/>
              </a:spcAft>
              <a:buClr>
                <a:srgbClr val="EC6A27"/>
              </a:buClr>
              <a:buFont typeface="Arial"/>
              <a:buChar char="•"/>
            </a:pPr>
            <a:r>
              <a:rPr sz="2400" b="0">
                <a:solidFill>
                  <a:srgbClr val="1E1E1E"/>
                </a:solidFill>
                <a:latin typeface="Glacial Indifference"/>
              </a:rPr>
              <a:t>Analytics and reporting, notifications, outreach, activity audit, and offline drafts</a:t>
            </a:r>
          </a:p>
        </p:txBody>
      </p:sp>
      <p:sp>
        <p:nvSpPr>
          <p:cNvPr id="19" name="Rounded Rectangle 18"/>
          <p:cNvSpPr/>
          <p:nvPr/>
        </p:nvSpPr>
        <p:spPr>
          <a:xfrm>
            <a:off x="9326880" y="2011680"/>
            <a:ext cx="8138160" cy="57607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0" name="TextBox 19"/>
          <p:cNvSpPr txBox="1"/>
          <p:nvPr/>
        </p:nvSpPr>
        <p:spPr>
          <a:xfrm>
            <a:off x="9646919" y="2240280"/>
            <a:ext cx="7498080" cy="457200"/>
          </a:xfrm>
          <a:prstGeom prst="rect">
            <a:avLst/>
          </a:prstGeom>
          <a:noFill/>
        </p:spPr>
        <p:txBody>
          <a:bodyPr wrap="square" anchor="t" lIns="0" rIns="0" tIns="0" bIns="0">
            <a:spAutoFit/>
          </a:bodyPr>
          <a:lstStyle/>
          <a:p>
            <a:pPr algn="l">
              <a:spcAft>
                <a:spcPts val="800"/>
              </a:spcAft>
            </a:pPr>
            <a:r>
              <a:rPr sz="2400" b="1">
                <a:solidFill>
                  <a:srgbClr val="4A4A4A"/>
                </a:solidFill>
                <a:latin typeface="Glacial Indifference Bold"/>
                <a:ea typeface="Glacial Indifference Bold"/>
                <a:cs typeface="Glacial Indifference Bold"/>
              </a:rPr>
              <a:t>Limitations</a:t>
            </a:r>
          </a:p>
        </p:txBody>
      </p:sp>
      <p:sp>
        <p:nvSpPr>
          <p:cNvPr id="21" name="TextBox 20"/>
          <p:cNvSpPr txBox="1"/>
          <p:nvPr/>
        </p:nvSpPr>
        <p:spPr>
          <a:xfrm>
            <a:off x="9646919" y="2834640"/>
            <a:ext cx="7498080" cy="4754879"/>
          </a:xfrm>
          <a:prstGeom prst="rect">
            <a:avLst/>
          </a:prstGeom>
          <a:noFill/>
        </p:spPr>
        <p:txBody>
          <a:bodyPr wrap="square" anchor="t" lIns="0" rIns="0" tIns="0" bIns="0">
            <a:spAutoFit/>
          </a:bodyPr>
          <a:lstStyle/>
          <a:p>
            <a:pPr algn="l" marL="347472" indent="-347472">
              <a:spcAft>
                <a:spcPts val="1000"/>
              </a:spcAft>
              <a:buClr>
                <a:srgbClr val="EC6A27"/>
              </a:buClr>
              <a:buFont typeface="Arial"/>
              <a:buChar char="•"/>
            </a:pPr>
            <a:r>
              <a:rPr sz="2400" b="0">
                <a:solidFill>
                  <a:srgbClr val="1E1E1E"/>
                </a:solidFill>
                <a:latin typeface="Glacial Indifference"/>
              </a:rPr>
              <a:t>Results cannot be generalized to other clinics or institutions</a:t>
            </a:r>
          </a:p>
          <a:p>
            <a:pPr algn="l" marL="347472" indent="-347472">
              <a:spcAft>
                <a:spcPts val="1000"/>
              </a:spcAft>
              <a:buClr>
                <a:srgbClr val="EC6A27"/>
              </a:buClr>
              <a:buFont typeface="Arial"/>
              <a:buChar char="•"/>
            </a:pPr>
            <a:r>
              <a:rPr sz="2400" b="0">
                <a:solidFill>
                  <a:srgbClr val="1E1E1E"/>
                </a:solidFill>
                <a:latin typeface="Glacial Indifference"/>
              </a:rPr>
              <a:t>Web-based only; no native Android or iOS application</a:t>
            </a:r>
          </a:p>
          <a:p>
            <a:pPr algn="l" marL="347472" indent="-347472">
              <a:spcAft>
                <a:spcPts val="1000"/>
              </a:spcAft>
              <a:buClr>
                <a:srgbClr val="EC6A27"/>
              </a:buClr>
              <a:buFont typeface="Arial"/>
              <a:buChar char="•"/>
            </a:pPr>
            <a:r>
              <a:rPr sz="2400" b="0">
                <a:solidFill>
                  <a:srgbClr val="1E1E1E"/>
                </a:solidFill>
                <a:latin typeface="Glacial Indifference"/>
              </a:rPr>
              <a:t>No pharmacy, inventory, lab testing, confinement, or surgery management</a:t>
            </a:r>
          </a:p>
          <a:p>
            <a:pPr algn="l" marL="347472" indent="-347472">
              <a:spcAft>
                <a:spcPts val="1000"/>
              </a:spcAft>
              <a:buClr>
                <a:srgbClr val="EC6A27"/>
              </a:buClr>
              <a:buFont typeface="Arial"/>
              <a:buChar char="•"/>
            </a:pPr>
            <a:r>
              <a:rPr sz="2400" b="0">
                <a:solidFill>
                  <a:srgbClr val="1E1E1E"/>
                </a:solidFill>
                <a:latin typeface="Glacial Indifference"/>
              </a:rPr>
              <a:t>No full appointment scheduling; offline drafts are device-local with no live sync</a:t>
            </a:r>
          </a:p>
          <a:p>
            <a:pPr algn="l" marL="347472" indent="-347472">
              <a:spcAft>
                <a:spcPts val="1000"/>
              </a:spcAft>
              <a:buClr>
                <a:srgbClr val="EC6A27"/>
              </a:buClr>
              <a:buFont typeface="Arial"/>
              <a:buChar char="•"/>
            </a:pPr>
            <a:r>
              <a:rPr sz="2400" b="0">
                <a:solidFill>
                  <a:srgbClr val="1E1E1E"/>
                </a:solidFill>
                <a:latin typeface="Glacial Indifference"/>
              </a:rPr>
              <a:t>No direct Treasury integration; Official Receipts are recorded manually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METHODOLOGY</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rPr>
              <a:t>Developmental research design (Agile Scrum)</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Rounded Rectangle 15"/>
          <p:cNvSpPr/>
          <p:nvPr/>
        </p:nvSpPr>
        <p:spPr>
          <a:xfrm>
            <a:off x="822960" y="2011680"/>
            <a:ext cx="9326880" cy="57607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7" name="TextBox 16"/>
          <p:cNvSpPr txBox="1"/>
          <p:nvPr/>
        </p:nvSpPr>
        <p:spPr>
          <a:xfrm>
            <a:off x="1143000" y="2194560"/>
            <a:ext cx="8686800" cy="457200"/>
          </a:xfrm>
          <a:prstGeom prst="rect">
            <a:avLst/>
          </a:prstGeom>
          <a:noFill/>
        </p:spPr>
        <p:txBody>
          <a:bodyPr wrap="square" anchor="t" lIns="0" rIns="0" tIns="0" bIns="0">
            <a:spAutoFit/>
          </a:bodyPr>
          <a:lstStyle/>
          <a:p>
            <a:pPr algn="l">
              <a:spcAft>
                <a:spcPts val="800"/>
              </a:spcAft>
            </a:pPr>
            <a:r>
              <a:rPr sz="2400" b="1">
                <a:solidFill>
                  <a:srgbClr val="EC6A27"/>
                </a:solidFill>
                <a:latin typeface="Glacial Indifference Bold"/>
                <a:ea typeface="Glacial Indifference Bold"/>
                <a:cs typeface="Glacial Indifference Bold"/>
              </a:rPr>
              <a:t>Two phases</a:t>
            </a:r>
          </a:p>
        </p:txBody>
      </p:sp>
      <p:sp>
        <p:nvSpPr>
          <p:cNvPr id="18" name="TextBox 17"/>
          <p:cNvSpPr txBox="1"/>
          <p:nvPr/>
        </p:nvSpPr>
        <p:spPr>
          <a:xfrm>
            <a:off x="1143000" y="2743200"/>
            <a:ext cx="8686800" cy="4937760"/>
          </a:xfrm>
          <a:prstGeom prst="rect">
            <a:avLst/>
          </a:prstGeom>
          <a:noFill/>
        </p:spPr>
        <p:txBody>
          <a:bodyPr wrap="square" anchor="t" lIns="0" rIns="0" tIns="0" bIns="0">
            <a:spAutoFit/>
          </a:bodyPr>
          <a:lstStyle/>
          <a:p>
            <a:pPr algn="l" marL="347472" indent="-347472">
              <a:spcAft>
                <a:spcPts val="1600"/>
              </a:spcAft>
              <a:buClr>
                <a:srgbClr val="EC6A27"/>
              </a:buClr>
              <a:buFont typeface="Arial"/>
              <a:buChar char="•"/>
            </a:pPr>
            <a:r>
              <a:rPr sz="2500" b="1">
                <a:solidFill>
                  <a:srgbClr val="1E1E1E"/>
                </a:solidFill>
                <a:latin typeface="Glacial Indifference Bold"/>
              </a:rPr>
              <a:t>Pre-development (qualitative): interview, consultation, and observation at the clinic</a:t>
            </a:r>
          </a:p>
          <a:p>
            <a:pPr algn="l" marL="347472" indent="-347472">
              <a:spcAft>
                <a:spcPts val="1600"/>
              </a:spcAft>
              <a:buClr>
                <a:srgbClr val="EC6A27"/>
              </a:buClr>
              <a:buFont typeface="Arial"/>
              <a:buChar char="•"/>
            </a:pPr>
            <a:r>
              <a:rPr sz="2500" b="1">
                <a:solidFill>
                  <a:srgbClr val="1E1E1E"/>
                </a:solidFill>
                <a:latin typeface="Glacial Indifference Bold"/>
              </a:rPr>
              <a:t>Development: Agile Scrum in iterative sprints with a working increment each sprint</a:t>
            </a:r>
          </a:p>
          <a:p>
            <a:pPr algn="l" marL="347472" indent="-347472">
              <a:spcAft>
                <a:spcPts val="1600"/>
              </a:spcAft>
              <a:buClr>
                <a:srgbClr val="EC6A27"/>
              </a:buClr>
              <a:buFont typeface="Arial"/>
              <a:buChar char="•"/>
            </a:pPr>
            <a:r>
              <a:rPr sz="2500" b="1">
                <a:solidFill>
                  <a:srgbClr val="1E1E1E"/>
                </a:solidFill>
                <a:latin typeface="Glacial Indifference Bold"/>
              </a:rPr>
              <a:t>Post-development (quantitative): ISO/IEC 25010 evaluation questionnaires (five-point Likert scale)</a:t>
            </a:r>
          </a:p>
          <a:p>
            <a:pPr algn="l" marL="347472" indent="-347472">
              <a:spcAft>
                <a:spcPts val="1600"/>
              </a:spcAft>
              <a:buClr>
                <a:srgbClr val="EC6A27"/>
              </a:buClr>
              <a:buFont typeface="Arial"/>
              <a:buChar char="•"/>
            </a:pPr>
            <a:r>
              <a:rPr sz="2500" b="1">
                <a:solidFill>
                  <a:srgbClr val="1E1E1E"/>
                </a:solidFill>
                <a:latin typeface="Glacial Indifference Bold"/>
              </a:rPr>
              <a:t>Unit testing (17 of 17 passed) and integration testing (8 of 8 passed)</a:t>
            </a:r>
          </a:p>
          <a:p>
            <a:pPr algn="l" marL="347472" indent="-347472">
              <a:spcAft>
                <a:spcPts val="1600"/>
              </a:spcAft>
              <a:buClr>
                <a:srgbClr val="EC6A27"/>
              </a:buClr>
              <a:buFont typeface="Arial"/>
              <a:buChar char="•"/>
            </a:pPr>
            <a:r>
              <a:rPr sz="2500" b="1">
                <a:solidFill>
                  <a:srgbClr val="1E1E1E"/>
                </a:solidFill>
                <a:latin typeface="Glacial Indifference Bold"/>
              </a:rPr>
              <a:t>Respondents: 55 purposely selected - 50 end users and 5 IT experts</a:t>
            </a:r>
          </a:p>
        </p:txBody>
      </p:sp>
      <p:sp>
        <p:nvSpPr>
          <p:cNvPr id="20" name="TextBox 19"/>
          <p:cNvSpPr txBox="1"/>
          <p:nvPr/>
        </p:nvSpPr>
        <p:spPr>
          <a:xfrm>
            <a:off x="10424160" y="2011680"/>
            <a:ext cx="7040880" cy="457200"/>
          </a:xfrm>
          <a:prstGeom prst="rect">
            <a:avLst/>
          </a:prstGeom>
          <a:noFill/>
        </p:spPr>
        <p:txBody>
          <a:bodyPr wrap="square" anchor="t" lIns="0" rIns="0" tIns="0" bIns="0">
            <a:spAutoFit/>
          </a:bodyPr>
          <a:lstStyle/>
          <a:p>
            <a:pPr algn="l">
              <a:spcAft>
                <a:spcPts val="800"/>
              </a:spcAft>
            </a:pPr>
            <a:r>
              <a:rPr sz="2200" b="1">
                <a:solidFill>
                  <a:srgbClr val="1E1E1E"/>
                </a:solidFill>
                <a:latin typeface="Glacial Indifference Bold"/>
              </a:rPr>
              <a:t>Respondents by group (N = 55)</a:t>
            </a:r>
          </a:p>
        </p:txBody>
      </p:sp>
      <p:graphicFrame>
        <p:nvGraphicFramePr>
          <p:cNvPr id="21" name="Chart 20"/>
          <p:cNvGraphicFramePr>
            <a:graphicFrameLocks noGrp="1"/>
          </p:cNvGraphicFramePr>
          <p:nvPr/>
        </p:nvGraphicFramePr>
        <p:xfrm>
          <a:off x="10424160" y="2514600"/>
          <a:ext cx="7040880" cy="5303520"/>
        </p:xfrm>
        <a:graphic>
          <a:graphicData uri="http://schemas.openxmlformats.org/drawingml/2006/chart">
            <c:chart xmlns:c="http://schemas.openxmlformats.org/drawingml/2006/chart" r:id="rId1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EVIDENCE OF METHODOLOGY</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Agile Scrum: every sprint was carried out</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Rounded Rectangle 15"/>
          <p:cNvSpPr/>
          <p:nvPr/>
        </p:nvSpPr>
        <p:spPr>
          <a:xfrm>
            <a:off x="822960"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7" name="TextBox 16"/>
          <p:cNvSpPr txBox="1"/>
          <p:nvPr/>
        </p:nvSpPr>
        <p:spPr>
          <a:xfrm>
            <a:off x="1078992" y="2130552"/>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0</a:t>
            </a:r>
          </a:p>
        </p:txBody>
      </p:sp>
      <p:sp>
        <p:nvSpPr>
          <p:cNvPr id="18" name="TextBox 17"/>
          <p:cNvSpPr txBox="1"/>
          <p:nvPr/>
        </p:nvSpPr>
        <p:spPr>
          <a:xfrm>
            <a:off x="1078992" y="2496312"/>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ea typeface="Glacial Indifference Bold"/>
                <a:cs typeface="Glacial Indifference Bold"/>
              </a:rPr>
              <a:t>Requirements</a:t>
            </a:r>
          </a:p>
        </p:txBody>
      </p:sp>
      <p:sp>
        <p:nvSpPr>
          <p:cNvPr id="19" name="TextBox 18"/>
          <p:cNvSpPr txBox="1"/>
          <p:nvPr/>
        </p:nvSpPr>
        <p:spPr>
          <a:xfrm>
            <a:off x="1078992" y="324612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rPr>
              <a:t>Interviews, consultations, observation, and document analysis; user stories and product backlog</a:t>
            </a:r>
          </a:p>
        </p:txBody>
      </p:sp>
      <p:sp>
        <p:nvSpPr>
          <p:cNvPr id="20" name="Rounded Rectangle 19"/>
          <p:cNvSpPr/>
          <p:nvPr/>
        </p:nvSpPr>
        <p:spPr>
          <a:xfrm>
            <a:off x="5056632"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1" name="TextBox 20"/>
          <p:cNvSpPr txBox="1"/>
          <p:nvPr/>
        </p:nvSpPr>
        <p:spPr>
          <a:xfrm>
            <a:off x="5312664" y="2130552"/>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1</a:t>
            </a:r>
          </a:p>
        </p:txBody>
      </p:sp>
      <p:sp>
        <p:nvSpPr>
          <p:cNvPr id="22" name="TextBox 21"/>
          <p:cNvSpPr txBox="1"/>
          <p:nvPr/>
        </p:nvSpPr>
        <p:spPr>
          <a:xfrm>
            <a:off x="5312664" y="2496312"/>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ea typeface="Glacial Indifference Bold"/>
                <a:cs typeface="Glacial Indifference Bold"/>
              </a:rPr>
              <a:t>Login and foundation</a:t>
            </a:r>
          </a:p>
        </p:txBody>
      </p:sp>
      <p:sp>
        <p:nvSpPr>
          <p:cNvPr id="23" name="TextBox 22"/>
          <p:cNvSpPr txBox="1"/>
          <p:nvPr/>
        </p:nvSpPr>
        <p:spPr>
          <a:xfrm>
            <a:off x="5312664" y="324612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rPr>
              <a:t>Account management, role-based login, React, Node.js, and MySQL/Supabase set up</a:t>
            </a:r>
          </a:p>
        </p:txBody>
      </p:sp>
      <p:sp>
        <p:nvSpPr>
          <p:cNvPr id="24" name="Rounded Rectangle 23"/>
          <p:cNvSpPr/>
          <p:nvPr/>
        </p:nvSpPr>
        <p:spPr>
          <a:xfrm>
            <a:off x="9290304"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5" name="TextBox 24"/>
          <p:cNvSpPr txBox="1"/>
          <p:nvPr/>
        </p:nvSpPr>
        <p:spPr>
          <a:xfrm>
            <a:off x="9546336" y="2130552"/>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2</a:t>
            </a:r>
          </a:p>
        </p:txBody>
      </p:sp>
      <p:sp>
        <p:nvSpPr>
          <p:cNvPr id="26" name="TextBox 25"/>
          <p:cNvSpPr txBox="1"/>
          <p:nvPr/>
        </p:nvSpPr>
        <p:spPr>
          <a:xfrm>
            <a:off x="9546336" y="2496312"/>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rPr>
              <a:t>Registration and QR codes</a:t>
            </a:r>
          </a:p>
        </p:txBody>
      </p:sp>
      <p:sp>
        <p:nvSpPr>
          <p:cNvPr id="27" name="TextBox 26"/>
          <p:cNvSpPr txBox="1"/>
          <p:nvPr/>
        </p:nvSpPr>
        <p:spPr>
          <a:xfrm>
            <a:off x="9546336" y="324612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rPr>
              <a:t>Owner and pet registration; unique QR code per registered pet and a digital pet booklet</a:t>
            </a:r>
          </a:p>
        </p:txBody>
      </p:sp>
      <p:sp>
        <p:nvSpPr>
          <p:cNvPr id="28" name="Rounded Rectangle 27"/>
          <p:cNvSpPr/>
          <p:nvPr/>
        </p:nvSpPr>
        <p:spPr>
          <a:xfrm>
            <a:off x="13523976"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9" name="TextBox 28"/>
          <p:cNvSpPr txBox="1"/>
          <p:nvPr/>
        </p:nvSpPr>
        <p:spPr>
          <a:xfrm>
            <a:off x="13780008" y="2130552"/>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3</a:t>
            </a:r>
          </a:p>
        </p:txBody>
      </p:sp>
      <p:sp>
        <p:nvSpPr>
          <p:cNvPr id="30" name="TextBox 29"/>
          <p:cNvSpPr txBox="1"/>
          <p:nvPr/>
        </p:nvSpPr>
        <p:spPr>
          <a:xfrm>
            <a:off x="13780008" y="2496312"/>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rPr>
              <a:t>Vaccination and payments</a:t>
            </a:r>
          </a:p>
        </p:txBody>
      </p:sp>
      <p:sp>
        <p:nvSpPr>
          <p:cNvPr id="31" name="TextBox 30"/>
          <p:cNvSpPr txBox="1"/>
          <p:nvPr/>
        </p:nvSpPr>
        <p:spPr>
          <a:xfrm>
            <a:off x="13780008" y="324612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rPr>
              <a:t>Vaccination history recording and monitoring; payment monitoring with Treasury Official Receipts</a:t>
            </a:r>
          </a:p>
        </p:txBody>
      </p:sp>
      <p:sp>
        <p:nvSpPr>
          <p:cNvPr id="32" name="Rounded Rectangle 31"/>
          <p:cNvSpPr/>
          <p:nvPr/>
        </p:nvSpPr>
        <p:spPr>
          <a:xfrm>
            <a:off x="822960" y="4983479"/>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3" name="TextBox 32"/>
          <p:cNvSpPr txBox="1"/>
          <p:nvPr/>
        </p:nvSpPr>
        <p:spPr>
          <a:xfrm>
            <a:off x="1078992" y="5148071"/>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4</a:t>
            </a:r>
          </a:p>
        </p:txBody>
      </p:sp>
      <p:sp>
        <p:nvSpPr>
          <p:cNvPr id="34" name="TextBox 33"/>
          <p:cNvSpPr txBox="1"/>
          <p:nvPr/>
        </p:nvSpPr>
        <p:spPr>
          <a:xfrm>
            <a:off x="1078992" y="5513831"/>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rPr>
              <a:t>Clinical and medicine</a:t>
            </a:r>
          </a:p>
        </p:txBody>
      </p:sp>
      <p:sp>
        <p:nvSpPr>
          <p:cNvPr id="35" name="TextBox 34"/>
          <p:cNvSpPr txBox="1"/>
          <p:nvPr/>
        </p:nvSpPr>
        <p:spPr>
          <a:xfrm>
            <a:off x="1078992" y="626364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rPr>
              <a:t>Multi-step consultation workflow; medicine prescription with auto-computed dosage</a:t>
            </a:r>
          </a:p>
        </p:txBody>
      </p:sp>
      <p:sp>
        <p:nvSpPr>
          <p:cNvPr id="36" name="Rounded Rectangle 35"/>
          <p:cNvSpPr/>
          <p:nvPr/>
        </p:nvSpPr>
        <p:spPr>
          <a:xfrm>
            <a:off x="5056632" y="4983479"/>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7" name="TextBox 36"/>
          <p:cNvSpPr txBox="1"/>
          <p:nvPr/>
        </p:nvSpPr>
        <p:spPr>
          <a:xfrm>
            <a:off x="5312664" y="5148071"/>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5</a:t>
            </a:r>
          </a:p>
        </p:txBody>
      </p:sp>
      <p:sp>
        <p:nvSpPr>
          <p:cNvPr id="38" name="TextBox 37"/>
          <p:cNvSpPr txBox="1"/>
          <p:nvPr/>
        </p:nvSpPr>
        <p:spPr>
          <a:xfrm>
            <a:off x="5312664" y="5513831"/>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rPr>
              <a:t>Analytics and admin</a:t>
            </a:r>
          </a:p>
        </p:txBody>
      </p:sp>
      <p:sp>
        <p:nvSpPr>
          <p:cNvPr id="39" name="TextBox 38"/>
          <p:cNvSpPr txBox="1"/>
          <p:nvPr/>
        </p:nvSpPr>
        <p:spPr>
          <a:xfrm>
            <a:off x="5312664" y="626364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rPr>
              <a:t>Analytics dashboards and reporting; activity audit, product catalog, and announcements</a:t>
            </a:r>
          </a:p>
        </p:txBody>
      </p:sp>
      <p:sp>
        <p:nvSpPr>
          <p:cNvPr id="40" name="Rounded Rectangle 39"/>
          <p:cNvSpPr/>
          <p:nvPr/>
        </p:nvSpPr>
        <p:spPr>
          <a:xfrm>
            <a:off x="9290304" y="4983479"/>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41" name="TextBox 40"/>
          <p:cNvSpPr txBox="1"/>
          <p:nvPr/>
        </p:nvSpPr>
        <p:spPr>
          <a:xfrm>
            <a:off x="9546336" y="5148071"/>
            <a:ext cx="3419856" cy="365760"/>
          </a:xfrm>
          <a:prstGeom prst="rect">
            <a:avLst/>
          </a:prstGeom>
          <a:noFill/>
        </p:spPr>
        <p:txBody>
          <a:bodyPr wrap="square" anchor="t" lIns="0" rIns="0" tIns="0" bIns="0">
            <a:spAutoFit/>
          </a:bodyPr>
          <a:lstStyle/>
          <a:p>
            <a:pPr algn="l">
              <a:spcAft>
                <a:spcPts val="800"/>
              </a:spcAft>
            </a:pPr>
            <a:r>
              <a:rPr sz="1700" b="1">
                <a:solidFill>
                  <a:srgbClr val="EC6A27"/>
                </a:solidFill>
                <a:latin typeface="Glacial Indifference Bold"/>
                <a:ea typeface="Glacial Indifference Bold"/>
                <a:cs typeface="Glacial Indifference Bold"/>
              </a:rPr>
              <a:t>SPRINT 6</a:t>
            </a:r>
          </a:p>
        </p:txBody>
      </p:sp>
      <p:sp>
        <p:nvSpPr>
          <p:cNvPr id="42" name="TextBox 41"/>
          <p:cNvSpPr txBox="1"/>
          <p:nvPr/>
        </p:nvSpPr>
        <p:spPr>
          <a:xfrm>
            <a:off x="9546336" y="5513831"/>
            <a:ext cx="3419856" cy="640080"/>
          </a:xfrm>
          <a:prstGeom prst="rect">
            <a:avLst/>
          </a:prstGeom>
          <a:noFill/>
        </p:spPr>
        <p:txBody>
          <a:bodyPr wrap="square" anchor="t" lIns="0" rIns="0" tIns="0" bIns="0">
            <a:spAutoFit/>
          </a:bodyPr>
          <a:lstStyle/>
          <a:p>
            <a:pPr algn="l">
              <a:spcAft>
                <a:spcPts val="0"/>
              </a:spcAft>
            </a:pPr>
            <a:r>
              <a:rPr sz="2300" b="1">
                <a:solidFill>
                  <a:srgbClr val="1E1E1E"/>
                </a:solidFill>
                <a:latin typeface="Glacial Indifference Bold"/>
                <a:ea typeface="Glacial Indifference Bold"/>
                <a:cs typeface="Glacial Indifference Bold"/>
              </a:rPr>
              <a:t>Testing and UAT</a:t>
            </a:r>
          </a:p>
        </p:txBody>
      </p:sp>
      <p:sp>
        <p:nvSpPr>
          <p:cNvPr id="43" name="TextBox 42"/>
          <p:cNvSpPr txBox="1"/>
          <p:nvPr/>
        </p:nvSpPr>
        <p:spPr>
          <a:xfrm>
            <a:off x="9546336" y="6263640"/>
            <a:ext cx="3419856" cy="14630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rPr>
              <a:t>Unit and integration testing; ISO/IEC 25010 evaluation by end users and IT experts</a:t>
            </a:r>
          </a:p>
        </p:txBody>
      </p:sp>
      <p:sp>
        <p:nvSpPr>
          <p:cNvPr id="44" name="Rounded Rectangle 43"/>
          <p:cNvSpPr/>
          <p:nvPr/>
        </p:nvSpPr>
        <p:spPr>
          <a:xfrm>
            <a:off x="13523976" y="4983479"/>
            <a:ext cx="3931920" cy="278892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45" name="TextBox 44"/>
          <p:cNvSpPr txBox="1"/>
          <p:nvPr/>
        </p:nvSpPr>
        <p:spPr>
          <a:xfrm>
            <a:off x="13780008" y="5148071"/>
            <a:ext cx="3419856" cy="365760"/>
          </a:xfrm>
          <a:prstGeom prst="rect">
            <a:avLst/>
          </a:prstGeom>
          <a:noFill/>
        </p:spPr>
        <p:txBody>
          <a:bodyPr wrap="square" anchor="t" lIns="0" rIns="0" tIns="0" bIns="0">
            <a:spAutoFit/>
          </a:bodyPr>
          <a:lstStyle/>
          <a:p>
            <a:pPr algn="l">
              <a:spcAft>
                <a:spcPts val="800"/>
              </a:spcAft>
            </a:pPr>
            <a:r>
              <a:rPr sz="1700" b="1">
                <a:solidFill>
                  <a:srgbClr val="FFFFFF"/>
                </a:solidFill>
                <a:latin typeface="Glacial Indifference Bold"/>
                <a:ea typeface="Glacial Indifference Bold"/>
                <a:cs typeface="Glacial Indifference Bold"/>
              </a:rPr>
              <a:t>SCRUM EVENTS</a:t>
            </a:r>
          </a:p>
        </p:txBody>
      </p:sp>
      <p:sp>
        <p:nvSpPr>
          <p:cNvPr id="46" name="TextBox 45"/>
          <p:cNvSpPr txBox="1"/>
          <p:nvPr/>
        </p:nvSpPr>
        <p:spPr>
          <a:xfrm>
            <a:off x="13780008" y="5532119"/>
            <a:ext cx="3419856" cy="2103120"/>
          </a:xfrm>
          <a:prstGeom prst="rect">
            <a:avLst/>
          </a:prstGeom>
          <a:noFill/>
        </p:spPr>
        <p:txBody>
          <a:bodyPr wrap="square" anchor="t" lIns="0" rIns="0" tIns="0" bIns="0">
            <a:spAutoFit/>
          </a:bodyPr>
          <a:lstStyle/>
          <a:p>
            <a:pPr algn="l" marL="347472" indent="-347472">
              <a:spcAft>
                <a:spcPts val="500"/>
              </a:spcAft>
              <a:buClr>
                <a:srgbClr val="FFFFFF"/>
              </a:buClr>
              <a:buFont typeface="Arial"/>
              <a:buChar char="•"/>
            </a:pPr>
            <a:r>
              <a:rPr sz="2100" b="0">
                <a:solidFill>
                  <a:srgbClr val="FFFFFF"/>
                </a:solidFill>
                <a:latin typeface="Glacial Indifference"/>
                <a:ea typeface="Glacial Indifference"/>
                <a:cs typeface="Glacial Indifference"/>
              </a:rPr>
              <a:t>Sprint planning</a:t>
            </a:r>
          </a:p>
          <a:p>
            <a:pPr algn="l" marL="347472" indent="-347472">
              <a:spcAft>
                <a:spcPts val="500"/>
              </a:spcAft>
              <a:buClr>
                <a:srgbClr val="FFFFFF"/>
              </a:buClr>
              <a:buFont typeface="Arial"/>
              <a:buChar char="•"/>
            </a:pPr>
            <a:r>
              <a:rPr sz="2100" b="0">
                <a:solidFill>
                  <a:srgbClr val="FFFFFF"/>
                </a:solidFill>
                <a:latin typeface="Glacial Indifference"/>
                <a:ea typeface="Glacial Indifference"/>
                <a:cs typeface="Glacial Indifference"/>
              </a:rPr>
              <a:t>Daily scrum</a:t>
            </a:r>
          </a:p>
          <a:p>
            <a:pPr algn="l" marL="347472" indent="-347472">
              <a:spcAft>
                <a:spcPts val="500"/>
              </a:spcAft>
              <a:buClr>
                <a:srgbClr val="FFFFFF"/>
              </a:buClr>
              <a:buFont typeface="Arial"/>
              <a:buChar char="•"/>
            </a:pPr>
            <a:r>
              <a:rPr sz="2100" b="0">
                <a:solidFill>
                  <a:srgbClr val="FFFFFF"/>
                </a:solidFill>
                <a:latin typeface="Glacial Indifference"/>
                <a:ea typeface="Glacial Indifference"/>
                <a:cs typeface="Glacial Indifference"/>
              </a:rPr>
              <a:t>Sprint review with stakeholders</a:t>
            </a:r>
          </a:p>
          <a:p>
            <a:pPr algn="l" marL="347472" indent="-347472">
              <a:spcAft>
                <a:spcPts val="500"/>
              </a:spcAft>
              <a:buClr>
                <a:srgbClr val="FFFFFF"/>
              </a:buClr>
              <a:buFont typeface="Arial"/>
              <a:buChar char="•"/>
            </a:pPr>
            <a:r>
              <a:rPr sz="2100" b="0">
                <a:solidFill>
                  <a:srgbClr val="FFFFFF"/>
                </a:solidFill>
                <a:latin typeface="Glacial Indifference"/>
                <a:ea typeface="Glacial Indifference"/>
                <a:cs typeface="Glacial Indifference"/>
              </a:rPr>
              <a:t>Sprint retrospective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EVIDENCE OF METHODOLOGY</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Working system outputs from the sprints</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7" name="TextBox 16"/>
          <p:cNvSpPr txBox="1"/>
          <p:nvPr/>
        </p:nvSpPr>
        <p:spPr>
          <a:xfrm>
            <a:off x="822960" y="4489703"/>
            <a:ext cx="5120640" cy="365760"/>
          </a:xfrm>
          <a:prstGeom prst="rect">
            <a:avLst/>
          </a:prstGeom>
          <a:noFill/>
        </p:spPr>
        <p:txBody>
          <a:bodyPr wrap="square" anchor="t" lIns="0" rIns="0" tIns="0" bIns="0">
            <a:spAutoFit/>
          </a:bodyPr>
          <a:lstStyle/>
          <a:p>
            <a:pPr algn="l">
              <a:spcAft>
                <a:spcPts val="0"/>
              </a:spcAft>
            </a:pPr>
            <a:r>
              <a:rPr sz="1700" b="1">
                <a:solidFill>
                  <a:srgbClr val="1E1E1E"/>
                </a:solidFill>
                <a:latin typeface="Glacial Indifference Bold"/>
              </a:rPr>
              <a:t>Sprint 1  |  Role-based login and portal</a:t>
            </a:r>
          </a:p>
        </p:txBody>
      </p:sp>
      <p:sp>
        <p:nvSpPr>
          <p:cNvPr id="19" name="TextBox 18"/>
          <p:cNvSpPr txBox="1"/>
          <p:nvPr/>
        </p:nvSpPr>
        <p:spPr>
          <a:xfrm>
            <a:off x="6583680" y="4489703"/>
            <a:ext cx="5120640" cy="365760"/>
          </a:xfrm>
          <a:prstGeom prst="rect">
            <a:avLst/>
          </a:prstGeom>
          <a:noFill/>
        </p:spPr>
        <p:txBody>
          <a:bodyPr wrap="square" anchor="t" lIns="0" rIns="0" tIns="0" bIns="0">
            <a:spAutoFit/>
          </a:bodyPr>
          <a:lstStyle/>
          <a:p>
            <a:pPr algn="l">
              <a:spcAft>
                <a:spcPts val="0"/>
              </a:spcAft>
            </a:pPr>
            <a:r>
              <a:rPr sz="1700" b="1">
                <a:solidFill>
                  <a:srgbClr val="1E1E1E"/>
                </a:solidFill>
                <a:latin typeface="Glacial Indifference Bold"/>
              </a:rPr>
              <a:t>Sprint 2  |  Owner and pet registration</a:t>
            </a:r>
          </a:p>
        </p:txBody>
      </p:sp>
      <p:sp>
        <p:nvSpPr>
          <p:cNvPr id="21" name="TextBox 20"/>
          <p:cNvSpPr txBox="1"/>
          <p:nvPr/>
        </p:nvSpPr>
        <p:spPr>
          <a:xfrm>
            <a:off x="12344400" y="4489703"/>
            <a:ext cx="5120640" cy="365760"/>
          </a:xfrm>
          <a:prstGeom prst="rect">
            <a:avLst/>
          </a:prstGeom>
          <a:noFill/>
        </p:spPr>
        <p:txBody>
          <a:bodyPr wrap="square" anchor="t" lIns="0" rIns="0" tIns="0" bIns="0">
            <a:spAutoFit/>
          </a:bodyPr>
          <a:lstStyle/>
          <a:p>
            <a:pPr algn="l">
              <a:spcAft>
                <a:spcPts val="0"/>
              </a:spcAft>
            </a:pPr>
            <a:r>
              <a:rPr sz="1700" b="1">
                <a:solidFill>
                  <a:srgbClr val="1E1E1E"/>
                </a:solidFill>
                <a:latin typeface="Glacial Indifference Bold"/>
              </a:rPr>
              <a:t>Sprint 2  |  Unique QR code per pet</a:t>
            </a:r>
          </a:p>
        </p:txBody>
      </p:sp>
      <p:sp>
        <p:nvSpPr>
          <p:cNvPr id="23" name="TextBox 22"/>
          <p:cNvSpPr txBox="1"/>
          <p:nvPr/>
        </p:nvSpPr>
        <p:spPr>
          <a:xfrm>
            <a:off x="822960" y="7598664"/>
            <a:ext cx="5120640" cy="365760"/>
          </a:xfrm>
          <a:prstGeom prst="rect">
            <a:avLst/>
          </a:prstGeom>
          <a:noFill/>
        </p:spPr>
        <p:txBody>
          <a:bodyPr wrap="square" anchor="t" lIns="0" rIns="0" tIns="0" bIns="0">
            <a:spAutoFit/>
          </a:bodyPr>
          <a:lstStyle/>
          <a:p>
            <a:pPr algn="l">
              <a:spcAft>
                <a:spcPts val="0"/>
              </a:spcAft>
            </a:pPr>
            <a:r>
              <a:rPr sz="1700" b="1">
                <a:solidFill>
                  <a:srgbClr val="1E1E1E"/>
                </a:solidFill>
                <a:latin typeface="Glacial Indifference Bold"/>
              </a:rPr>
              <a:t>Sprint 3  |  Vaccination monitoring</a:t>
            </a:r>
          </a:p>
        </p:txBody>
      </p:sp>
      <p:sp>
        <p:nvSpPr>
          <p:cNvPr id="25" name="TextBox 24"/>
          <p:cNvSpPr txBox="1"/>
          <p:nvPr/>
        </p:nvSpPr>
        <p:spPr>
          <a:xfrm>
            <a:off x="6583680" y="7598664"/>
            <a:ext cx="5120640" cy="365760"/>
          </a:xfrm>
          <a:prstGeom prst="rect">
            <a:avLst/>
          </a:prstGeom>
          <a:noFill/>
        </p:spPr>
        <p:txBody>
          <a:bodyPr wrap="square" anchor="t" lIns="0" rIns="0" tIns="0" bIns="0">
            <a:spAutoFit/>
          </a:bodyPr>
          <a:lstStyle/>
          <a:p>
            <a:pPr algn="l">
              <a:spcAft>
                <a:spcPts val="0"/>
              </a:spcAft>
            </a:pPr>
            <a:r>
              <a:rPr sz="1700" b="1">
                <a:solidFill>
                  <a:srgbClr val="1E1E1E"/>
                </a:solidFill>
                <a:latin typeface="Glacial Indifference Bold"/>
              </a:rPr>
              <a:t>Sprint 4  |  Payment monitoring</a:t>
            </a:r>
          </a:p>
        </p:txBody>
      </p:sp>
      <p:sp>
        <p:nvSpPr>
          <p:cNvPr id="27" name="TextBox 26"/>
          <p:cNvSpPr txBox="1"/>
          <p:nvPr/>
        </p:nvSpPr>
        <p:spPr>
          <a:xfrm>
            <a:off x="12344400" y="7598664"/>
            <a:ext cx="5120640" cy="365760"/>
          </a:xfrm>
          <a:prstGeom prst="rect">
            <a:avLst/>
          </a:prstGeom>
          <a:noFill/>
        </p:spPr>
        <p:txBody>
          <a:bodyPr wrap="square" anchor="t" lIns="0" rIns="0" tIns="0" bIns="0">
            <a:spAutoFit/>
          </a:bodyPr>
          <a:lstStyle/>
          <a:p>
            <a:pPr algn="l">
              <a:spcAft>
                <a:spcPts val="0"/>
              </a:spcAft>
            </a:pPr>
            <a:r>
              <a:rPr sz="1700" b="1">
                <a:solidFill>
                  <a:srgbClr val="1E1E1E"/>
                </a:solidFill>
                <a:latin typeface="Glacial Indifference Bold"/>
              </a:rPr>
              <a:t>Sprint 5  |  Data analytics and reporting</a:t>
            </a:r>
          </a:p>
        </p:txBody>
      </p:sp>
      <p:pic>
        <p:nvPicPr>
          <p:cNvPr id="28" name="Picture 27" descr="01_login.png"/>
          <p:cNvPicPr>
            <a:picLocks noChangeAspect="1"/>
          </p:cNvPicPr>
          <p:nvPr/>
        </p:nvPicPr>
        <p:blipFill>
          <a:blip r:embed="rId20"/>
          <a:stretch>
            <a:fillRect/>
          </a:stretch>
        </p:blipFill>
        <p:spPr>
          <a:xfrm>
            <a:off x="822960" y="1874519"/>
            <a:ext cx="5120640" cy="2560320"/>
          </a:xfrm>
          <a:prstGeom prst="rect">
            <a:avLst/>
          </a:prstGeom>
        </p:spPr>
      </p:pic>
      <p:pic>
        <p:nvPicPr>
          <p:cNvPr id="29" name="Picture 28" descr="02_registration.png"/>
          <p:cNvPicPr>
            <a:picLocks noChangeAspect="1"/>
          </p:cNvPicPr>
          <p:nvPr/>
        </p:nvPicPr>
        <p:blipFill>
          <a:blip r:embed="rId21"/>
          <a:stretch>
            <a:fillRect/>
          </a:stretch>
        </p:blipFill>
        <p:spPr>
          <a:xfrm>
            <a:off x="6583680" y="1874519"/>
            <a:ext cx="5120640" cy="2560320"/>
          </a:xfrm>
          <a:prstGeom prst="rect">
            <a:avLst/>
          </a:prstGeom>
        </p:spPr>
      </p:pic>
      <p:pic>
        <p:nvPicPr>
          <p:cNvPr id="30" name="Picture 29" descr="03_qr.png"/>
          <p:cNvPicPr>
            <a:picLocks noChangeAspect="1"/>
          </p:cNvPicPr>
          <p:nvPr/>
        </p:nvPicPr>
        <p:blipFill>
          <a:blip r:embed="rId22"/>
          <a:stretch>
            <a:fillRect/>
          </a:stretch>
        </p:blipFill>
        <p:spPr>
          <a:xfrm>
            <a:off x="12344400" y="1874519"/>
            <a:ext cx="5120640" cy="2560320"/>
          </a:xfrm>
          <a:prstGeom prst="rect">
            <a:avLst/>
          </a:prstGeom>
        </p:spPr>
      </p:pic>
      <p:pic>
        <p:nvPicPr>
          <p:cNvPr id="31" name="Picture 30" descr="04_vaccination.png"/>
          <p:cNvPicPr>
            <a:picLocks noChangeAspect="1"/>
          </p:cNvPicPr>
          <p:nvPr/>
        </p:nvPicPr>
        <p:blipFill>
          <a:blip r:embed="rId23"/>
          <a:stretch>
            <a:fillRect/>
          </a:stretch>
        </p:blipFill>
        <p:spPr>
          <a:xfrm>
            <a:off x="822960" y="4983479"/>
            <a:ext cx="5120640" cy="2560320"/>
          </a:xfrm>
          <a:prstGeom prst="rect">
            <a:avLst/>
          </a:prstGeom>
        </p:spPr>
      </p:pic>
      <p:pic>
        <p:nvPicPr>
          <p:cNvPr id="32" name="Picture 31" descr="05_payment.png"/>
          <p:cNvPicPr>
            <a:picLocks noChangeAspect="1"/>
          </p:cNvPicPr>
          <p:nvPr/>
        </p:nvPicPr>
        <p:blipFill>
          <a:blip r:embed="rId24"/>
          <a:stretch>
            <a:fillRect/>
          </a:stretch>
        </p:blipFill>
        <p:spPr>
          <a:xfrm>
            <a:off x="6583680" y="4983479"/>
            <a:ext cx="5120640" cy="2560320"/>
          </a:xfrm>
          <a:prstGeom prst="rect">
            <a:avLst/>
          </a:prstGeom>
        </p:spPr>
      </p:pic>
      <p:pic>
        <p:nvPicPr>
          <p:cNvPr id="33" name="Picture 32" descr="06_analytics.png"/>
          <p:cNvPicPr>
            <a:picLocks noChangeAspect="1"/>
          </p:cNvPicPr>
          <p:nvPr/>
        </p:nvPicPr>
        <p:blipFill>
          <a:blip r:embed="rId25"/>
          <a:stretch>
            <a:fillRect/>
          </a:stretch>
        </p:blipFill>
        <p:spPr>
          <a:xfrm>
            <a:off x="12344400" y="4983479"/>
            <a:ext cx="5120640" cy="2560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OBJECTIVE 1  |  RESULTS  &gt;  DISCUSSION  &gt;  CONCLUSION</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rPr>
              <a:t>Develop and implement the integrated system</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TextBox 15"/>
          <p:cNvSpPr txBox="1"/>
          <p:nvPr/>
        </p:nvSpPr>
        <p:spPr>
          <a:xfrm>
            <a:off x="822960" y="1828800"/>
            <a:ext cx="5486400" cy="36576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RESULTS</a:t>
            </a:r>
          </a:p>
        </p:txBody>
      </p:sp>
      <p:sp>
        <p:nvSpPr>
          <p:cNvPr id="17" name="Rounded Rectangle 16"/>
          <p:cNvSpPr/>
          <p:nvPr/>
        </p:nvSpPr>
        <p:spPr>
          <a:xfrm>
            <a:off x="822960"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8" name="TextBox 17"/>
          <p:cNvSpPr txBox="1"/>
          <p:nvPr/>
        </p:nvSpPr>
        <p:spPr>
          <a:xfrm>
            <a:off x="1051560" y="2377440"/>
            <a:ext cx="3520439" cy="1554480"/>
          </a:xfrm>
          <a:prstGeom prst="rect">
            <a:avLst/>
          </a:prstGeom>
          <a:noFill/>
        </p:spPr>
        <p:txBody>
          <a:bodyPr wrap="square" anchor="ctr" lIns="0" rIns="0" tIns="0" bIns="0">
            <a:spAutoFit/>
          </a:bodyPr>
          <a:lstStyle/>
          <a:p>
            <a:pPr algn="ctr">
              <a:spcAft>
                <a:spcPts val="0"/>
              </a:spcAft>
            </a:pPr>
            <a:r>
              <a:rPr sz="5600" b="1">
                <a:solidFill>
                  <a:srgbClr val="EC6A27"/>
                </a:solidFill>
                <a:latin typeface="Glacial Indifference Bold"/>
              </a:rPr>
              <a:t>17 / 17</a:t>
            </a:r>
          </a:p>
        </p:txBody>
      </p:sp>
      <p:sp>
        <p:nvSpPr>
          <p:cNvPr id="19" name="TextBox 18"/>
          <p:cNvSpPr txBox="1"/>
          <p:nvPr/>
        </p:nvSpPr>
        <p:spPr>
          <a:xfrm>
            <a:off x="1051560" y="3950208"/>
            <a:ext cx="3520439" cy="1305763"/>
          </a:xfrm>
          <a:prstGeom prst="rect">
            <a:avLst/>
          </a:prstGeom>
          <a:noFill/>
        </p:spPr>
        <p:txBody>
          <a:bodyPr wrap="square" anchor="t" lIns="0" rIns="0" tIns="0" bIns="0">
            <a:spAutoFit/>
          </a:bodyPr>
          <a:lstStyle/>
          <a:p>
            <a:pPr algn="ctr">
              <a:spcAft>
                <a:spcPts val="0"/>
              </a:spcAft>
            </a:pPr>
            <a:r>
              <a:rPr sz="2200" b="0">
                <a:solidFill>
                  <a:srgbClr val="4A4A4A"/>
                </a:solidFill>
                <a:latin typeface="Glacial Indifference"/>
              </a:rPr>
              <a:t>functions passed unit testing across 7 modules</a:t>
            </a:r>
          </a:p>
        </p:txBody>
      </p:sp>
      <p:sp>
        <p:nvSpPr>
          <p:cNvPr id="20" name="Rounded Rectangle 19"/>
          <p:cNvSpPr/>
          <p:nvPr/>
        </p:nvSpPr>
        <p:spPr>
          <a:xfrm>
            <a:off x="5044744"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1" name="TextBox 20"/>
          <p:cNvSpPr txBox="1"/>
          <p:nvPr/>
        </p:nvSpPr>
        <p:spPr>
          <a:xfrm>
            <a:off x="5273344" y="2377440"/>
            <a:ext cx="3520439" cy="1554480"/>
          </a:xfrm>
          <a:prstGeom prst="rect">
            <a:avLst/>
          </a:prstGeom>
          <a:noFill/>
        </p:spPr>
        <p:txBody>
          <a:bodyPr wrap="square" anchor="ctr" lIns="0" rIns="0" tIns="0" bIns="0">
            <a:spAutoFit/>
          </a:bodyPr>
          <a:lstStyle/>
          <a:p>
            <a:pPr algn="ctr">
              <a:spcAft>
                <a:spcPts val="0"/>
              </a:spcAft>
            </a:pPr>
            <a:r>
              <a:rPr sz="5600" b="1">
                <a:solidFill>
                  <a:srgbClr val="EC6A27"/>
                </a:solidFill>
                <a:latin typeface="Glacial Indifference Bold"/>
              </a:rPr>
              <a:t>8 / 8</a:t>
            </a:r>
          </a:p>
        </p:txBody>
      </p:sp>
      <p:sp>
        <p:nvSpPr>
          <p:cNvPr id="22" name="TextBox 21"/>
          <p:cNvSpPr txBox="1"/>
          <p:nvPr/>
        </p:nvSpPr>
        <p:spPr>
          <a:xfrm>
            <a:off x="5273344" y="3950208"/>
            <a:ext cx="3520439" cy="1305763"/>
          </a:xfrm>
          <a:prstGeom prst="rect">
            <a:avLst/>
          </a:prstGeom>
          <a:noFill/>
        </p:spPr>
        <p:txBody>
          <a:bodyPr wrap="square" anchor="t" lIns="0" rIns="0" tIns="0" bIns="0">
            <a:spAutoFit/>
          </a:bodyPr>
          <a:lstStyle/>
          <a:p>
            <a:pPr algn="ctr">
              <a:spcAft>
                <a:spcPts val="0"/>
              </a:spcAft>
            </a:pPr>
            <a:r>
              <a:rPr sz="2200" b="0">
                <a:solidFill>
                  <a:srgbClr val="4A4A4A"/>
                </a:solidFill>
                <a:latin typeface="Glacial Indifference"/>
                <a:ea typeface="Glacial Indifference"/>
                <a:cs typeface="Glacial Indifference"/>
              </a:rPr>
              <a:t>integration scenarios passed</a:t>
            </a:r>
          </a:p>
        </p:txBody>
      </p:sp>
      <p:sp>
        <p:nvSpPr>
          <p:cNvPr id="23" name="Rounded Rectangle 22"/>
          <p:cNvSpPr/>
          <p:nvPr/>
        </p:nvSpPr>
        <p:spPr>
          <a:xfrm>
            <a:off x="9266529"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4" name="TextBox 23"/>
          <p:cNvSpPr txBox="1"/>
          <p:nvPr/>
        </p:nvSpPr>
        <p:spPr>
          <a:xfrm>
            <a:off x="9495129" y="2377440"/>
            <a:ext cx="3520439" cy="1554480"/>
          </a:xfrm>
          <a:prstGeom prst="rect">
            <a:avLst/>
          </a:prstGeom>
          <a:noFill/>
        </p:spPr>
        <p:txBody>
          <a:bodyPr wrap="square" anchor="ctr" lIns="0" rIns="0" tIns="0" bIns="0">
            <a:spAutoFit/>
          </a:bodyPr>
          <a:lstStyle/>
          <a:p>
            <a:pPr algn="ctr">
              <a:spcAft>
                <a:spcPts val="0"/>
              </a:spcAft>
            </a:pPr>
            <a:r>
              <a:rPr sz="5600" b="1">
                <a:solidFill>
                  <a:srgbClr val="EC6A27"/>
                </a:solidFill>
                <a:latin typeface="Glacial Indifference Bold"/>
              </a:rPr>
              <a:t>4 roles</a:t>
            </a:r>
          </a:p>
        </p:txBody>
      </p:sp>
      <p:sp>
        <p:nvSpPr>
          <p:cNvPr id="25" name="TextBox 24"/>
          <p:cNvSpPr txBox="1"/>
          <p:nvPr/>
        </p:nvSpPr>
        <p:spPr>
          <a:xfrm>
            <a:off x="9495129" y="3950208"/>
            <a:ext cx="3520439" cy="1305763"/>
          </a:xfrm>
          <a:prstGeom prst="rect">
            <a:avLst/>
          </a:prstGeom>
          <a:noFill/>
        </p:spPr>
        <p:txBody>
          <a:bodyPr wrap="square" anchor="t" lIns="0" rIns="0" tIns="0" bIns="0">
            <a:spAutoFit/>
          </a:bodyPr>
          <a:lstStyle/>
          <a:p>
            <a:pPr algn="ctr">
              <a:spcAft>
                <a:spcPts val="0"/>
              </a:spcAft>
            </a:pPr>
            <a:r>
              <a:rPr sz="2200" b="0">
                <a:solidFill>
                  <a:srgbClr val="4A4A4A"/>
                </a:solidFill>
                <a:latin typeface="Glacial Indifference"/>
              </a:rPr>
              <a:t>role-based access for Admin, Staff, Veterinarian, and Pet Owner</a:t>
            </a:r>
          </a:p>
        </p:txBody>
      </p:sp>
      <p:sp>
        <p:nvSpPr>
          <p:cNvPr id="26" name="Rounded Rectangle 25"/>
          <p:cNvSpPr/>
          <p:nvPr/>
        </p:nvSpPr>
        <p:spPr>
          <a:xfrm>
            <a:off x="13488314"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7" name="TextBox 26"/>
          <p:cNvSpPr txBox="1"/>
          <p:nvPr/>
        </p:nvSpPr>
        <p:spPr>
          <a:xfrm>
            <a:off x="13716914" y="2377440"/>
            <a:ext cx="3520439" cy="1554480"/>
          </a:xfrm>
          <a:prstGeom prst="rect">
            <a:avLst/>
          </a:prstGeom>
          <a:noFill/>
        </p:spPr>
        <p:txBody>
          <a:bodyPr wrap="square" anchor="ctr" lIns="0" rIns="0" tIns="0" bIns="0">
            <a:spAutoFit/>
          </a:bodyPr>
          <a:lstStyle/>
          <a:p>
            <a:pPr algn="ctr">
              <a:spcAft>
                <a:spcPts val="0"/>
              </a:spcAft>
            </a:pPr>
            <a:r>
              <a:rPr sz="5600" b="1">
                <a:solidFill>
                  <a:srgbClr val="EC6A27"/>
                </a:solidFill>
                <a:latin typeface="Glacial Indifference Bold"/>
              </a:rPr>
              <a:t>7 modules</a:t>
            </a:r>
          </a:p>
        </p:txBody>
      </p:sp>
      <p:sp>
        <p:nvSpPr>
          <p:cNvPr id="28" name="TextBox 27"/>
          <p:cNvSpPr txBox="1"/>
          <p:nvPr/>
        </p:nvSpPr>
        <p:spPr>
          <a:xfrm>
            <a:off x="13716914" y="3950208"/>
            <a:ext cx="3520439" cy="1305763"/>
          </a:xfrm>
          <a:prstGeom prst="rect">
            <a:avLst/>
          </a:prstGeom>
          <a:noFill/>
        </p:spPr>
        <p:txBody>
          <a:bodyPr wrap="square" anchor="t" lIns="0" rIns="0" tIns="0" bIns="0">
            <a:spAutoFit/>
          </a:bodyPr>
          <a:lstStyle/>
          <a:p>
            <a:pPr algn="ctr">
              <a:spcAft>
                <a:spcPts val="0"/>
              </a:spcAft>
            </a:pPr>
            <a:r>
              <a:rPr sz="2200" b="0">
                <a:solidFill>
                  <a:srgbClr val="4A4A4A"/>
                </a:solidFill>
                <a:latin typeface="Glacial Indifference"/>
              </a:rPr>
              <a:t>modules implemented - registration, QR, vaccination, payments, records, analytics</a:t>
            </a:r>
          </a:p>
        </p:txBody>
      </p:sp>
      <p:sp>
        <p:nvSpPr>
          <p:cNvPr id="29" name="Rounded Rectangle 28"/>
          <p:cNvSpPr/>
          <p:nvPr/>
        </p:nvSpPr>
        <p:spPr>
          <a:xfrm>
            <a:off x="822960" y="5623560"/>
            <a:ext cx="8138160" cy="21488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0" name="TextBox 29"/>
          <p:cNvSpPr txBox="1"/>
          <p:nvPr/>
        </p:nvSpPr>
        <p:spPr>
          <a:xfrm>
            <a:off x="1143000" y="5742432"/>
            <a:ext cx="7498079" cy="411480"/>
          </a:xfrm>
          <a:prstGeom prst="rect">
            <a:avLst/>
          </a:prstGeom>
          <a:noFill/>
        </p:spPr>
        <p:txBody>
          <a:bodyPr wrap="square" anchor="t" lIns="0" rIns="0" tIns="0" bIns="0">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31" name="TextBox 30"/>
          <p:cNvSpPr txBox="1"/>
          <p:nvPr/>
        </p:nvSpPr>
        <p:spPr>
          <a:xfrm>
            <a:off x="1143000" y="6172200"/>
            <a:ext cx="7498079" cy="1554480"/>
          </a:xfrm>
          <a:prstGeom prst="rect">
            <a:avLst/>
          </a:prstGeom>
          <a:noFill/>
        </p:spPr>
        <p:txBody>
          <a:bodyPr wrap="square" anchor="t" lIns="0" rIns="0" tIns="0" bIns="0">
            <a:spAutoFit/>
          </a:bodyPr>
          <a:lstStyle/>
          <a:p>
            <a:pPr algn="l">
              <a:spcAft>
                <a:spcPts val="0"/>
              </a:spcAft>
            </a:pPr>
            <a:r>
              <a:rPr sz="2100" b="0">
                <a:solidFill>
                  <a:srgbClr val="1E1E1E"/>
                </a:solidFill>
                <a:latin typeface="Glacial Indifference"/>
              </a:rPr>
              <a:t>Minor defects (incomplete validation messages and minor formatting inconsistencies) were fixed within each sprint, and the affected functions were retested and passed (100%).</a:t>
            </a:r>
          </a:p>
        </p:txBody>
      </p:sp>
      <p:sp>
        <p:nvSpPr>
          <p:cNvPr id="32" name="Rounded Rectangle 31"/>
          <p:cNvSpPr/>
          <p:nvPr/>
        </p:nvSpPr>
        <p:spPr>
          <a:xfrm>
            <a:off x="9326880" y="5623560"/>
            <a:ext cx="8138160" cy="214884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3" name="TextBox 32"/>
          <p:cNvSpPr txBox="1"/>
          <p:nvPr/>
        </p:nvSpPr>
        <p:spPr>
          <a:xfrm>
            <a:off x="9646920" y="5742432"/>
            <a:ext cx="7498079" cy="411480"/>
          </a:xfrm>
          <a:prstGeom prst="rect">
            <a:avLst/>
          </a:prstGeom>
          <a:noFill/>
        </p:spPr>
        <p:txBody>
          <a:bodyPr wrap="square" anchor="t" lIns="0" rIns="0" tIns="0" bIns="0">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34" name="TextBox 33"/>
          <p:cNvSpPr txBox="1"/>
          <p:nvPr/>
        </p:nvSpPr>
        <p:spPr>
          <a:xfrm>
            <a:off x="9646920" y="6172200"/>
            <a:ext cx="7498079" cy="1554480"/>
          </a:xfrm>
          <a:prstGeom prst="rect">
            <a:avLst/>
          </a:prstGeom>
          <a:noFill/>
        </p:spPr>
        <p:txBody>
          <a:bodyPr wrap="square" anchor="t" lIns="0" rIns="0" tIns="0" bIns="0">
            <a:spAutoFit/>
          </a:bodyPr>
          <a:lstStyle/>
          <a:p>
            <a:pPr algn="l">
              <a:spcAft>
                <a:spcPts val="0"/>
              </a:spcAft>
            </a:pPr>
            <a:r>
              <a:rPr sz="2200" b="1">
                <a:solidFill>
                  <a:srgbClr val="FFFFFF"/>
                </a:solidFill>
                <a:latin typeface="Glacial Indifference Bold"/>
              </a:rPr>
              <a:t>The system was successfully designed and implemented; every module worked individually and together as one integrated platform.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OBJECTIVE 2  |  RESULTS  &gt;  DISCUSSION  &gt;  CONCLUSION</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rPr>
              <a:t>Centralized online system implemented</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TextBox 15"/>
          <p:cNvSpPr txBox="1"/>
          <p:nvPr/>
        </p:nvSpPr>
        <p:spPr>
          <a:xfrm>
            <a:off x="822960" y="1828800"/>
            <a:ext cx="5486400" cy="36576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RESULTS</a:t>
            </a:r>
          </a:p>
        </p:txBody>
      </p:sp>
      <p:sp>
        <p:nvSpPr>
          <p:cNvPr id="17" name="Rounded Rectangle 16"/>
          <p:cNvSpPr/>
          <p:nvPr/>
        </p:nvSpPr>
        <p:spPr>
          <a:xfrm>
            <a:off x="822960" y="2240280"/>
            <a:ext cx="6949440" cy="31546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8" name="TextBox 17"/>
          <p:cNvSpPr txBox="1"/>
          <p:nvPr/>
        </p:nvSpPr>
        <p:spPr>
          <a:xfrm>
            <a:off x="1097280" y="2377440"/>
            <a:ext cx="6400800" cy="2926080"/>
          </a:xfrm>
          <a:prstGeom prst="rect">
            <a:avLst/>
          </a:prstGeom>
          <a:noFill/>
        </p:spPr>
        <p:txBody>
          <a:bodyPr wrap="square" anchor="t" lIns="0" rIns="0" tIns="0" bIns="0">
            <a:spAutoFit/>
          </a:bodyPr>
          <a:lstStyle/>
          <a:p>
            <a:pPr algn="l" marL="347472" indent="-347472">
              <a:spcAft>
                <a:spcPts val="400"/>
              </a:spcAft>
              <a:buClr>
                <a:srgbClr val="EC6A27"/>
              </a:buClr>
              <a:buFont typeface="Arial"/>
              <a:buChar char="•"/>
            </a:pPr>
            <a:r>
              <a:rPr sz="1900" b="0">
                <a:solidFill>
                  <a:srgbClr val="1E1E1E"/>
                </a:solidFill>
                <a:latin typeface="Glacial Indifference"/>
              </a:rPr>
              <a:t>User management and authentication</a:t>
            </a:r>
          </a:p>
          <a:p>
            <a:pPr algn="l" marL="347472" indent="-347472">
              <a:spcAft>
                <a:spcPts val="400"/>
              </a:spcAft>
              <a:buClr>
                <a:srgbClr val="EC6A27"/>
              </a:buClr>
              <a:buFont typeface="Arial"/>
              <a:buChar char="•"/>
            </a:pPr>
            <a:r>
              <a:rPr sz="1900" b="0">
                <a:solidFill>
                  <a:srgbClr val="1E1E1E"/>
                </a:solidFill>
                <a:latin typeface="Glacial Indifference"/>
              </a:rPr>
              <a:t>Pet registration (owner and pet)</a:t>
            </a:r>
          </a:p>
          <a:p>
            <a:pPr algn="l" marL="347472" indent="-347472">
              <a:spcAft>
                <a:spcPts val="400"/>
              </a:spcAft>
              <a:buClr>
                <a:srgbClr val="EC6A27"/>
              </a:buClr>
              <a:buFont typeface="Arial"/>
              <a:buChar char="•"/>
            </a:pPr>
            <a:r>
              <a:rPr sz="1900" b="0">
                <a:solidFill>
                  <a:srgbClr val="1E1E1E"/>
                </a:solidFill>
                <a:latin typeface="Glacial Indifference"/>
              </a:rPr>
              <a:t>QR code generation and traceability</a:t>
            </a:r>
          </a:p>
          <a:p>
            <a:pPr algn="l" marL="347472" indent="-347472">
              <a:spcAft>
                <a:spcPts val="400"/>
              </a:spcAft>
              <a:buClr>
                <a:srgbClr val="EC6A27"/>
              </a:buClr>
              <a:buFont typeface="Arial"/>
              <a:buChar char="•"/>
            </a:pPr>
            <a:r>
              <a:rPr sz="1900" b="0">
                <a:solidFill>
                  <a:srgbClr val="1E1E1E"/>
                </a:solidFill>
                <a:latin typeface="Glacial Indifference"/>
              </a:rPr>
              <a:t>Vaccination management</a:t>
            </a:r>
          </a:p>
          <a:p>
            <a:pPr algn="l" marL="347472" indent="-347472">
              <a:spcAft>
                <a:spcPts val="400"/>
              </a:spcAft>
              <a:buClr>
                <a:srgbClr val="EC6A27"/>
              </a:buClr>
              <a:buFont typeface="Arial"/>
              <a:buChar char="•"/>
            </a:pPr>
            <a:r>
              <a:rPr sz="1900" b="0">
                <a:solidFill>
                  <a:srgbClr val="1E1E1E"/>
                </a:solidFill>
                <a:latin typeface="Glacial Indifference"/>
              </a:rPr>
              <a:t>Payment and payment receipt monitoring</a:t>
            </a:r>
          </a:p>
          <a:p>
            <a:pPr algn="l" marL="347472" indent="-347472">
              <a:spcAft>
                <a:spcPts val="400"/>
              </a:spcAft>
              <a:buClr>
                <a:srgbClr val="EC6A27"/>
              </a:buClr>
              <a:buFont typeface="Arial"/>
              <a:buChar char="•"/>
            </a:pPr>
            <a:r>
              <a:rPr sz="1900" b="0">
                <a:solidFill>
                  <a:srgbClr val="1E1E1E"/>
                </a:solidFill>
                <a:latin typeface="Glacial Indifference"/>
              </a:rPr>
              <a:t>Clinical and medicine records</a:t>
            </a:r>
          </a:p>
          <a:p>
            <a:pPr algn="l" marL="347472" indent="-347472">
              <a:spcAft>
                <a:spcPts val="400"/>
              </a:spcAft>
              <a:buClr>
                <a:srgbClr val="EC6A27"/>
              </a:buClr>
              <a:buFont typeface="Arial"/>
              <a:buChar char="•"/>
            </a:pPr>
            <a:r>
              <a:rPr sz="1900" b="0">
                <a:solidFill>
                  <a:srgbClr val="1E1E1E"/>
                </a:solidFill>
                <a:latin typeface="Glacial Indifference"/>
              </a:rPr>
              <a:t>Data analytics and reporting</a:t>
            </a:r>
          </a:p>
        </p:txBody>
      </p:sp>
      <p:sp>
        <p:nvSpPr>
          <p:cNvPr id="19" name="TextBox 18"/>
          <p:cNvSpPr txBox="1"/>
          <p:nvPr/>
        </p:nvSpPr>
        <p:spPr>
          <a:xfrm>
            <a:off x="8046720" y="1874519"/>
            <a:ext cx="9418320" cy="365760"/>
          </a:xfrm>
          <a:prstGeom prst="rect">
            <a:avLst/>
          </a:prstGeom>
          <a:noFill/>
        </p:spPr>
        <p:txBody>
          <a:bodyPr wrap="square" anchor="t" lIns="0" rIns="0" tIns="0" bIns="0">
            <a:spAutoFit/>
          </a:bodyPr>
          <a:lstStyle/>
          <a:p>
            <a:pPr algn="l">
              <a:spcAft>
                <a:spcPts val="800"/>
              </a:spcAft>
            </a:pPr>
            <a:r>
              <a:rPr sz="1900" b="1">
                <a:solidFill>
                  <a:srgbClr val="1E1E1E"/>
                </a:solidFill>
                <a:latin typeface="Glacial Indifference Bold"/>
              </a:rPr>
              <a:t>Implemented modules</a:t>
            </a:r>
          </a:p>
        </p:txBody>
      </p:sp>
      <p:sp>
        <p:nvSpPr>
          <p:cNvPr id="21" name="Rounded Rectangle 20"/>
          <p:cNvSpPr/>
          <p:nvPr/>
        </p:nvSpPr>
        <p:spPr>
          <a:xfrm>
            <a:off x="822960" y="5623560"/>
            <a:ext cx="8138160" cy="21488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2" name="TextBox 21"/>
          <p:cNvSpPr txBox="1"/>
          <p:nvPr/>
        </p:nvSpPr>
        <p:spPr>
          <a:xfrm>
            <a:off x="1143000" y="5742432"/>
            <a:ext cx="7498079" cy="411480"/>
          </a:xfrm>
          <a:prstGeom prst="rect">
            <a:avLst/>
          </a:prstGeom>
          <a:noFill/>
        </p:spPr>
        <p:txBody>
          <a:bodyPr wrap="square" anchor="t" lIns="0" rIns="0" tIns="0" bIns="0">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23" name="TextBox 22"/>
          <p:cNvSpPr txBox="1"/>
          <p:nvPr/>
        </p:nvSpPr>
        <p:spPr>
          <a:xfrm>
            <a:off x="1143000" y="6172200"/>
            <a:ext cx="7498079" cy="1554480"/>
          </a:xfrm>
          <a:prstGeom prst="rect">
            <a:avLst/>
          </a:prstGeom>
          <a:noFill/>
        </p:spPr>
        <p:txBody>
          <a:bodyPr wrap="square" anchor="t" lIns="0" rIns="0" tIns="0" bIns="0">
            <a:spAutoFit/>
          </a:bodyPr>
          <a:lstStyle/>
          <a:p>
            <a:pPr algn="l">
              <a:spcAft>
                <a:spcPts val="0"/>
              </a:spcAft>
            </a:pPr>
            <a:r>
              <a:rPr sz="2100" b="0">
                <a:solidFill>
                  <a:srgbClr val="1E1E1E"/>
                </a:solidFill>
                <a:latin typeface="Glacial Indifference"/>
              </a:rPr>
              <a:t>All 8 integration scenarios passed - data flows correctly across authentication, registration, QR, vaccination, notifications, consultation-to-payment, PDF booklet generation, analytics, and offline draft submission.</a:t>
            </a:r>
          </a:p>
        </p:txBody>
      </p:sp>
      <p:sp>
        <p:nvSpPr>
          <p:cNvPr id="24" name="Rounded Rectangle 23"/>
          <p:cNvSpPr/>
          <p:nvPr/>
        </p:nvSpPr>
        <p:spPr>
          <a:xfrm>
            <a:off x="9326880" y="5623560"/>
            <a:ext cx="8138160" cy="214884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5" name="TextBox 24"/>
          <p:cNvSpPr txBox="1"/>
          <p:nvPr/>
        </p:nvSpPr>
        <p:spPr>
          <a:xfrm>
            <a:off x="9646920" y="5742432"/>
            <a:ext cx="7498079" cy="411480"/>
          </a:xfrm>
          <a:prstGeom prst="rect">
            <a:avLst/>
          </a:prstGeom>
          <a:noFill/>
        </p:spPr>
        <p:txBody>
          <a:bodyPr wrap="square" anchor="t" lIns="0" rIns="0" tIns="0" bIns="0">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26" name="TextBox 25"/>
          <p:cNvSpPr txBox="1"/>
          <p:nvPr/>
        </p:nvSpPr>
        <p:spPr>
          <a:xfrm>
            <a:off x="9646920" y="6172200"/>
            <a:ext cx="7498079" cy="1554480"/>
          </a:xfrm>
          <a:prstGeom prst="rect">
            <a:avLst/>
          </a:prstGeom>
          <a:noFill/>
        </p:spPr>
        <p:txBody>
          <a:bodyPr wrap="square" anchor="t" lIns="0" rIns="0" tIns="0" bIns="0">
            <a:spAutoFit/>
          </a:bodyPr>
          <a:lstStyle/>
          <a:p>
            <a:pPr algn="l">
              <a:spcAft>
                <a:spcPts val="0"/>
              </a:spcAft>
            </a:pPr>
            <a:r>
              <a:rPr sz="2200" b="1">
                <a:solidFill>
                  <a:srgbClr val="FFFFFF"/>
                </a:solidFill>
                <a:latin typeface="Glacial Indifference Bold"/>
              </a:rPr>
              <a:t>The centralized online system with a unified database, QR scanning, search and filter, analytics, and activity auditing was successfully implemented.</a:t>
            </a:r>
          </a:p>
        </p:txBody>
      </p:sp>
      <p:graphicFrame>
        <p:nvGraphicFramePr>
          <p:cNvPr id="27" name="Chart 26"/>
          <p:cNvGraphicFramePr>
            <a:graphicFrameLocks noGrp="1"/>
          </p:cNvGraphicFramePr>
          <p:nvPr/>
        </p:nvGraphicFramePr>
        <p:xfrm>
          <a:off x="8046720" y="2240280"/>
          <a:ext cx="9418320" cy="3200400"/>
        </p:xfrm>
        <a:graphic>
          <a:graphicData uri="http://schemas.openxmlformats.org/drawingml/2006/chart">
            <c:chart xmlns:c="http://schemas.openxmlformats.org/drawingml/2006/chart" r:id="rId1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OBJECTIVE 3  |  RESULTS  &gt;  DISCUSSION  &gt;  CONCLUSION</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rPr>
              <a:t>Evaluation by end users (ISO/IEC 25010)</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TextBox 15"/>
          <p:cNvSpPr txBox="1"/>
          <p:nvPr/>
        </p:nvSpPr>
        <p:spPr>
          <a:xfrm>
            <a:off x="822960" y="1828800"/>
            <a:ext cx="7315200" cy="36576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RESULTS  (weighted mean, five-point Likert scale)</a:t>
            </a:r>
          </a:p>
        </p:txBody>
      </p:sp>
      <p:sp>
        <p:nvSpPr>
          <p:cNvPr id="18" name="Rounded Rectangle 17"/>
          <p:cNvSpPr/>
          <p:nvPr/>
        </p:nvSpPr>
        <p:spPr>
          <a:xfrm>
            <a:off x="12344400" y="2194560"/>
            <a:ext cx="5120640" cy="15544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9" name="TextBox 18"/>
          <p:cNvSpPr txBox="1"/>
          <p:nvPr/>
        </p:nvSpPr>
        <p:spPr>
          <a:xfrm>
            <a:off x="12573000" y="2331720"/>
            <a:ext cx="4663440" cy="777240"/>
          </a:xfrm>
          <a:prstGeom prst="rect">
            <a:avLst/>
          </a:prstGeom>
          <a:noFill/>
        </p:spPr>
        <p:txBody>
          <a:bodyPr wrap="square" anchor="ctr" lIns="0" rIns="0" tIns="0" bIns="0">
            <a:spAutoFit/>
          </a:bodyPr>
          <a:lstStyle/>
          <a:p>
            <a:pPr algn="ctr">
              <a:spcAft>
                <a:spcPts val="0"/>
              </a:spcAft>
            </a:pPr>
            <a:r>
              <a:rPr sz="4400" b="1">
                <a:solidFill>
                  <a:srgbClr val="EC6A27"/>
                </a:solidFill>
                <a:latin typeface="Glacial Indifference Bold"/>
              </a:rPr>
              <a:t>4.25</a:t>
            </a:r>
          </a:p>
        </p:txBody>
      </p:sp>
      <p:sp>
        <p:nvSpPr>
          <p:cNvPr id="20" name="TextBox 19"/>
          <p:cNvSpPr txBox="1"/>
          <p:nvPr/>
        </p:nvSpPr>
        <p:spPr>
          <a:xfrm>
            <a:off x="12573000" y="3049524"/>
            <a:ext cx="4663440" cy="652881"/>
          </a:xfrm>
          <a:prstGeom prst="rect">
            <a:avLst/>
          </a:prstGeom>
          <a:noFill/>
        </p:spPr>
        <p:txBody>
          <a:bodyPr wrap="square" anchor="t" lIns="0" rIns="0" tIns="0" bIns="0">
            <a:spAutoFit/>
          </a:bodyPr>
          <a:lstStyle/>
          <a:p>
            <a:pPr algn="ctr">
              <a:spcAft>
                <a:spcPts val="0"/>
              </a:spcAft>
            </a:pPr>
            <a:r>
              <a:rPr sz="1800" b="0">
                <a:solidFill>
                  <a:srgbClr val="4A4A4A"/>
                </a:solidFill>
                <a:latin typeface="Glacial Indifference"/>
              </a:rPr>
              <a:t>Grand weighted mean - Strongly Agree</a:t>
            </a:r>
          </a:p>
        </p:txBody>
      </p:sp>
      <p:sp>
        <p:nvSpPr>
          <p:cNvPr id="21" name="Rounded Rectangle 20"/>
          <p:cNvSpPr/>
          <p:nvPr/>
        </p:nvSpPr>
        <p:spPr>
          <a:xfrm>
            <a:off x="12344400" y="3931920"/>
            <a:ext cx="5120640" cy="15544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2" name="TextBox 21"/>
          <p:cNvSpPr txBox="1"/>
          <p:nvPr/>
        </p:nvSpPr>
        <p:spPr>
          <a:xfrm>
            <a:off x="12573000" y="4069080"/>
            <a:ext cx="4663440" cy="777240"/>
          </a:xfrm>
          <a:prstGeom prst="rect">
            <a:avLst/>
          </a:prstGeom>
          <a:noFill/>
        </p:spPr>
        <p:txBody>
          <a:bodyPr wrap="square" anchor="ctr" lIns="0" rIns="0" tIns="0" bIns="0">
            <a:spAutoFit/>
          </a:bodyPr>
          <a:lstStyle/>
          <a:p>
            <a:pPr algn="ctr">
              <a:spcAft>
                <a:spcPts val="0"/>
              </a:spcAft>
            </a:pPr>
            <a:r>
              <a:rPr sz="4400" b="1">
                <a:solidFill>
                  <a:srgbClr val="EC6A27"/>
                </a:solidFill>
                <a:latin typeface="Glacial Indifference Bold"/>
              </a:rPr>
              <a:t>4.28</a:t>
            </a:r>
          </a:p>
        </p:txBody>
      </p:sp>
      <p:sp>
        <p:nvSpPr>
          <p:cNvPr id="23" name="TextBox 22"/>
          <p:cNvSpPr txBox="1"/>
          <p:nvPr/>
        </p:nvSpPr>
        <p:spPr>
          <a:xfrm>
            <a:off x="12573000" y="4786883"/>
            <a:ext cx="4663440" cy="652881"/>
          </a:xfrm>
          <a:prstGeom prst="rect">
            <a:avLst/>
          </a:prstGeom>
          <a:noFill/>
        </p:spPr>
        <p:txBody>
          <a:bodyPr wrap="square" anchor="t" lIns="0" rIns="0" tIns="0" bIns="0">
            <a:spAutoFit/>
          </a:bodyPr>
          <a:lstStyle/>
          <a:p>
            <a:pPr algn="ctr">
              <a:spcAft>
                <a:spcPts val="0"/>
              </a:spcAft>
            </a:pPr>
            <a:r>
              <a:rPr sz="1800" b="0">
                <a:solidFill>
                  <a:srgbClr val="4A4A4A"/>
                </a:solidFill>
                <a:latin typeface="Glacial Indifference"/>
              </a:rPr>
              <a:t>Highest: Performance Efficiency (Strongly Agree)</a:t>
            </a:r>
          </a:p>
        </p:txBody>
      </p:sp>
      <p:sp>
        <p:nvSpPr>
          <p:cNvPr id="24" name="Rounded Rectangle 23"/>
          <p:cNvSpPr/>
          <p:nvPr/>
        </p:nvSpPr>
        <p:spPr>
          <a:xfrm>
            <a:off x="822960" y="5623560"/>
            <a:ext cx="8138160" cy="21488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5" name="TextBox 24"/>
          <p:cNvSpPr txBox="1"/>
          <p:nvPr/>
        </p:nvSpPr>
        <p:spPr>
          <a:xfrm>
            <a:off x="1143000" y="5742432"/>
            <a:ext cx="7498079" cy="411480"/>
          </a:xfrm>
          <a:prstGeom prst="rect">
            <a:avLst/>
          </a:prstGeom>
          <a:noFill/>
        </p:spPr>
        <p:txBody>
          <a:bodyPr wrap="square" anchor="t" lIns="0" rIns="0" tIns="0" bIns="0">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26" name="TextBox 25"/>
          <p:cNvSpPr txBox="1"/>
          <p:nvPr/>
        </p:nvSpPr>
        <p:spPr>
          <a:xfrm>
            <a:off x="1143000" y="6172200"/>
            <a:ext cx="7498079" cy="1554480"/>
          </a:xfrm>
          <a:prstGeom prst="rect">
            <a:avLst/>
          </a:prstGeom>
          <a:noFill/>
        </p:spPr>
        <p:txBody>
          <a:bodyPr wrap="square" anchor="t" lIns="0" rIns="0" tIns="0" bIns="0">
            <a:spAutoFit/>
          </a:bodyPr>
          <a:lstStyle/>
          <a:p>
            <a:pPr algn="l">
              <a:spcAft>
                <a:spcPts val="0"/>
              </a:spcAft>
            </a:pPr>
            <a:r>
              <a:rPr sz="2100" b="0">
                <a:solidFill>
                  <a:srgbClr val="1E1E1E"/>
                </a:solidFill>
                <a:latin typeface="Glacial Indifference"/>
              </a:rPr>
              <a:t>N = 50 end users (clinic staff and pet owners). Lowest items were vaccination history recording (4.04) and pet information presentation (4.10) - these point to training needs, not core defects. 12 of 18 indicators scored Strongly Agree.</a:t>
            </a:r>
          </a:p>
        </p:txBody>
      </p:sp>
      <p:sp>
        <p:nvSpPr>
          <p:cNvPr id="27" name="Rounded Rectangle 26"/>
          <p:cNvSpPr/>
          <p:nvPr/>
        </p:nvSpPr>
        <p:spPr>
          <a:xfrm>
            <a:off x="9326880" y="5623560"/>
            <a:ext cx="8138160" cy="214884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8" name="TextBox 27"/>
          <p:cNvSpPr txBox="1"/>
          <p:nvPr/>
        </p:nvSpPr>
        <p:spPr>
          <a:xfrm>
            <a:off x="9646920" y="5742432"/>
            <a:ext cx="7498079" cy="411480"/>
          </a:xfrm>
          <a:prstGeom prst="rect">
            <a:avLst/>
          </a:prstGeom>
          <a:noFill/>
        </p:spPr>
        <p:txBody>
          <a:bodyPr wrap="square" anchor="t" lIns="0" rIns="0" tIns="0" bIns="0">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29" name="TextBox 28"/>
          <p:cNvSpPr txBox="1"/>
          <p:nvPr/>
        </p:nvSpPr>
        <p:spPr>
          <a:xfrm>
            <a:off x="9646920" y="6172200"/>
            <a:ext cx="7498079" cy="1554480"/>
          </a:xfrm>
          <a:prstGeom prst="rect">
            <a:avLst/>
          </a:prstGeom>
          <a:noFill/>
        </p:spPr>
        <p:txBody>
          <a:bodyPr wrap="square" anchor="t" lIns="0" rIns="0" tIns="0" bIns="0">
            <a:spAutoFit/>
          </a:bodyPr>
          <a:lstStyle/>
          <a:p>
            <a:pPr algn="l">
              <a:spcAft>
                <a:spcPts val="0"/>
              </a:spcAft>
            </a:pPr>
            <a:r>
              <a:rPr sz="2200" b="1">
                <a:solidFill>
                  <a:srgbClr val="FFFFFF"/>
                </a:solidFill>
                <a:latin typeface="Glacial Indifference Bold"/>
              </a:rPr>
              <a:t>End users strongly agreed that the system is acceptable and serves the clinic's registration, identification, vaccination, and payment processes.</a:t>
            </a:r>
          </a:p>
        </p:txBody>
      </p:sp>
      <p:graphicFrame>
        <p:nvGraphicFramePr>
          <p:cNvPr id="30" name="Chart 29"/>
          <p:cNvGraphicFramePr>
            <a:graphicFrameLocks noGrp="1"/>
          </p:cNvGraphicFramePr>
          <p:nvPr/>
        </p:nvGraphicFramePr>
        <p:xfrm>
          <a:off x="822960" y="2194560"/>
          <a:ext cx="11247120" cy="3291840"/>
        </p:xfrm>
        <a:graphic>
          <a:graphicData uri="http://schemas.openxmlformats.org/drawingml/2006/chart">
            <c:chart xmlns:c="http://schemas.openxmlformats.org/drawingml/2006/chart" r:id="rId1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OBJECTIVE 3  |  RESULTS  &gt;  DISCUSSION  &gt;  CONCLUSION</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Evaluation by IT experts (ISO/IEC 25010:2023)</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TextBox 15"/>
          <p:cNvSpPr txBox="1"/>
          <p:nvPr/>
        </p:nvSpPr>
        <p:spPr>
          <a:xfrm>
            <a:off x="822960" y="1828800"/>
            <a:ext cx="8229600" cy="365760"/>
          </a:xfrm>
          <a:prstGeom prst="rect">
            <a:avLst/>
          </a:prstGeom>
          <a:noFill/>
        </p:spPr>
        <p:txBody>
          <a:bodyPr wrap="square" anchor="t" lIns="0" rIns="0" tIns="0" bIns="0">
            <a:spAutoFit/>
          </a:bodyPr>
          <a:lstStyle/>
          <a:p>
            <a:pPr algn="l">
              <a:spcAft>
                <a:spcPts val="800"/>
              </a:spcAft>
            </a:pPr>
            <a:r>
              <a:rPr sz="1900" b="1">
                <a:solidFill>
                  <a:srgbClr val="EC6A27"/>
                </a:solidFill>
                <a:latin typeface="Glacial Indifference Bold"/>
                <a:ea typeface="Glacial Indifference Bold"/>
                <a:cs typeface="Glacial Indifference Bold"/>
              </a:rPr>
              <a:t>RESULTS  (n = 5, weighted mean)</a:t>
            </a:r>
          </a:p>
        </p:txBody>
      </p:sp>
      <p:sp>
        <p:nvSpPr>
          <p:cNvPr id="18" name="Rounded Rectangle 17"/>
          <p:cNvSpPr/>
          <p:nvPr/>
        </p:nvSpPr>
        <p:spPr>
          <a:xfrm>
            <a:off x="9875520" y="2194560"/>
            <a:ext cx="3611880" cy="17373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9" name="TextBox 18"/>
          <p:cNvSpPr txBox="1"/>
          <p:nvPr/>
        </p:nvSpPr>
        <p:spPr>
          <a:xfrm>
            <a:off x="10104120" y="2331720"/>
            <a:ext cx="3154680" cy="868680"/>
          </a:xfrm>
          <a:prstGeom prst="rect">
            <a:avLst/>
          </a:prstGeom>
          <a:noFill/>
        </p:spPr>
        <p:txBody>
          <a:bodyPr wrap="square" anchor="ctr" lIns="0" rIns="0" tIns="0" bIns="0">
            <a:spAutoFit/>
          </a:bodyPr>
          <a:lstStyle/>
          <a:p>
            <a:pPr algn="ctr">
              <a:spcAft>
                <a:spcPts val="0"/>
              </a:spcAft>
            </a:pPr>
            <a:r>
              <a:rPr sz="4600" b="1">
                <a:solidFill>
                  <a:srgbClr val="EC6A27"/>
                </a:solidFill>
                <a:latin typeface="Glacial Indifference Bold"/>
              </a:rPr>
              <a:t>4.95</a:t>
            </a:r>
          </a:p>
        </p:txBody>
      </p:sp>
      <p:sp>
        <p:nvSpPr>
          <p:cNvPr id="20" name="TextBox 19"/>
          <p:cNvSpPr txBox="1"/>
          <p:nvPr/>
        </p:nvSpPr>
        <p:spPr>
          <a:xfrm>
            <a:off x="10104120" y="3150108"/>
            <a:ext cx="3154680" cy="729691"/>
          </a:xfrm>
          <a:prstGeom prst="rect">
            <a:avLst/>
          </a:prstGeom>
          <a:noFill/>
        </p:spPr>
        <p:txBody>
          <a:bodyPr wrap="square" anchor="t" lIns="0" rIns="0" tIns="0" bIns="0">
            <a:spAutoFit/>
          </a:bodyPr>
          <a:lstStyle/>
          <a:p>
            <a:pPr algn="ctr">
              <a:spcAft>
                <a:spcPts val="0"/>
              </a:spcAft>
            </a:pPr>
            <a:r>
              <a:rPr sz="1800" b="0">
                <a:solidFill>
                  <a:srgbClr val="4A4A4A"/>
                </a:solidFill>
                <a:latin typeface="Glacial Indifference"/>
              </a:rPr>
              <a:t>Overall weighted mean - Strongly Agree</a:t>
            </a:r>
          </a:p>
        </p:txBody>
      </p:sp>
      <p:sp>
        <p:nvSpPr>
          <p:cNvPr id="21" name="Rounded Rectangle 20"/>
          <p:cNvSpPr/>
          <p:nvPr/>
        </p:nvSpPr>
        <p:spPr>
          <a:xfrm>
            <a:off x="13853160" y="2194560"/>
            <a:ext cx="3611880" cy="17373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2" name="TextBox 21"/>
          <p:cNvSpPr txBox="1"/>
          <p:nvPr/>
        </p:nvSpPr>
        <p:spPr>
          <a:xfrm>
            <a:off x="14081760" y="2331720"/>
            <a:ext cx="3154680" cy="868680"/>
          </a:xfrm>
          <a:prstGeom prst="rect">
            <a:avLst/>
          </a:prstGeom>
          <a:noFill/>
        </p:spPr>
        <p:txBody>
          <a:bodyPr wrap="square" anchor="ctr" lIns="0" rIns="0" tIns="0" bIns="0">
            <a:spAutoFit/>
          </a:bodyPr>
          <a:lstStyle/>
          <a:p>
            <a:pPr algn="ctr">
              <a:spcAft>
                <a:spcPts val="0"/>
              </a:spcAft>
            </a:pPr>
            <a:r>
              <a:rPr sz="4600" b="1">
                <a:solidFill>
                  <a:srgbClr val="EC6A27"/>
                </a:solidFill>
                <a:latin typeface="Glacial Indifference Bold"/>
              </a:rPr>
              <a:t>5.00</a:t>
            </a:r>
          </a:p>
        </p:txBody>
      </p:sp>
      <p:sp>
        <p:nvSpPr>
          <p:cNvPr id="23" name="TextBox 22"/>
          <p:cNvSpPr txBox="1"/>
          <p:nvPr/>
        </p:nvSpPr>
        <p:spPr>
          <a:xfrm>
            <a:off x="14081760" y="3150108"/>
            <a:ext cx="3154680" cy="729691"/>
          </a:xfrm>
          <a:prstGeom prst="rect">
            <a:avLst/>
          </a:prstGeom>
          <a:noFill/>
        </p:spPr>
        <p:txBody>
          <a:bodyPr wrap="square" anchor="t" lIns="0" rIns="0" tIns="0" bIns="0">
            <a:spAutoFit/>
          </a:bodyPr>
          <a:lstStyle/>
          <a:p>
            <a:pPr algn="ctr">
              <a:spcAft>
                <a:spcPts val="0"/>
              </a:spcAft>
            </a:pPr>
            <a:r>
              <a:rPr sz="1800" b="0">
                <a:solidFill>
                  <a:srgbClr val="4A4A4A"/>
                </a:solidFill>
                <a:latin typeface="Glacial Indifference"/>
              </a:rPr>
              <a:t>Usability (Strongly Agree)</a:t>
            </a:r>
          </a:p>
        </p:txBody>
      </p:sp>
      <p:sp>
        <p:nvSpPr>
          <p:cNvPr id="24" name="Rounded Rectangle 23"/>
          <p:cNvSpPr/>
          <p:nvPr/>
        </p:nvSpPr>
        <p:spPr>
          <a:xfrm>
            <a:off x="9875520" y="4160520"/>
            <a:ext cx="7589520" cy="16916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5" name="TextBox 24"/>
          <p:cNvSpPr txBox="1"/>
          <p:nvPr/>
        </p:nvSpPr>
        <p:spPr>
          <a:xfrm>
            <a:off x="10149840" y="4251960"/>
            <a:ext cx="7040880" cy="365760"/>
          </a:xfrm>
          <a:prstGeom prst="rect">
            <a:avLst/>
          </a:prstGeom>
          <a:noFill/>
        </p:spPr>
        <p:txBody>
          <a:bodyPr wrap="square" anchor="t" lIns="0" rIns="0" tIns="0" bIns="0">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26" name="TextBox 25"/>
          <p:cNvSpPr txBox="1"/>
          <p:nvPr/>
        </p:nvSpPr>
        <p:spPr>
          <a:xfrm>
            <a:off x="10149840" y="4663440"/>
            <a:ext cx="7040880" cy="1188720"/>
          </a:xfrm>
          <a:prstGeom prst="rect">
            <a:avLst/>
          </a:prstGeom>
          <a:noFill/>
        </p:spPr>
        <p:txBody>
          <a:bodyPr wrap="square" anchor="t" lIns="0" rIns="0" tIns="0" bIns="0">
            <a:spAutoFit/>
          </a:bodyPr>
          <a:lstStyle/>
          <a:p>
            <a:pPr algn="l">
              <a:spcAft>
                <a:spcPts val="0"/>
              </a:spcAft>
            </a:pPr>
            <a:r>
              <a:rPr sz="2000" b="0">
                <a:solidFill>
                  <a:srgbClr val="1E1E1E"/>
                </a:solidFill>
                <a:latin typeface="Glacial Indifference"/>
              </a:rPr>
              <a:t>Experts (N = 5) rated every quality characteristic Strongly Agree; Performance Efficiency was lowest at 4.87. Twenty-two of thirty indicators scored a perfect 5.00.</a:t>
            </a:r>
          </a:p>
        </p:txBody>
      </p:sp>
      <p:sp>
        <p:nvSpPr>
          <p:cNvPr id="27" name="Rounded Rectangle 26"/>
          <p:cNvSpPr/>
          <p:nvPr/>
        </p:nvSpPr>
        <p:spPr>
          <a:xfrm>
            <a:off x="9875520" y="6035040"/>
            <a:ext cx="7589520" cy="173736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8" name="TextBox 27"/>
          <p:cNvSpPr txBox="1"/>
          <p:nvPr/>
        </p:nvSpPr>
        <p:spPr>
          <a:xfrm>
            <a:off x="10149840" y="6126480"/>
            <a:ext cx="7040880" cy="365760"/>
          </a:xfrm>
          <a:prstGeom prst="rect">
            <a:avLst/>
          </a:prstGeom>
          <a:noFill/>
        </p:spPr>
        <p:txBody>
          <a:bodyPr wrap="square" anchor="t" lIns="0" rIns="0" tIns="0" bIns="0">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29" name="TextBox 28"/>
          <p:cNvSpPr txBox="1"/>
          <p:nvPr/>
        </p:nvSpPr>
        <p:spPr>
          <a:xfrm>
            <a:off x="10149840" y="6537960"/>
            <a:ext cx="7040880" cy="1188720"/>
          </a:xfrm>
          <a:prstGeom prst="rect">
            <a:avLst/>
          </a:prstGeom>
          <a:noFill/>
        </p:spPr>
        <p:txBody>
          <a:bodyPr wrap="square" anchor="t" lIns="0" rIns="0" tIns="0" bIns="0">
            <a:spAutoFit/>
          </a:bodyPr>
          <a:lstStyle/>
          <a:p>
            <a:pPr algn="l">
              <a:spcAft>
                <a:spcPts val="0"/>
              </a:spcAft>
            </a:pPr>
            <a:r>
              <a:rPr sz="2000" b="1">
                <a:solidFill>
                  <a:srgbClr val="FFFFFF"/>
                </a:solidFill>
                <a:latin typeface="Glacial Indifference Bold"/>
              </a:rPr>
              <a:t>The system is highly acceptable to technical evaluators (4.95) and to end users (4.25). The general objective was met.</a:t>
            </a:r>
          </a:p>
        </p:txBody>
      </p:sp>
      <p:graphicFrame>
        <p:nvGraphicFramePr>
          <p:cNvPr id="30" name="Chart 29"/>
          <p:cNvGraphicFramePr>
            <a:graphicFrameLocks noGrp="1"/>
          </p:cNvGraphicFramePr>
          <p:nvPr/>
        </p:nvGraphicFramePr>
        <p:xfrm>
          <a:off x="822960" y="2194560"/>
          <a:ext cx="8778240" cy="5577840"/>
        </p:xfrm>
        <a:graphic>
          <a:graphicData uri="http://schemas.openxmlformats.org/drawingml/2006/chart">
            <c:chart xmlns:c="http://schemas.openxmlformats.org/drawingml/2006/chart" r:id="rId1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anchor="t" lIns="0" rIns="0" tIns="0" bIns="0">
            <a:spAutoFit/>
          </a:bodyPr>
          <a:lstStyle/>
          <a:p>
            <a:pPr algn="l">
              <a:spcAft>
                <a:spcPts val="800"/>
              </a:spcAft>
            </a:pPr>
            <a:r>
              <a:rPr sz="2000" b="1">
                <a:solidFill>
                  <a:srgbClr val="EC6A27"/>
                </a:solidFill>
                <a:latin typeface="Glacial Indifference Bold"/>
                <a:ea typeface="Glacial Indifference Bold"/>
                <a:cs typeface="Glacial Indifference Bold"/>
              </a:rPr>
              <a:t>RECOMMENDATIONS</a:t>
            </a:r>
          </a:p>
        </p:txBody>
      </p:sp>
      <p:sp>
        <p:nvSpPr>
          <p:cNvPr id="14" name="TextBox 13"/>
          <p:cNvSpPr txBox="1"/>
          <p:nvPr/>
        </p:nvSpPr>
        <p:spPr>
          <a:xfrm>
            <a:off x="822960" y="914400"/>
            <a:ext cx="16642080" cy="868680"/>
          </a:xfrm>
          <a:prstGeom prst="rect">
            <a:avLst/>
          </a:prstGeom>
          <a:noFill/>
        </p:spPr>
        <p:txBody>
          <a:bodyPr wrap="square" anchor="t" lIns="0" rIns="0" tIns="0" bIns="0">
            <a:spAutoFit/>
          </a:bodyPr>
          <a:lstStyle/>
          <a:p>
            <a:pPr algn="l">
              <a:spcAft>
                <a:spcPts val="800"/>
              </a:spcAft>
            </a:pPr>
            <a:r>
              <a:rPr sz="4400" b="1">
                <a:solidFill>
                  <a:srgbClr val="1E1E1E"/>
                </a:solidFill>
                <a:latin typeface="Glacial Indifference Bold"/>
                <a:ea typeface="Glacial Indifference Bold"/>
                <a:cs typeface="Glacial Indifference Bold"/>
              </a:rPr>
              <a:t>Based on what the results showed</a:t>
            </a:r>
          </a:p>
        </p:txBody>
      </p:sp>
      <p:sp>
        <p:nvSpPr>
          <p:cNvPr id="15" name="TextBox 14"/>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Rounded Rectangle 15"/>
          <p:cNvSpPr/>
          <p:nvPr/>
        </p:nvSpPr>
        <p:spPr>
          <a:xfrm>
            <a:off x="822960" y="1965960"/>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7" name="TextBox 16"/>
          <p:cNvSpPr txBox="1"/>
          <p:nvPr/>
        </p:nvSpPr>
        <p:spPr>
          <a:xfrm>
            <a:off x="1097280" y="2148840"/>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18" name="TextBox 17"/>
          <p:cNvSpPr txBox="1"/>
          <p:nvPr/>
        </p:nvSpPr>
        <p:spPr>
          <a:xfrm>
            <a:off x="1097280" y="2468880"/>
            <a:ext cx="4800600" cy="7772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rPr>
              <a:t>Vaccination history recording was the lowest-rated end-user item (4.04)</a:t>
            </a:r>
          </a:p>
        </p:txBody>
      </p:sp>
      <p:sp>
        <p:nvSpPr>
          <p:cNvPr id="19" name="TextBox 18"/>
          <p:cNvSpPr txBox="1"/>
          <p:nvPr/>
        </p:nvSpPr>
        <p:spPr>
          <a:xfrm>
            <a:off x="1097280" y="329183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20" name="TextBox 19"/>
          <p:cNvSpPr txBox="1"/>
          <p:nvPr/>
        </p:nvSpPr>
        <p:spPr>
          <a:xfrm>
            <a:off x="1097280" y="3611880"/>
            <a:ext cx="4800600" cy="1051560"/>
          </a:xfrm>
          <a:prstGeom prst="rect">
            <a:avLst/>
          </a:prstGeom>
          <a:noFill/>
        </p:spPr>
        <p:txBody>
          <a:bodyPr wrap="square" anchor="t" lIns="0" rIns="0" tIns="0" bIns="0">
            <a:spAutoFit/>
          </a:bodyPr>
          <a:lstStyle/>
          <a:p>
            <a:pPr algn="l">
              <a:spcAft>
                <a:spcPts val="0"/>
              </a:spcAft>
            </a:pPr>
            <a:r>
              <a:rPr sz="2100" b="1">
                <a:solidFill>
                  <a:srgbClr val="1E1E1E"/>
                </a:solidFill>
                <a:latin typeface="Glacial Indifference Bold"/>
              </a:rPr>
              <a:t>Reinforce the vaccination module and provide training and orientation for staff and veterinarians</a:t>
            </a:r>
          </a:p>
        </p:txBody>
      </p:sp>
      <p:sp>
        <p:nvSpPr>
          <p:cNvPr id="21" name="Rounded Rectangle 20"/>
          <p:cNvSpPr/>
          <p:nvPr/>
        </p:nvSpPr>
        <p:spPr>
          <a:xfrm>
            <a:off x="6446520" y="1965960"/>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2" name="TextBox 21"/>
          <p:cNvSpPr txBox="1"/>
          <p:nvPr/>
        </p:nvSpPr>
        <p:spPr>
          <a:xfrm>
            <a:off x="6720840" y="2148840"/>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23" name="TextBox 22"/>
          <p:cNvSpPr txBox="1"/>
          <p:nvPr/>
        </p:nvSpPr>
        <p:spPr>
          <a:xfrm>
            <a:off x="6720840" y="2468880"/>
            <a:ext cx="4800600" cy="7772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rPr>
              <a:t>Web-only access with device-local offline drafts</a:t>
            </a:r>
          </a:p>
        </p:txBody>
      </p:sp>
      <p:sp>
        <p:nvSpPr>
          <p:cNvPr id="24" name="TextBox 23"/>
          <p:cNvSpPr txBox="1"/>
          <p:nvPr/>
        </p:nvSpPr>
        <p:spPr>
          <a:xfrm>
            <a:off x="6720840" y="329183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25" name="TextBox 24"/>
          <p:cNvSpPr txBox="1"/>
          <p:nvPr/>
        </p:nvSpPr>
        <p:spPr>
          <a:xfrm>
            <a:off x="6720840" y="3611880"/>
            <a:ext cx="4800600" cy="1051560"/>
          </a:xfrm>
          <a:prstGeom prst="rect">
            <a:avLst/>
          </a:prstGeom>
          <a:noFill/>
        </p:spPr>
        <p:txBody>
          <a:bodyPr wrap="square" anchor="t" lIns="0" rIns="0" tIns="0" bIns="0">
            <a:spAutoFit/>
          </a:bodyPr>
          <a:lstStyle/>
          <a:p>
            <a:pPr algn="l">
              <a:spcAft>
                <a:spcPts val="0"/>
              </a:spcAft>
            </a:pPr>
            <a:r>
              <a:rPr sz="2100" b="1">
                <a:solidFill>
                  <a:srgbClr val="1E1E1E"/>
                </a:solidFill>
                <a:latin typeface="Glacial Indifference Bold"/>
              </a:rPr>
              <a:t>Develop a native mobile application and real-time synchronization across devices</a:t>
            </a:r>
          </a:p>
        </p:txBody>
      </p:sp>
      <p:sp>
        <p:nvSpPr>
          <p:cNvPr id="26" name="Rounded Rectangle 25"/>
          <p:cNvSpPr/>
          <p:nvPr/>
        </p:nvSpPr>
        <p:spPr>
          <a:xfrm>
            <a:off x="12070080" y="1965960"/>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7" name="TextBox 26"/>
          <p:cNvSpPr txBox="1"/>
          <p:nvPr/>
        </p:nvSpPr>
        <p:spPr>
          <a:xfrm>
            <a:off x="12344400" y="2148840"/>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28" name="TextBox 27"/>
          <p:cNvSpPr txBox="1"/>
          <p:nvPr/>
        </p:nvSpPr>
        <p:spPr>
          <a:xfrm>
            <a:off x="12344400" y="2468880"/>
            <a:ext cx="4800600" cy="7772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rPr>
              <a:t>Payments rely on manual Official Receipt recording</a:t>
            </a:r>
          </a:p>
        </p:txBody>
      </p:sp>
      <p:sp>
        <p:nvSpPr>
          <p:cNvPr id="29" name="TextBox 28"/>
          <p:cNvSpPr txBox="1"/>
          <p:nvPr/>
        </p:nvSpPr>
        <p:spPr>
          <a:xfrm>
            <a:off x="12344400" y="329183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30" name="TextBox 29"/>
          <p:cNvSpPr txBox="1"/>
          <p:nvPr/>
        </p:nvSpPr>
        <p:spPr>
          <a:xfrm>
            <a:off x="12344400" y="3611880"/>
            <a:ext cx="4800600" cy="1051560"/>
          </a:xfrm>
          <a:prstGeom prst="rect">
            <a:avLst/>
          </a:prstGeom>
          <a:noFill/>
        </p:spPr>
        <p:txBody>
          <a:bodyPr wrap="square" anchor="t" lIns="0" rIns="0" tIns="0" bIns="0">
            <a:spAutoFit/>
          </a:bodyPr>
          <a:lstStyle/>
          <a:p>
            <a:pPr algn="l">
              <a:spcAft>
                <a:spcPts val="0"/>
              </a:spcAft>
            </a:pPr>
            <a:r>
              <a:rPr sz="2100" b="1">
                <a:solidFill>
                  <a:srgbClr val="1E1E1E"/>
                </a:solidFill>
                <a:latin typeface="Glacial Indifference Bold"/>
              </a:rPr>
              <a:t>Integrate an online payment gateway; notify owners of due vaccines and follow-ups via email or SMS</a:t>
            </a:r>
          </a:p>
        </p:txBody>
      </p:sp>
      <p:sp>
        <p:nvSpPr>
          <p:cNvPr id="31" name="Rounded Rectangle 30"/>
          <p:cNvSpPr/>
          <p:nvPr/>
        </p:nvSpPr>
        <p:spPr>
          <a:xfrm>
            <a:off x="822960" y="4983479"/>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2" name="TextBox 31"/>
          <p:cNvSpPr txBox="1"/>
          <p:nvPr/>
        </p:nvSpPr>
        <p:spPr>
          <a:xfrm>
            <a:off x="1097280" y="516635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33" name="TextBox 32"/>
          <p:cNvSpPr txBox="1"/>
          <p:nvPr/>
        </p:nvSpPr>
        <p:spPr>
          <a:xfrm>
            <a:off x="1097280" y="5486399"/>
            <a:ext cx="4800600" cy="7772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rPr>
              <a:t>No medicine inventory, stock management, or custom reports yet</a:t>
            </a:r>
          </a:p>
        </p:txBody>
      </p:sp>
      <p:sp>
        <p:nvSpPr>
          <p:cNvPr id="34" name="TextBox 33"/>
          <p:cNvSpPr txBox="1"/>
          <p:nvPr/>
        </p:nvSpPr>
        <p:spPr>
          <a:xfrm>
            <a:off x="1097280" y="630935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35" name="TextBox 34"/>
          <p:cNvSpPr txBox="1"/>
          <p:nvPr/>
        </p:nvSpPr>
        <p:spPr>
          <a:xfrm>
            <a:off x="1097280" y="6629399"/>
            <a:ext cx="4800600" cy="1051560"/>
          </a:xfrm>
          <a:prstGeom prst="rect">
            <a:avLst/>
          </a:prstGeom>
          <a:noFill/>
        </p:spPr>
        <p:txBody>
          <a:bodyPr wrap="square" anchor="t" lIns="0" rIns="0" tIns="0" bIns="0">
            <a:spAutoFit/>
          </a:bodyPr>
          <a:lstStyle/>
          <a:p>
            <a:pPr algn="l">
              <a:spcAft>
                <a:spcPts val="0"/>
              </a:spcAft>
            </a:pPr>
            <a:r>
              <a:rPr sz="2100" b="1">
                <a:solidFill>
                  <a:srgbClr val="1E1E1E"/>
                </a:solidFill>
                <a:latin typeface="Glacial Indifference Bold"/>
              </a:rPr>
              <a:t>Add medicine inventory and custom report generation with multiple export formats</a:t>
            </a:r>
          </a:p>
        </p:txBody>
      </p:sp>
      <p:sp>
        <p:nvSpPr>
          <p:cNvPr id="36" name="Rounded Rectangle 35"/>
          <p:cNvSpPr/>
          <p:nvPr/>
        </p:nvSpPr>
        <p:spPr>
          <a:xfrm>
            <a:off x="6446520" y="4983479"/>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7" name="TextBox 36"/>
          <p:cNvSpPr txBox="1"/>
          <p:nvPr/>
        </p:nvSpPr>
        <p:spPr>
          <a:xfrm>
            <a:off x="6720840" y="516635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38" name="TextBox 37"/>
          <p:cNvSpPr txBox="1"/>
          <p:nvPr/>
        </p:nvSpPr>
        <p:spPr>
          <a:xfrm>
            <a:off x="6720840" y="5486399"/>
            <a:ext cx="4800600" cy="777240"/>
          </a:xfrm>
          <a:prstGeom prst="rect">
            <a:avLst/>
          </a:prstGeom>
          <a:noFill/>
        </p:spPr>
        <p:txBody>
          <a:bodyPr wrap="square" anchor="t" lIns="0" rIns="0" tIns="0" bIns="0">
            <a:spAutoFit/>
          </a:bodyPr>
          <a:lstStyle/>
          <a:p>
            <a:pPr algn="l">
              <a:spcAft>
                <a:spcPts val="0"/>
              </a:spcAft>
            </a:pPr>
            <a:r>
              <a:rPr sz="1900" b="0">
                <a:solidFill>
                  <a:srgbClr val="4A4A4A"/>
                </a:solidFill>
                <a:latin typeface="Glacial Indifference"/>
              </a:rPr>
              <a:t>Study covered one clinic and one research period</a:t>
            </a:r>
          </a:p>
        </p:txBody>
      </p:sp>
      <p:sp>
        <p:nvSpPr>
          <p:cNvPr id="39" name="TextBox 38"/>
          <p:cNvSpPr txBox="1"/>
          <p:nvPr/>
        </p:nvSpPr>
        <p:spPr>
          <a:xfrm>
            <a:off x="6720840" y="6309359"/>
            <a:ext cx="4800600" cy="320040"/>
          </a:xfrm>
          <a:prstGeom prst="rect">
            <a:avLst/>
          </a:prstGeom>
          <a:noFill/>
        </p:spPr>
        <p:txBody>
          <a:bodyPr wrap="square" anchor="t" lIns="0" rIns="0" tIns="0" bIns="0">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40" name="TextBox 39"/>
          <p:cNvSpPr txBox="1"/>
          <p:nvPr/>
        </p:nvSpPr>
        <p:spPr>
          <a:xfrm>
            <a:off x="6720840" y="6629399"/>
            <a:ext cx="4800600" cy="1051560"/>
          </a:xfrm>
          <a:prstGeom prst="rect">
            <a:avLst/>
          </a:prstGeom>
          <a:noFill/>
        </p:spPr>
        <p:txBody>
          <a:bodyPr wrap="square" anchor="t" lIns="0" rIns="0" tIns="0" bIns="0">
            <a:spAutoFit/>
          </a:bodyPr>
          <a:lstStyle/>
          <a:p>
            <a:pPr algn="l">
              <a:spcAft>
                <a:spcPts val="0"/>
              </a:spcAft>
            </a:pPr>
            <a:r>
              <a:rPr sz="2100" b="1">
                <a:solidFill>
                  <a:srgbClr val="1E1E1E"/>
                </a:solidFill>
                <a:latin typeface="Glacial Indifference Bold"/>
              </a:rPr>
              <a:t>Future studies: other clinics, long-term effects, and maintainability and portability</a:t>
            </a:r>
          </a:p>
        </p:txBody>
      </p:sp>
      <p:sp>
        <p:nvSpPr>
          <p:cNvPr id="41" name="Rounded Rectangle 40"/>
          <p:cNvSpPr/>
          <p:nvPr/>
        </p:nvSpPr>
        <p:spPr>
          <a:xfrm>
            <a:off x="12070080" y="4983479"/>
            <a:ext cx="5349240" cy="278892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l">
              <a:spcAft>
                <a:spcPts val="0"/>
              </a:spcAft>
            </a:pPr>
            <a:r>
              <a:rPr sz="2100" b="1">
                <a:solidFill>
                  <a:srgbClr val="FFFFFF"/>
                </a:solidFill>
                <a:latin typeface="Glacial Indifference Bold"/>
              </a:rPr>
              <a:t>Keep the system as a daily support to the clinic, with regular backups, audits, and a contingency plan.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2">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3">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1"/>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1097280" y="2377440"/>
            <a:ext cx="16093440" cy="1828800"/>
          </a:xfrm>
          <a:prstGeom prst="rect">
            <a:avLst/>
          </a:prstGeom>
          <a:noFill/>
        </p:spPr>
        <p:txBody>
          <a:bodyPr wrap="square" anchor="ctr" lIns="0" rIns="0" tIns="0" bIns="0">
            <a:spAutoFit/>
          </a:bodyPr>
          <a:lstStyle/>
          <a:p>
            <a:pPr algn="ctr">
              <a:spcAft>
                <a:spcPts val="800"/>
              </a:spcAft>
            </a:pPr>
            <a:r>
              <a:rPr sz="9600" b="1">
                <a:solidFill>
                  <a:srgbClr val="1E1E1E"/>
                </a:solidFill>
                <a:latin typeface="Glacial Indifference Bold"/>
                <a:ea typeface="Glacial Indifference Bold"/>
                <a:cs typeface="Glacial Indifference Bold"/>
              </a:rPr>
              <a:t>THANK YOU</a:t>
            </a:r>
          </a:p>
        </p:txBody>
      </p:sp>
      <p:sp>
        <p:nvSpPr>
          <p:cNvPr id="14" name="TextBox 13"/>
          <p:cNvSpPr txBox="1"/>
          <p:nvPr/>
        </p:nvSpPr>
        <p:spPr>
          <a:xfrm>
            <a:off x="1097280" y="4480560"/>
            <a:ext cx="16093440" cy="914400"/>
          </a:xfrm>
          <a:prstGeom prst="rect">
            <a:avLst/>
          </a:prstGeom>
          <a:noFill/>
        </p:spPr>
        <p:txBody>
          <a:bodyPr wrap="square" anchor="t" lIns="0" rIns="0" tIns="0" bIns="0">
            <a:spAutoFit/>
          </a:bodyPr>
          <a:lstStyle/>
          <a:p>
            <a:pPr algn="ctr">
              <a:spcAft>
                <a:spcPts val="800"/>
              </a:spcAft>
            </a:pPr>
            <a:r>
              <a:rPr sz="3400" b="0">
                <a:solidFill>
                  <a:srgbClr val="4A4A4A"/>
                </a:solidFill>
                <a:latin typeface="Glacial Indifference"/>
                <a:ea typeface="Glacial Indifference"/>
                <a:cs typeface="Glacial Indifference"/>
              </a:rPr>
              <a:t>We welcome your questions and suggestions.</a:t>
            </a:r>
          </a:p>
        </p:txBody>
      </p:sp>
      <p:sp>
        <p:nvSpPr>
          <p:cNvPr id="15" name="TextBox 14"/>
          <p:cNvSpPr txBox="1"/>
          <p:nvPr/>
        </p:nvSpPr>
        <p:spPr>
          <a:xfrm>
            <a:off x="1097280" y="5852160"/>
            <a:ext cx="16093440" cy="1097280"/>
          </a:xfrm>
          <a:prstGeom prst="rect">
            <a:avLst/>
          </a:prstGeom>
          <a:noFill/>
        </p:spPr>
        <p:txBody>
          <a:bodyPr wrap="square" anchor="t" lIns="0" rIns="0" tIns="0" bIns="0">
            <a:spAutoFit/>
          </a:bodyPr>
          <a:lstStyle/>
          <a:p>
            <a:pPr algn="ctr">
              <a:spcAft>
                <a:spcPts val="800"/>
              </a:spcAft>
            </a:pPr>
            <a:r>
              <a:rPr sz="2200" b="0">
                <a:solidFill>
                  <a:srgbClr val="4A4A4A"/>
                </a:solidFill>
                <a:latin typeface="Glacial Indifference"/>
                <a:ea typeface="Glacial Indifference"/>
                <a:cs typeface="Glacial Indifference"/>
              </a:rPr>
              <a:t>Escarez, Kurt Ronel B.  |  Onda, Kurby Dane B.  |  Parao, Eliseo Evangelista Jr.  |  Quintana, Felipe A. Jr.</a:t>
            </a:r>
          </a:p>
        </p:txBody>
      </p:sp>
      <p:sp>
        <p:nvSpPr>
          <p:cNvPr id="16" name="TextBox 15"/>
          <p:cNvSpPr txBox="1"/>
          <p:nvPr/>
        </p:nvSpPr>
        <p:spPr>
          <a:xfrm>
            <a:off x="868680" y="8887968"/>
            <a:ext cx="6035040" cy="731520"/>
          </a:xfrm>
          <a:prstGeom prst="rect">
            <a:avLst/>
          </a:prstGeom>
          <a:noFill/>
        </p:spPr>
        <p:txBody>
          <a:bodyPr wrap="square" anchor="t" lIns="0" rIns="0" tIns="0" bIns="0">
            <a:spAutoFit/>
          </a:bodyPr>
          <a:lstStyle/>
          <a:p>
            <a:pPr algn="l">
              <a:spcAft>
                <a:spcPts val="0"/>
              </a:spcAft>
            </a:pPr>
            <a:r>
              <a:rPr sz="1500" b="1">
                <a:solidFill>
                  <a:srgbClr val="1E1E1E"/>
                </a:solidFill>
                <a:latin typeface="Glacial Indifference Bold"/>
              </a:rPr>
              <a:t>WEB-BASED QR-ENABLED PET REGISTRATION, VACCINATION, AND</a:t>
            </a:r>
          </a:p>
          <a:p>
            <a:pPr algn="l">
              <a:spcAft>
                <a:spcPts val="0"/>
              </a:spcAft>
            </a:pPr>
            <a:r>
              <a:rPr sz="1500" b="1">
                <a:solidFill>
                  <a:srgbClr val="1E1E1E"/>
                </a:solidFill>
                <a:latin typeface="Glacial Indifference Bold"/>
              </a:rPr>
              <a:t>TRACEABILITY MANAGEMENT SYSTEM</a:t>
            </a:r>
          </a:p>
          <a:p>
            <a:pPr algn="l">
              <a:spcAft>
                <a:spcPts val="0"/>
              </a:spcAft>
            </a:pPr>
            <a:r>
              <a:rPr sz="1500" b="1">
                <a:solidFill>
                  <a:srgbClr val="1E1E1E"/>
                </a:solidFill>
                <a:latin typeface="Glacial Indifference Bold"/>
              </a:rPr>
              <a:t>WITH PAYMENT MONITORING AND DATA ANALYTICS</a:t>
            </a:r>
          </a:p>
          <a:p>
            <a:pPr algn="l">
              <a:spcAft>
                <a:spcPts val="0"/>
              </a:spcAft>
            </a:pPr>
            <a:r>
              <a:rPr sz="1500" b="1">
                <a:solidFill>
                  <a:srgbClr val="1E1E1E"/>
                </a:solidFill>
                <a:latin typeface="Glacial Indifference Bold"/>
              </a:rPr>
              <a:t>City Veterinary Animal Clinic, Cabuyao City, Laguna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7</Words>
  <Application>Microsoft Office PowerPoint</Application>
  <PresentationFormat>Custom</PresentationFormat>
  <Paragraphs>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Glacial Indifference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pnc.edu.ph</dc:title>
  <dc:creator>GIMA</dc:creator>
  <cp:lastModifiedBy>GIMA MONTECILLO</cp:lastModifiedBy>
  <cp:revision>3</cp:revision>
  <dcterms:created xsi:type="dcterms:W3CDTF">2006-08-16T00:00:00Z</dcterms:created>
  <dcterms:modified xsi:type="dcterms:W3CDTF">2026-04-11T04:54:18Z</dcterms:modified>
  <dc:identifier>DAHGg8uSddU</dc:identifier>
</cp:coreProperties>
</file>
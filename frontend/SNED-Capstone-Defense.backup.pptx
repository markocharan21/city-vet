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10.svg" ContentType="image/svg+xml"/>
  <Override PartName="/ppt/media/image11.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8288000" cy="10287000"/>
  <p:notesSz cx="6858000" cy="9144000"/>
  <p:embeddedFontLst>
    <p:embeddedFont>
      <p:font typeface="Glacial Indifference Bold" panose="020B0604020202020204" charset="0"/>
      <p:regular r:id="rId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154"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Respondents</c:v>
                </c:pt>
              </c:strCache>
            </c:strRef>
          </c:tx>
          <c:spPr>
            <a:solidFill>
              <a:srgbClr val="EC6A27"/>
            </a:solidFill>
          </c:spPr>
          <c:invertIfNegative val="0"/>
          <c:cat>
            <c:strRef>
              <c:f>Sheet1!$A$2:$A$6</c:f>
              <c:strCache>
                <c:ptCount val="5"/>
                <c:pt idx="0">
                  <c:v>SNED students / parents</c:v>
                </c:pt>
                <c:pt idx="1">
                  <c:v>SNED teachers</c:v>
                </c:pt>
                <c:pt idx="2">
                  <c:v>IT experts</c:v>
                </c:pt>
                <c:pt idx="3">
                  <c:v>Teacher coordinator</c:v>
                </c:pt>
                <c:pt idx="4">
                  <c:v>School principal</c:v>
                </c:pt>
              </c:strCache>
            </c:strRef>
          </c:cat>
          <c:val>
            <c:numRef>
              <c:f>Sheet1!$B$2:$B$6</c:f>
              <c:numCache>
                <c:formatCode>General</c:formatCode>
                <c:ptCount val="5"/>
                <c:pt idx="0">
                  <c:v>40</c:v>
                </c:pt>
                <c:pt idx="1">
                  <c:v>15</c:v>
                </c:pt>
                <c:pt idx="2">
                  <c:v>5</c:v>
                </c:pt>
                <c:pt idx="3">
                  <c:v>1</c:v>
                </c:pt>
                <c:pt idx="4">
                  <c:v>1</c:v>
                </c:pt>
              </c:numCache>
            </c:numRef>
          </c:val>
        </c:ser>
        <c:dLbls>
          <c:txPr>
            <a:bodyPr/>
            <a:lstStyle/>
            <a:p>
              <a:pPr>
                <a:defRPr sz="18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Weighted mean</c:v>
                </c:pt>
              </c:strCache>
            </c:strRef>
          </c:tx>
          <c:spPr>
            <a:solidFill>
              <a:srgbClr val="EC6A27"/>
            </a:solidFill>
          </c:spPr>
          <c:invertIfNegative val="0"/>
          <c:cat>
            <c:strRef>
              <c:f>Sheet1!$A$2:$A$5</c:f>
              <c:strCache>
                <c:ptCount val="4"/>
                <c:pt idx="0">
                  <c:v>Adjust accessibility settings (Teachers)</c:v>
                </c:pt>
                <c:pt idx="1">
                  <c:v>Accurate progress reports (Teachers)</c:v>
                </c:pt>
                <c:pt idx="2">
                  <c:v>Timely notifications (Students / Guardians)</c:v>
                </c:pt>
                <c:pt idx="3">
                  <c:v>View child's progress (Students / Guardians)</c:v>
                </c:pt>
              </c:strCache>
            </c:strRef>
          </c:cat>
          <c:val>
            <c:numRef>
              <c:f>Sheet1!$B$2:$B$5</c:f>
              <c:numCache>
                <c:formatCode>General</c:formatCode>
                <c:ptCount val="4"/>
                <c:pt idx="0">
                  <c:v>4.44</c:v>
                </c:pt>
                <c:pt idx="1">
                  <c:v>4.33</c:v>
                </c:pt>
                <c:pt idx="2">
                  <c:v>4.2</c:v>
                </c:pt>
                <c:pt idx="3">
                  <c:v>4.08</c:v>
                </c:pt>
              </c:numCache>
            </c:numRef>
          </c:val>
        </c:ser>
        <c:dLbls>
          <c:numFmt formatCode="0.00" sourceLinked="0"/>
          <c:txPr>
            <a:bodyPr/>
            <a:lstStyle/>
            <a:p>
              <a:pPr>
                <a:defRPr sz="1600" b="1">
                  <a:solidFill>
                    <a:srgbClr val="1E1E1E"/>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Students / Guardians (n = 40)</c:v>
                </c:pt>
              </c:strCache>
            </c:strRef>
          </c:tx>
          <c:spPr>
            <a:solidFill>
              <a:srgbClr val="EC6A27"/>
            </a:solidFill>
          </c:spPr>
          <c:invertIfNegative val="0"/>
          <c:cat>
            <c:strRef>
              <c:f>Sheet1!$A$2:$A$6</c:f>
              <c:strCache>
                <c:ptCount val="5"/>
                <c:pt idx="0">
                  <c:v>Functionality</c:v>
                </c:pt>
                <c:pt idx="1">
                  <c:v>Usability</c:v>
                </c:pt>
                <c:pt idx="2">
                  <c:v>Accessibility</c:v>
                </c:pt>
                <c:pt idx="3">
                  <c:v>User satisfaction</c:v>
                </c:pt>
                <c:pt idx="4">
                  <c:v>Grand mean</c:v>
                </c:pt>
              </c:strCache>
            </c:strRef>
          </c:cat>
          <c:val>
            <c:numRef>
              <c:f>Sheet1!$B$2:$B$6</c:f>
              <c:numCache>
                <c:formatCode>General</c:formatCode>
                <c:ptCount val="5"/>
                <c:pt idx="0">
                  <c:v>4.14</c:v>
                </c:pt>
                <c:pt idx="1">
                  <c:v>4.17</c:v>
                </c:pt>
                <c:pt idx="2">
                  <c:v>4.18</c:v>
                </c:pt>
                <c:pt idx="3">
                  <c:v>4.34</c:v>
                </c:pt>
                <c:pt idx="4">
                  <c:v>4.21</c:v>
                </c:pt>
              </c:numCache>
            </c:numRef>
          </c:val>
        </c:ser>
        <c:ser>
          <c:idx val="1"/>
          <c:order val="1"/>
          <c:tx>
            <c:strRef>
              <c:f>Sheet1!$C$1</c:f>
              <c:strCache>
                <c:ptCount val="1"/>
                <c:pt idx="0">
                  <c:v>Teachers and staff (n = 17)</c:v>
                </c:pt>
              </c:strCache>
            </c:strRef>
          </c:tx>
          <c:spPr>
            <a:solidFill>
              <a:srgbClr val="9B9A9D"/>
            </a:solidFill>
          </c:spPr>
          <c:invertIfNegative val="0"/>
          <c:cat>
            <c:strRef>
              <c:f>Sheet1!$A$2:$A$6</c:f>
              <c:strCache>
                <c:ptCount val="5"/>
                <c:pt idx="0">
                  <c:v>Functionality</c:v>
                </c:pt>
                <c:pt idx="1">
                  <c:v>Usability</c:v>
                </c:pt>
                <c:pt idx="2">
                  <c:v>Accessibility</c:v>
                </c:pt>
                <c:pt idx="3">
                  <c:v>User satisfaction</c:v>
                </c:pt>
                <c:pt idx="4">
                  <c:v>Grand mean</c:v>
                </c:pt>
              </c:strCache>
            </c:strRef>
          </c:cat>
          <c:val>
            <c:numRef>
              <c:f>Sheet1!$C$2:$C$6</c:f>
              <c:numCache>
                <c:formatCode>General</c:formatCode>
                <c:ptCount val="5"/>
                <c:pt idx="0">
                  <c:v>4.27</c:v>
                </c:pt>
                <c:pt idx="1">
                  <c:v>4.14</c:v>
                </c:pt>
                <c:pt idx="2">
                  <c:v>4.14</c:v>
                </c:pt>
                <c:pt idx="3">
                  <c:v>4.05</c:v>
                </c:pt>
                <c:pt idx="4">
                  <c:v>4.14</c:v>
                </c:pt>
              </c:numCache>
            </c:numRef>
          </c:val>
        </c:ser>
        <c:dLbls>
          <c:numFmt formatCode="0.00" sourceLinked="0"/>
          <c:txPr>
            <a:bodyPr/>
            <a:lstStyle/>
            <a:p>
              <a:pPr>
                <a:defRPr sz="1500" b="1">
                  <a:solidFill>
                    <a:srgbClr val="1E1E1E"/>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val="0"/>
        <c:axPos val="l"/>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legend>
      <c:legendPos val="t"/>
      <c:overlay val="0"/>
      <c:txPr>
        <a:bodyPr/>
        <a:lstStyle/>
        <a:p>
          <a:pPr>
            <a:defRPr sz="1600"/>
          </a:pPr>
        </a:p>
      </c:txPr>
    </c:legend>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Weighted mean</c:v>
                </c:pt>
              </c:strCache>
            </c:strRef>
          </c:tx>
          <c:spPr>
            <a:solidFill>
              <a:srgbClr val="EC6A27"/>
            </a:solidFill>
          </c:spPr>
          <c:invertIfNegative val="0"/>
          <c:cat>
            <c:strRef>
              <c:f>Sheet1!$A$2:$A$9</c:f>
              <c:strCache>
                <c:ptCount val="8"/>
                <c:pt idx="0">
                  <c:v>Function suitability</c:v>
                </c:pt>
                <c:pt idx="1">
                  <c:v>Performance efficiency</c:v>
                </c:pt>
                <c:pt idx="2">
                  <c:v>Compatibility</c:v>
                </c:pt>
                <c:pt idx="3">
                  <c:v>Usability</c:v>
                </c:pt>
                <c:pt idx="4">
                  <c:v>Reliability</c:v>
                </c:pt>
                <c:pt idx="5">
                  <c:v>Security</c:v>
                </c:pt>
                <c:pt idx="6">
                  <c:v>Maintainability</c:v>
                </c:pt>
                <c:pt idx="7">
                  <c:v>Portability</c:v>
                </c:pt>
              </c:strCache>
            </c:strRef>
          </c:cat>
          <c:val>
            <c:numRef>
              <c:f>Sheet1!$B$2:$B$9</c:f>
              <c:numCache>
                <c:formatCode>General</c:formatCode>
                <c:ptCount val="8"/>
                <c:pt idx="0">
                  <c:v>3.95</c:v>
                </c:pt>
                <c:pt idx="1">
                  <c:v>4.05</c:v>
                </c:pt>
                <c:pt idx="2">
                  <c:v>4.15</c:v>
                </c:pt>
                <c:pt idx="3">
                  <c:v>4.0</c:v>
                </c:pt>
                <c:pt idx="4">
                  <c:v>4.1</c:v>
                </c:pt>
                <c:pt idx="5">
                  <c:v>4.2</c:v>
                </c:pt>
                <c:pt idx="6">
                  <c:v>4.15</c:v>
                </c:pt>
                <c:pt idx="7">
                  <c:v>4.2</c:v>
                </c:pt>
              </c:numCache>
            </c:numRef>
          </c:val>
        </c:ser>
        <c:dLbls>
          <c:numFmt formatCode="0.00" sourceLinked="0"/>
          <c:txPr>
            <a:bodyPr/>
            <a:lstStyle/>
            <a:p>
              <a:pPr>
                <a:defRPr sz="1600" b="1">
                  <a:solidFill>
                    <a:srgbClr val="1E1E1E"/>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Greet the panel. Introduce the title, the group and each researcher, and the adviser. About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background, then the problems we saw at Bigaa Elementary School, then the gap: generic platforms are not accessible enough for SNED learners.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general objective in your own words, then the three specific objectives. Tell the panel that the results later are presented objective by objective. About 40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on the left, limitations on the right. Stress that it is one school, one program, and only the research period. About 45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two phases: we studied the problem first, then built and evaluated the system. Mention the 62 respondents and that the evaluation followed a one-week UAT.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our proof that we followed Agile Scrum. Walk through the sprints quickly: requirements first, then login, lessons, assessments, progress and communication, accessibility, and finally testing and UAT. About 50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two or three screens as examples: the login, the student portal and the accessibility settings. These are the actual outputs of the sprints. About 40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first: every function passed unit testing and every integration scenario passed. Then accessibility ratings from both groups. Discussion: defects were fixed within the sprint, which is how Scrum works. Conclusion: Objective 1 was met.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eight modules covering everything in Objective 2. The chart shows the highest-rated items: teachers can adjust accessibility settings (4.44) and get accurate reports (4.33); parents get timely notifications (4.20). Conclusion: Objective 2 was met.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chart: guardians rated satisfaction highest (4.34), teachers rated functionality highest (4.27). Grand mean is 4.19, interpreted as Agree. The lowest items were about devices and slow internet, which are outside the core system.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IT experts rated eight quality characteristics. Security and portability were highest at 4.20; function suitability was lowest at 3.95. Together with the user ratings, the study met its general objective. About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recommendation comes from a specific finding. Slow internet and device use were the lowest items, teacher satisfaction was the lowest criterion, and function suitability was the lowest for the IT experts. The last one comes from our limitations. About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 and invite questions. About 10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image" Target="../media/image12.jpg"/><Relationship Id="rId14" Type="http://schemas.openxmlformats.org/officeDocument/2006/relationships/image" Target="../media/image13.jpg"/><Relationship Id="rId15" Type="http://schemas.openxmlformats.org/officeDocument/2006/relationships/image" Target="../media/image14.jpg"/><Relationship Id="rId16" Type="http://schemas.openxmlformats.org/officeDocument/2006/relationships/image" Target="../media/image15.jpg"/><Relationship Id="rId17" Type="http://schemas.openxmlformats.org/officeDocument/2006/relationships/image" Target="../media/image16.jpg"/><Relationship Id="rId18" Type="http://schemas.openxmlformats.org/officeDocument/2006/relationships/image" Target="../media/image17.jpg"/><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3.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4.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1097280" y="1188720"/>
            <a:ext cx="16093440" cy="457200"/>
          </a:xfrm>
          <a:prstGeom prst="rect">
            <a:avLst/>
          </a:prstGeom>
          <a:noFill/>
        </p:spPr>
        <p:txBody>
          <a:bodyPr wrap="square" anchor="t" lIns="0" rIns="0" tIns="0" bIns="0">
            <a:spAutoFit/>
          </a:bodyPr>
          <a:lstStyle/>
          <a:p>
            <a:pPr algn="ctr">
              <a:spcAft>
                <a:spcPts val="800"/>
              </a:spcAft>
            </a:pPr>
            <a:r>
              <a:rPr sz="2200" b="1">
                <a:solidFill>
                  <a:srgbClr val="EC6A27"/>
                </a:solidFill>
                <a:latin typeface="Glacial Indifference Bold"/>
                <a:ea typeface="Glacial Indifference Bold"/>
                <a:cs typeface="Glacial Indifference Bold"/>
              </a:rPr>
              <a:t>CAPSTONE PROJECT DEFENSE  |  BACHELOR OF SCIENCE IN INFORMATION TECHNOLOGY</a:t>
            </a:r>
          </a:p>
        </p:txBody>
      </p:sp>
      <p:sp>
        <p:nvSpPr>
          <p:cNvPr id="14" name="TextBox 13"/>
          <p:cNvSpPr txBox="1"/>
          <p:nvPr/>
        </p:nvSpPr>
        <p:spPr>
          <a:xfrm>
            <a:off x="1097280" y="1920240"/>
            <a:ext cx="16093440" cy="3291840"/>
          </a:xfrm>
          <a:prstGeom prst="rect">
            <a:avLst/>
          </a:prstGeom>
          <a:noFill/>
        </p:spPr>
        <p:txBody>
          <a:bodyPr wrap="square" anchor="ctr" lIns="0" rIns="0" tIns="0" bIns="0">
            <a:spAutoFit/>
          </a:bodyPr>
          <a:lstStyle/>
          <a:p>
            <a:pPr algn="ctr">
              <a:spcAft>
                <a:spcPts val="400"/>
              </a:spcAft>
            </a:pPr>
            <a:r>
              <a:rPr sz="6800" b="1">
                <a:solidFill>
                  <a:srgbClr val="1E1E1E"/>
                </a:solidFill>
                <a:latin typeface="Glacial Indifference Bold"/>
                <a:ea typeface="Glacial Indifference Bold"/>
                <a:cs typeface="Glacial Indifference Bold"/>
              </a:rPr>
              <a:t>E-LEARNING PLATFORM FOR SNED PROGRAM</a:t>
            </a:r>
          </a:p>
          <a:p>
            <a:pPr algn="ctr">
              <a:spcAft>
                <a:spcPts val="400"/>
              </a:spcAft>
            </a:pPr>
            <a:r>
              <a:rPr sz="6800" b="1">
                <a:solidFill>
                  <a:srgbClr val="1E1E1E"/>
                </a:solidFill>
                <a:latin typeface="Glacial Indifference Bold"/>
                <a:ea typeface="Glacial Indifference Bold"/>
                <a:cs typeface="Glacial Indifference Bold"/>
              </a:rPr>
              <a:t>IN BIGAA ELEMENTARY SCHOOL</a:t>
            </a:r>
          </a:p>
        </p:txBody>
      </p:sp>
      <p:sp>
        <p:nvSpPr>
          <p:cNvPr id="15" name="TextBox 14"/>
          <p:cNvSpPr txBox="1"/>
          <p:nvPr/>
        </p:nvSpPr>
        <p:spPr>
          <a:xfrm>
            <a:off x="1097280" y="5760720"/>
            <a:ext cx="16093440" cy="1188720"/>
          </a:xfrm>
          <a:prstGeom prst="rect">
            <a:avLst/>
          </a:prstGeom>
          <a:noFill/>
        </p:spPr>
        <p:txBody>
          <a:bodyPr wrap="square" anchor="t" lIns="0" rIns="0" tIns="0" bIns="0">
            <a:spAutoFit/>
          </a:bodyPr>
          <a:lstStyle/>
          <a:p>
            <a:pPr algn="ctr">
              <a:spcAft>
                <a:spcPts val="400"/>
              </a:spcAft>
            </a:pPr>
            <a:r>
              <a:rPr sz="2800" b="0">
                <a:solidFill>
                  <a:srgbClr val="4A4A4A"/>
                </a:solidFill>
                <a:latin typeface="Glacial Indifference"/>
                <a:ea typeface="Glacial Indifference"/>
                <a:cs typeface="Glacial Indifference"/>
              </a:rPr>
              <a:t>Group [No.]  |  College of Computing Studies</a:t>
            </a:r>
          </a:p>
          <a:p>
            <a:pPr algn="ctr">
              <a:spcAft>
                <a:spcPts val="400"/>
              </a:spcAft>
            </a:pPr>
            <a:r>
              <a:rPr sz="2800" b="0">
                <a:solidFill>
                  <a:srgbClr val="4A4A4A"/>
                </a:solidFill>
                <a:latin typeface="Glacial Indifference"/>
                <a:ea typeface="Glacial Indifference"/>
                <a:cs typeface="Glacial Indifference"/>
              </a:rPr>
              <a:t>Pamantasan ng Cabuyao, City of Cabuyao, Laguna</a:t>
            </a:r>
          </a:p>
        </p:txBody>
      </p:sp>
      <p:sp>
        <p:nvSpPr>
          <p:cNvPr id="16" name="TextBox 15"/>
          <p:cNvSpPr txBox="1"/>
          <p:nvPr/>
        </p:nvSpPr>
        <p:spPr>
          <a:xfrm>
            <a:off x="868680" y="8732520"/>
            <a:ext cx="6400800" cy="914400"/>
          </a:xfrm>
          <a:prstGeom prst="rect">
            <a:avLst/>
          </a:prstGeom>
          <a:noFill/>
        </p:spPr>
        <p:txBody>
          <a:bodyPr wrap="square" anchor="t" lIns="0" rIns="0" tIns="0" bIns="0">
            <a:spAutoFit/>
          </a:bodyPr>
          <a:lstStyle/>
          <a:p>
            <a:pPr algn="l">
              <a:spcAft>
                <a:spcPts val="200"/>
              </a:spcAft>
            </a:pPr>
            <a:r>
              <a:rPr sz="1700" b="1">
                <a:solidFill>
                  <a:srgbClr val="1E1E1E"/>
                </a:solidFill>
                <a:latin typeface="Glacial Indifference Bold"/>
                <a:ea typeface="Glacial Indifference Bold"/>
                <a:cs typeface="Glacial Indifference Bold"/>
              </a:rPr>
              <a:t>RESEARCH TITLE:</a:t>
            </a:r>
          </a:p>
          <a:p>
            <a:pPr algn="l">
              <a:spcAft>
                <a:spcPts val="200"/>
              </a:spcAft>
            </a:pPr>
            <a:r>
              <a:rPr sz="1700" b="0">
                <a:solidFill>
                  <a:srgbClr val="1E1E1E"/>
                </a:solidFill>
                <a:latin typeface="Glacial Indifference"/>
                <a:ea typeface="Glacial Indifference"/>
                <a:cs typeface="Glacial Indifference"/>
              </a:rPr>
              <a:t>E-Learning Platform for SNED Program in Bigaa Elementary School</a:t>
            </a:r>
          </a:p>
        </p:txBody>
      </p:sp>
      <p:sp>
        <p:nvSpPr>
          <p:cNvPr id="17" name="TextBox 16"/>
          <p:cNvSpPr txBox="1"/>
          <p:nvPr/>
        </p:nvSpPr>
        <p:spPr>
          <a:xfrm>
            <a:off x="8586216" y="8686800"/>
            <a:ext cx="274320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ea typeface="Glacial Indifference Bold"/>
                <a:cs typeface="Glacial Indifference Bold"/>
              </a:rPr>
              <a:t>RESEARCHERS:</a:t>
            </a:r>
          </a:p>
        </p:txBody>
      </p:sp>
      <p:sp>
        <p:nvSpPr>
          <p:cNvPr id="18" name="TextBox 17"/>
          <p:cNvSpPr txBox="1"/>
          <p:nvPr/>
        </p:nvSpPr>
        <p:spPr>
          <a:xfrm>
            <a:off x="11109960" y="8686800"/>
            <a:ext cx="3566160" cy="777240"/>
          </a:xfrm>
          <a:prstGeom prst="rect">
            <a:avLst/>
          </a:prstGeom>
          <a:noFill/>
        </p:spPr>
        <p:txBody>
          <a:bodyPr wrap="square" anchor="t" lIns="0" rIns="0" tIns="0" bIns="0">
            <a:spAutoFit/>
          </a:bodyPr>
          <a:lstStyle/>
          <a:p>
            <a:pPr algn="l">
              <a:spcAft>
                <a:spcPts val="200"/>
              </a:spcAft>
            </a:pPr>
            <a:r>
              <a:rPr sz="1600" b="0">
                <a:solidFill>
                  <a:srgbClr val="1E1E1E"/>
                </a:solidFill>
                <a:latin typeface="Glacial Indifference"/>
                <a:ea typeface="Glacial Indifference"/>
                <a:cs typeface="Glacial Indifference"/>
              </a:rPr>
              <a:t>Escarez, Kurt Ronel B.</a:t>
            </a:r>
          </a:p>
          <a:p>
            <a:pPr algn="l">
              <a:spcAft>
                <a:spcPts val="200"/>
              </a:spcAft>
            </a:pPr>
            <a:r>
              <a:rPr sz="1600" b="0">
                <a:solidFill>
                  <a:srgbClr val="1E1E1E"/>
                </a:solidFill>
                <a:latin typeface="Glacial Indifference"/>
                <a:ea typeface="Glacial Indifference"/>
                <a:cs typeface="Glacial Indifference"/>
              </a:rPr>
              <a:t>Parao, Eliseo Evangelista Jr.</a:t>
            </a:r>
          </a:p>
        </p:txBody>
      </p:sp>
      <p:sp>
        <p:nvSpPr>
          <p:cNvPr id="19" name="TextBox 18"/>
          <p:cNvSpPr txBox="1"/>
          <p:nvPr/>
        </p:nvSpPr>
        <p:spPr>
          <a:xfrm>
            <a:off x="14630400" y="8686800"/>
            <a:ext cx="3566160" cy="777240"/>
          </a:xfrm>
          <a:prstGeom prst="rect">
            <a:avLst/>
          </a:prstGeom>
          <a:noFill/>
        </p:spPr>
        <p:txBody>
          <a:bodyPr wrap="square" anchor="t" lIns="0" rIns="0" tIns="0" bIns="0">
            <a:spAutoFit/>
          </a:bodyPr>
          <a:lstStyle/>
          <a:p>
            <a:pPr algn="l">
              <a:spcAft>
                <a:spcPts val="200"/>
              </a:spcAft>
            </a:pPr>
            <a:r>
              <a:rPr sz="1600" b="0">
                <a:solidFill>
                  <a:srgbClr val="1E1E1E"/>
                </a:solidFill>
                <a:latin typeface="Glacial Indifference"/>
                <a:ea typeface="Glacial Indifference"/>
                <a:cs typeface="Glacial Indifference"/>
              </a:rPr>
              <a:t>Onda, Kurby Dane B.</a:t>
            </a:r>
          </a:p>
          <a:p>
            <a:pPr algn="l">
              <a:spcAft>
                <a:spcPts val="200"/>
              </a:spcAft>
            </a:pPr>
            <a:r>
              <a:rPr sz="1600" b="0">
                <a:solidFill>
                  <a:srgbClr val="1E1E1E"/>
                </a:solidFill>
                <a:latin typeface="Glacial Indifference"/>
                <a:ea typeface="Glacial Indifference"/>
                <a:cs typeface="Glacial Indifference"/>
              </a:rPr>
              <a:t>Quintana, Felipe A. Jr.</a:t>
            </a:r>
          </a:p>
        </p:txBody>
      </p:sp>
      <p:sp>
        <p:nvSpPr>
          <p:cNvPr id="20" name="TextBox 19"/>
          <p:cNvSpPr txBox="1"/>
          <p:nvPr/>
        </p:nvSpPr>
        <p:spPr>
          <a:xfrm>
            <a:off x="8586216" y="9509760"/>
            <a:ext cx="274320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ea typeface="Glacial Indifference Bold"/>
                <a:cs typeface="Glacial Indifference Bold"/>
              </a:rPr>
              <a:t>ADVISER:</a:t>
            </a:r>
          </a:p>
        </p:txBody>
      </p:sp>
      <p:sp>
        <p:nvSpPr>
          <p:cNvPr id="21" name="TextBox 20"/>
          <p:cNvSpPr txBox="1"/>
          <p:nvPr/>
        </p:nvSpPr>
        <p:spPr>
          <a:xfrm>
            <a:off x="10332720" y="9528048"/>
            <a:ext cx="5943600" cy="365760"/>
          </a:xfrm>
          <a:prstGeom prst="rect">
            <a:avLst/>
          </a:prstGeom>
          <a:noFill/>
        </p:spPr>
        <p:txBody>
          <a:bodyPr wrap="square" anchor="t" lIns="0" rIns="0" tIns="0" bIns="0">
            <a:spAutoFit/>
          </a:bodyPr>
          <a:lstStyle/>
          <a:p>
            <a:pPr algn="l">
              <a:spcAft>
                <a:spcPts val="800"/>
              </a:spcAft>
            </a:pPr>
            <a:r>
              <a:rPr sz="1700" b="0">
                <a:solidFill>
                  <a:srgbClr val="1E1E1E"/>
                </a:solidFill>
                <a:latin typeface="Glacial Indifference"/>
                <a:ea typeface="Glacial Indifference"/>
                <a:cs typeface="Glacial Indifference"/>
              </a:rPr>
              <a:t>[Adviser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RATIONALE</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Why we conducted this research</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240280"/>
            <a:ext cx="4709159"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Background</a:t>
            </a:r>
          </a:p>
        </p:txBody>
      </p:sp>
      <p:sp>
        <p:nvSpPr>
          <p:cNvPr id="18" name="TextBox 17"/>
          <p:cNvSpPr txBox="1"/>
          <p:nvPr/>
        </p:nvSpPr>
        <p:spPr>
          <a:xfrm>
            <a:off x="1143000" y="2834640"/>
            <a:ext cx="4709159" cy="4663440"/>
          </a:xfrm>
          <a:prstGeom prst="rect">
            <a:avLst/>
          </a:prstGeom>
          <a:noFill/>
        </p:spPr>
        <p:txBody>
          <a:bodyPr wrap="square" anchor="t" lIns="0" rIns="0" tIns="0" bIns="0">
            <a:spAutoFit/>
          </a:bodyPr>
          <a:lstStyle/>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SNED learners need teaching that fits their needs</a:t>
            </a:r>
          </a:p>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Teachers still rely on printed modules, handwritten records and face-to-face lessons</a:t>
            </a:r>
          </a:p>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This makes it hard to track progress and prepare individual activities</a:t>
            </a:r>
          </a:p>
        </p:txBody>
      </p:sp>
      <p:sp>
        <p:nvSpPr>
          <p:cNvPr id="19" name="Rounded Rectangle 18"/>
          <p:cNvSpPr/>
          <p:nvPr/>
        </p:nvSpPr>
        <p:spPr>
          <a:xfrm>
            <a:off x="644652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0" name="TextBox 19"/>
          <p:cNvSpPr txBox="1"/>
          <p:nvPr/>
        </p:nvSpPr>
        <p:spPr>
          <a:xfrm>
            <a:off x="6766559" y="2240280"/>
            <a:ext cx="4709159"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Problems at Bigaa ES</a:t>
            </a:r>
          </a:p>
        </p:txBody>
      </p:sp>
      <p:sp>
        <p:nvSpPr>
          <p:cNvPr id="21" name="TextBox 20"/>
          <p:cNvSpPr txBox="1"/>
          <p:nvPr/>
        </p:nvSpPr>
        <p:spPr>
          <a:xfrm>
            <a:off x="6766559" y="2834640"/>
            <a:ext cx="4709159" cy="4663440"/>
          </a:xfrm>
          <a:prstGeom prst="rect">
            <a:avLst/>
          </a:prstGeom>
          <a:noFill/>
        </p:spPr>
        <p:txBody>
          <a:bodyPr wrap="square" anchor="t" lIns="0" rIns="0" tIns="0" bIns="0">
            <a:spAutoFit/>
          </a:bodyPr>
          <a:lstStyle/>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Hard to organize resources and track progress</a:t>
            </a:r>
          </a:p>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No individual pacing or alternative content formats</a:t>
            </a:r>
          </a:p>
          <a:p>
            <a:pPr algn="l" marL="347472" indent="-347472">
              <a:spcAft>
                <a:spcPts val="1400"/>
              </a:spcAft>
              <a:buClr>
                <a:srgbClr val="EC6A27"/>
              </a:buClr>
              <a:buFont typeface="Arial"/>
              <a:buChar char="•"/>
            </a:pPr>
            <a:r>
              <a:rPr sz="2600" b="0">
                <a:solidFill>
                  <a:srgbClr val="1E1E1E"/>
                </a:solidFill>
                <a:latin typeface="Glacial Indifference"/>
                <a:ea typeface="Glacial Indifference"/>
                <a:cs typeface="Glacial Indifference"/>
              </a:rPr>
              <a:t>Parents lack simple instructions and visibility of their child's progress</a:t>
            </a:r>
          </a:p>
        </p:txBody>
      </p:sp>
      <p:sp>
        <p:nvSpPr>
          <p:cNvPr id="22" name="Rounded Rectangle 21"/>
          <p:cNvSpPr/>
          <p:nvPr/>
        </p:nvSpPr>
        <p:spPr>
          <a:xfrm>
            <a:off x="12070080" y="2011680"/>
            <a:ext cx="5349240" cy="56692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3" name="TextBox 22"/>
          <p:cNvSpPr txBox="1"/>
          <p:nvPr/>
        </p:nvSpPr>
        <p:spPr>
          <a:xfrm>
            <a:off x="12390119" y="2240280"/>
            <a:ext cx="4709159" cy="457200"/>
          </a:xfrm>
          <a:prstGeom prst="rect">
            <a:avLst/>
          </a:prstGeom>
          <a:noFill/>
        </p:spPr>
        <p:txBody>
          <a:bodyPr wrap="square" anchor="t" lIns="0" rIns="0" tIns="0" bIns="0">
            <a:spAutoFit/>
          </a:bodyPr>
          <a:lstStyle/>
          <a:p>
            <a:pPr algn="l">
              <a:spcAft>
                <a:spcPts val="800"/>
              </a:spcAft>
            </a:pPr>
            <a:r>
              <a:rPr sz="2400" b="1">
                <a:solidFill>
                  <a:srgbClr val="FFFFFF"/>
                </a:solidFill>
                <a:latin typeface="Glacial Indifference Bold"/>
                <a:ea typeface="Glacial Indifference Bold"/>
                <a:cs typeface="Glacial Indifference Bold"/>
              </a:rPr>
              <a:t>Research Gap</a:t>
            </a:r>
          </a:p>
        </p:txBody>
      </p:sp>
      <p:sp>
        <p:nvSpPr>
          <p:cNvPr id="24" name="TextBox 23"/>
          <p:cNvSpPr txBox="1"/>
          <p:nvPr/>
        </p:nvSpPr>
        <p:spPr>
          <a:xfrm>
            <a:off x="12390119" y="2834640"/>
            <a:ext cx="4709159" cy="4663440"/>
          </a:xfrm>
          <a:prstGeom prst="rect">
            <a:avLst/>
          </a:prstGeom>
          <a:noFill/>
        </p:spPr>
        <p:txBody>
          <a:bodyPr wrap="square" anchor="t" lIns="0" rIns="0" tIns="0" bIns="0">
            <a:spAutoFit/>
          </a:bodyPr>
          <a:lstStyle/>
          <a:p>
            <a:pPr algn="l" marL="347472" indent="-347472">
              <a:spcAft>
                <a:spcPts val="1400"/>
              </a:spcAft>
              <a:buClr>
                <a:srgbClr val="FFFFFF"/>
              </a:buClr>
              <a:buFont typeface="Arial"/>
              <a:buChar char="•"/>
            </a:pPr>
            <a:r>
              <a:rPr sz="2500" b="0">
                <a:solidFill>
                  <a:srgbClr val="FFFFFF"/>
                </a:solidFill>
                <a:latin typeface="Glacial Indifference"/>
                <a:ea typeface="Glacial Indifference"/>
                <a:cs typeface="Glacial Indifference"/>
              </a:rPr>
              <a:t>Generic e-learning platforms lack key accessibility features</a:t>
            </a:r>
          </a:p>
          <a:p>
            <a:pPr algn="l" marL="347472" indent="-347472">
              <a:spcAft>
                <a:spcPts val="1400"/>
              </a:spcAft>
              <a:buClr>
                <a:srgbClr val="FFFFFF"/>
              </a:buClr>
              <a:buFont typeface="Arial"/>
              <a:buChar char="•"/>
            </a:pPr>
            <a:r>
              <a:rPr sz="2500" b="0">
                <a:solidFill>
                  <a:srgbClr val="FFFFFF"/>
                </a:solidFill>
                <a:latin typeface="Glacial Indifference"/>
                <a:ea typeface="Glacial Indifference"/>
                <a:cs typeface="Glacial Indifference"/>
              </a:rPr>
              <a:t>Examples: text-to-speech, speech-to-text, screen reader support, captions, high contrast, keyboard navigation</a:t>
            </a:r>
          </a:p>
          <a:p>
            <a:pPr algn="l" marL="347472" indent="-347472">
              <a:spcAft>
                <a:spcPts val="1400"/>
              </a:spcAft>
              <a:buClr>
                <a:srgbClr val="FFFFFF"/>
              </a:buClr>
              <a:buFont typeface="Arial"/>
              <a:buChar char="•"/>
            </a:pPr>
            <a:r>
              <a:rPr sz="2500" b="0">
                <a:solidFill>
                  <a:srgbClr val="FFFFFF"/>
                </a:solidFill>
                <a:latin typeface="Glacial Indifference"/>
                <a:ea typeface="Glacial Indifference"/>
                <a:cs typeface="Glacial Indifference"/>
              </a:rPr>
              <a:t>A platform built for SNED learners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What we set out to do</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1965960"/>
            <a:ext cx="16642080" cy="13258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0"/>
              </a:spcAft>
            </a:pPr>
            <a:r>
              <a:rPr sz="2400" b="1">
                <a:solidFill>
                  <a:srgbClr val="FFFFFF"/>
                </a:solidFill>
                <a:latin typeface="Glacial Indifference Bold"/>
                <a:ea typeface="Glacial Indifference Bold"/>
                <a:cs typeface="Glacial Indifference Bold"/>
              </a:rPr>
              <a:t>General objective: </a:t>
            </a:r>
            <a:r>
              <a:rPr sz="2400" b="0">
                <a:solidFill>
                  <a:srgbClr val="FFFFFF"/>
                </a:solidFill>
                <a:latin typeface="Glacial Indifference"/>
                <a:ea typeface="Glacial Indifference"/>
                <a:cs typeface="Glacial Indifference"/>
              </a:rPr>
              <a:t>Develop and evaluate an AI-powered e-learning platform for the SNED Program in Bigaa Elementary School that is accessible, personalized and WCAG 2.2 compliant.</a:t>
            </a:r>
          </a:p>
        </p:txBody>
      </p:sp>
      <p:sp>
        <p:nvSpPr>
          <p:cNvPr id="17" name="Rounded Rectangle 16"/>
          <p:cNvSpPr/>
          <p:nvPr/>
        </p:nvSpPr>
        <p:spPr>
          <a:xfrm>
            <a:off x="82296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143000"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1</a:t>
            </a:r>
          </a:p>
        </p:txBody>
      </p:sp>
      <p:sp>
        <p:nvSpPr>
          <p:cNvPr id="19" name="TextBox 18"/>
          <p:cNvSpPr txBox="1"/>
          <p:nvPr/>
        </p:nvSpPr>
        <p:spPr>
          <a:xfrm>
            <a:off x="1143000"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ea typeface="Glacial Indifference Bold"/>
                <a:cs typeface="Glacial Indifference Bold"/>
              </a:rPr>
              <a:t>Design</a:t>
            </a:r>
          </a:p>
        </p:txBody>
      </p:sp>
      <p:sp>
        <p:nvSpPr>
          <p:cNvPr id="20" name="TextBox 19"/>
          <p:cNvSpPr txBox="1"/>
          <p:nvPr/>
        </p:nvSpPr>
        <p:spPr>
          <a:xfrm>
            <a:off x="1143000"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An accessible, user-friendly platform for delivering lessons</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Managing activities and assessments</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Strengthening teacher, student and parent communication</a:t>
            </a:r>
          </a:p>
        </p:txBody>
      </p:sp>
      <p:sp>
        <p:nvSpPr>
          <p:cNvPr id="21" name="Rounded Rectangle 20"/>
          <p:cNvSpPr/>
          <p:nvPr/>
        </p:nvSpPr>
        <p:spPr>
          <a:xfrm>
            <a:off x="644652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6766559"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2</a:t>
            </a:r>
          </a:p>
        </p:txBody>
      </p:sp>
      <p:sp>
        <p:nvSpPr>
          <p:cNvPr id="23" name="TextBox 22"/>
          <p:cNvSpPr txBox="1"/>
          <p:nvPr/>
        </p:nvSpPr>
        <p:spPr>
          <a:xfrm>
            <a:off x="6766559"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ea typeface="Glacial Indifference Bold"/>
                <a:cs typeface="Glacial Indifference Bold"/>
              </a:rPr>
              <a:t>Develop</a:t>
            </a:r>
          </a:p>
        </p:txBody>
      </p:sp>
      <p:sp>
        <p:nvSpPr>
          <p:cNvPr id="24" name="TextBox 23"/>
          <p:cNvSpPr txBox="1"/>
          <p:nvPr/>
        </p:nvSpPr>
        <p:spPr>
          <a:xfrm>
            <a:off x="6766559"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Tools for teachers to create and manage modules</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Student access to lessons and assessments</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Progress tracking for teachers</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Timely updates for parents</a:t>
            </a:r>
          </a:p>
        </p:txBody>
      </p:sp>
      <p:sp>
        <p:nvSpPr>
          <p:cNvPr id="25" name="Rounded Rectangle 24"/>
          <p:cNvSpPr/>
          <p:nvPr/>
        </p:nvSpPr>
        <p:spPr>
          <a:xfrm>
            <a:off x="1207008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6" name="TextBox 25"/>
          <p:cNvSpPr txBox="1"/>
          <p:nvPr/>
        </p:nvSpPr>
        <p:spPr>
          <a:xfrm>
            <a:off x="12390119"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3</a:t>
            </a:r>
          </a:p>
        </p:txBody>
      </p:sp>
      <p:sp>
        <p:nvSpPr>
          <p:cNvPr id="27" name="TextBox 26"/>
          <p:cNvSpPr txBox="1"/>
          <p:nvPr/>
        </p:nvSpPr>
        <p:spPr>
          <a:xfrm>
            <a:off x="12390119"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ea typeface="Glacial Indifference Bold"/>
                <a:cs typeface="Glacial Indifference Bold"/>
              </a:rPr>
              <a:t>Evaluate</a:t>
            </a:r>
          </a:p>
        </p:txBody>
      </p:sp>
      <p:sp>
        <p:nvSpPr>
          <p:cNvPr id="28" name="TextBox 27"/>
          <p:cNvSpPr txBox="1"/>
          <p:nvPr/>
        </p:nvSpPr>
        <p:spPr>
          <a:xfrm>
            <a:off x="12390119"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Functionality</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Usability</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Accessibility</a:t>
            </a:r>
          </a:p>
          <a:p>
            <a:pPr algn="l" marL="347472" indent="-347472">
              <a:spcAft>
                <a:spcPts val="600"/>
              </a:spcAft>
              <a:buClr>
                <a:srgbClr val="EC6A27"/>
              </a:buClr>
              <a:buFont typeface="Arial"/>
              <a:buChar char="•"/>
            </a:pPr>
            <a:r>
              <a:rPr sz="2200" b="0">
                <a:solidFill>
                  <a:srgbClr val="1E1E1E"/>
                </a:solidFill>
                <a:latin typeface="Glacial Indifference"/>
                <a:ea typeface="Glacial Indifference"/>
                <a:cs typeface="Glacial Indifference"/>
              </a:rPr>
              <a:t>User satisfaction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SCOPE AND LIMITATIONS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What the study covers, and where it stops</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2011680"/>
            <a:ext cx="813816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240280"/>
            <a:ext cx="7498080"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Scope</a:t>
            </a:r>
          </a:p>
        </p:txBody>
      </p:sp>
      <p:sp>
        <p:nvSpPr>
          <p:cNvPr id="18" name="TextBox 17"/>
          <p:cNvSpPr txBox="1"/>
          <p:nvPr/>
        </p:nvSpPr>
        <p:spPr>
          <a:xfrm>
            <a:off x="1143000" y="2834640"/>
            <a:ext cx="7498080" cy="4754879"/>
          </a:xfrm>
          <a:prstGeom prst="rect">
            <a:avLst/>
          </a:prstGeom>
          <a:noFill/>
        </p:spPr>
        <p:txBody>
          <a:bodyPr wrap="square" anchor="t" lIns="0" rIns="0" tIns="0" bIns="0">
            <a:spAutoFit/>
          </a:bodyPr>
          <a:lstStyle/>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SNED Program of Bigaa Elementary School only</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Lesson delivery, learning materials, progress monitoring and communication</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Modules: lessons, activities and assessments, progress tracking, dashboards, messaging</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Stages: design, development, testing and evaluation</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Evaluated on functionality, usability, accessibility and user satisfaction</a:t>
            </a:r>
          </a:p>
        </p:txBody>
      </p:sp>
      <p:sp>
        <p:nvSpPr>
          <p:cNvPr id="19" name="Rounded Rectangle 18"/>
          <p:cNvSpPr/>
          <p:nvPr/>
        </p:nvSpPr>
        <p:spPr>
          <a:xfrm>
            <a:off x="9326880" y="2011680"/>
            <a:ext cx="8138160" cy="57607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0" name="TextBox 19"/>
          <p:cNvSpPr txBox="1"/>
          <p:nvPr/>
        </p:nvSpPr>
        <p:spPr>
          <a:xfrm>
            <a:off x="9646919" y="2240280"/>
            <a:ext cx="7498080" cy="457200"/>
          </a:xfrm>
          <a:prstGeom prst="rect">
            <a:avLst/>
          </a:prstGeom>
          <a:noFill/>
        </p:spPr>
        <p:txBody>
          <a:bodyPr wrap="square" anchor="t" lIns="0" rIns="0" tIns="0" bIns="0">
            <a:spAutoFit/>
          </a:bodyPr>
          <a:lstStyle/>
          <a:p>
            <a:pPr algn="l">
              <a:spcAft>
                <a:spcPts val="800"/>
              </a:spcAft>
            </a:pPr>
            <a:r>
              <a:rPr sz="2400" b="1">
                <a:solidFill>
                  <a:srgbClr val="4A4A4A"/>
                </a:solidFill>
                <a:latin typeface="Glacial Indifference Bold"/>
                <a:ea typeface="Glacial Indifference Bold"/>
                <a:cs typeface="Glacial Indifference Bold"/>
              </a:rPr>
              <a:t>Limitations</a:t>
            </a:r>
          </a:p>
        </p:txBody>
      </p:sp>
      <p:sp>
        <p:nvSpPr>
          <p:cNvPr id="21" name="TextBox 20"/>
          <p:cNvSpPr txBox="1"/>
          <p:nvPr/>
        </p:nvSpPr>
        <p:spPr>
          <a:xfrm>
            <a:off x="9646919" y="2834640"/>
            <a:ext cx="7498080" cy="4754879"/>
          </a:xfrm>
          <a:prstGeom prst="rect">
            <a:avLst/>
          </a:prstGeom>
          <a:noFill/>
        </p:spPr>
        <p:txBody>
          <a:bodyPr wrap="square" anchor="t" lIns="0" rIns="0" tIns="0" bIns="0">
            <a:spAutoFit/>
          </a:bodyPr>
          <a:lstStyle/>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Results cannot be generalized to other schools or programs</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Needs a device and stable internet connection</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No specialized assistive hardware, paid software or complex integration</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A supplement to teachers, not a replacement</a:t>
            </a:r>
          </a:p>
          <a:p>
            <a:pPr algn="l" marL="347472" indent="-347472">
              <a:spcAft>
                <a:spcPts val="1000"/>
              </a:spcAft>
              <a:buClr>
                <a:srgbClr val="EC6A27"/>
              </a:buClr>
              <a:buFont typeface="Arial"/>
              <a:buChar char="•"/>
            </a:pPr>
            <a:r>
              <a:rPr sz="2400" b="0">
                <a:solidFill>
                  <a:srgbClr val="1E1E1E"/>
                </a:solidFill>
                <a:latin typeface="Glacial Indifference"/>
                <a:ea typeface="Glacial Indifference"/>
                <a:cs typeface="Glacial Indifference"/>
              </a:rPr>
              <a:t>Assessed only during the research period, so no long-term effects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Descriptive mixed-method research design</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2011680"/>
            <a:ext cx="932688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194560"/>
            <a:ext cx="8686800"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Two phases</a:t>
            </a:r>
          </a:p>
        </p:txBody>
      </p:sp>
      <p:sp>
        <p:nvSpPr>
          <p:cNvPr id="18" name="TextBox 17"/>
          <p:cNvSpPr txBox="1"/>
          <p:nvPr/>
        </p:nvSpPr>
        <p:spPr>
          <a:xfrm>
            <a:off x="1143000" y="2743200"/>
            <a:ext cx="8686800" cy="4937760"/>
          </a:xfrm>
          <a:prstGeom prst="rect">
            <a:avLst/>
          </a:prstGeom>
          <a:noFill/>
        </p:spPr>
        <p:txBody>
          <a:bodyPr wrap="square" anchor="t" lIns="0" rIns="0" tIns="0" bIns="0">
            <a:spAutoFit/>
          </a:bodyPr>
          <a:lstStyle/>
          <a:p>
            <a:pPr algn="l" marL="347472" indent="-347472">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Pre-development (qualitative): </a:t>
            </a:r>
            <a:r>
              <a:rPr sz="2500" b="0">
                <a:solidFill>
                  <a:srgbClr val="1E1E1E"/>
                </a:solidFill>
                <a:latin typeface="Glacial Indifference"/>
                <a:ea typeface="Glacial Indifference"/>
                <a:cs typeface="Glacial Indifference"/>
              </a:rPr>
              <a:t>survey questionnaire, direct observation, document analysis</a:t>
            </a:r>
          </a:p>
          <a:p>
            <a:pPr algn="l" marL="347472" indent="-347472">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Post-development (quantitative): </a:t>
            </a:r>
            <a:r>
              <a:rPr sz="2500" b="0">
                <a:solidFill>
                  <a:srgbClr val="1E1E1E"/>
                </a:solidFill>
                <a:latin typeface="Glacial Indifference"/>
                <a:ea typeface="Glacial Indifference"/>
                <a:cs typeface="Glacial Indifference"/>
              </a:rPr>
              <a:t>1-week User Acceptance Testing, then ISO/IEC 25010:2023 evaluation questionnaires</a:t>
            </a:r>
          </a:p>
          <a:p>
            <a:pPr algn="l" marL="347472" indent="-347472">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Statistics: </a:t>
            </a:r>
            <a:r>
              <a:rPr sz="2500" b="0">
                <a:solidFill>
                  <a:srgbClr val="1E1E1E"/>
                </a:solidFill>
                <a:latin typeface="Glacial Indifference"/>
                <a:ea typeface="Glacial Indifference"/>
                <a:cs typeface="Glacial Indifference"/>
              </a:rPr>
              <a:t>content analysis for qualitative data; weighted mean with a five-point Likert scale for evaluation</a:t>
            </a:r>
          </a:p>
          <a:p>
            <a:pPr algn="l" marL="347472" indent="-347472">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Respondents: </a:t>
            </a:r>
            <a:r>
              <a:rPr sz="2500" b="0">
                <a:solidFill>
                  <a:srgbClr val="1E1E1E"/>
                </a:solidFill>
                <a:latin typeface="Glacial Indifference"/>
                <a:ea typeface="Glacial Indifference"/>
                <a:cs typeface="Glacial Indifference"/>
              </a:rPr>
              <a:t>62 purposely selected from Bigaa Elementary School, 100% retrieval</a:t>
            </a:r>
          </a:p>
        </p:txBody>
      </p:sp>
      <p:graphicFrame>
        <p:nvGraphicFramePr>
          <p:cNvPr id="19" name="Chart 18"/>
          <p:cNvGraphicFramePr>
            <a:graphicFrameLocks noGrp="1"/>
          </p:cNvGraphicFramePr>
          <p:nvPr/>
        </p:nvGraphicFramePr>
        <p:xfrm>
          <a:off x="10424160" y="2514600"/>
          <a:ext cx="7040880" cy="5303520"/>
        </p:xfrm>
        <a:graphic>
          <a:graphicData uri="http://schemas.openxmlformats.org/drawingml/2006/chart">
            <c:chart xmlns:c="http://schemas.openxmlformats.org/drawingml/2006/chart" r:id="rId13"/>
          </a:graphicData>
        </a:graphic>
      </p:graphicFrame>
      <p:sp>
        <p:nvSpPr>
          <p:cNvPr id="20" name="TextBox 19"/>
          <p:cNvSpPr txBox="1"/>
          <p:nvPr/>
        </p:nvSpPr>
        <p:spPr>
          <a:xfrm>
            <a:off x="10424160" y="2011680"/>
            <a:ext cx="7040880" cy="457200"/>
          </a:xfrm>
          <a:prstGeom prst="rect">
            <a:avLst/>
          </a:prstGeom>
          <a:noFill/>
        </p:spPr>
        <p:txBody>
          <a:bodyPr wrap="square" anchor="t" lIns="0" rIns="0" tIns="0" bIns="0">
            <a:spAutoFit/>
          </a:bodyPr>
          <a:lstStyle/>
          <a:p>
            <a:pPr algn="l">
              <a:spcAft>
                <a:spcPts val="800"/>
              </a:spcAft>
            </a:pPr>
            <a:r>
              <a:rPr sz="2200" b="1">
                <a:solidFill>
                  <a:srgbClr val="1E1E1E"/>
                </a:solidFill>
                <a:latin typeface="Glacial Indifference Bold"/>
                <a:ea typeface="Glacial Indifference Bold"/>
                <a:cs typeface="Glacial Indifference Bold"/>
              </a:rPr>
              <a:t>Respondents by group (N = 62)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Agile Scrum: every sprint was carried out</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078992"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0</a:t>
            </a:r>
          </a:p>
        </p:txBody>
      </p:sp>
      <p:sp>
        <p:nvSpPr>
          <p:cNvPr id="18" name="TextBox 17"/>
          <p:cNvSpPr txBox="1"/>
          <p:nvPr/>
        </p:nvSpPr>
        <p:spPr>
          <a:xfrm>
            <a:off x="1078992"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Requirements</a:t>
            </a:r>
          </a:p>
        </p:txBody>
      </p:sp>
      <p:sp>
        <p:nvSpPr>
          <p:cNvPr id="19" name="TextBox 18"/>
          <p:cNvSpPr txBox="1"/>
          <p:nvPr/>
        </p:nvSpPr>
        <p:spPr>
          <a:xfrm>
            <a:off x="1078992"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Survey, observation, document analysis and interviews; user stories and product backlog</a:t>
            </a:r>
          </a:p>
        </p:txBody>
      </p:sp>
      <p:sp>
        <p:nvSpPr>
          <p:cNvPr id="20" name="Rounded Rectangle 19"/>
          <p:cNvSpPr/>
          <p:nvPr/>
        </p:nvSpPr>
        <p:spPr>
          <a:xfrm>
            <a:off x="5056632"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1" name="TextBox 20"/>
          <p:cNvSpPr txBox="1"/>
          <p:nvPr/>
        </p:nvSpPr>
        <p:spPr>
          <a:xfrm>
            <a:off x="5312664"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1</a:t>
            </a:r>
          </a:p>
        </p:txBody>
      </p:sp>
      <p:sp>
        <p:nvSpPr>
          <p:cNvPr id="22" name="TextBox 21"/>
          <p:cNvSpPr txBox="1"/>
          <p:nvPr/>
        </p:nvSpPr>
        <p:spPr>
          <a:xfrm>
            <a:off x="5312664"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Login and foundation</a:t>
            </a:r>
          </a:p>
        </p:txBody>
      </p:sp>
      <p:sp>
        <p:nvSpPr>
          <p:cNvPr id="23" name="TextBox 22"/>
          <p:cNvSpPr txBox="1"/>
          <p:nvPr/>
        </p:nvSpPr>
        <p:spPr>
          <a:xfrm>
            <a:off x="5312664"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Account management, role-based login, React, Laravel and MySQL set up</a:t>
            </a:r>
          </a:p>
        </p:txBody>
      </p:sp>
      <p:sp>
        <p:nvSpPr>
          <p:cNvPr id="24" name="Rounded Rectangle 23"/>
          <p:cNvSpPr/>
          <p:nvPr/>
        </p:nvSpPr>
        <p:spPr>
          <a:xfrm>
            <a:off x="9290304"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9546336"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2</a:t>
            </a:r>
          </a:p>
        </p:txBody>
      </p:sp>
      <p:sp>
        <p:nvSpPr>
          <p:cNvPr id="26" name="TextBox 25"/>
          <p:cNvSpPr txBox="1"/>
          <p:nvPr/>
        </p:nvSpPr>
        <p:spPr>
          <a:xfrm>
            <a:off x="9546336"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Lessons and portal</a:t>
            </a:r>
          </a:p>
        </p:txBody>
      </p:sp>
      <p:sp>
        <p:nvSpPr>
          <p:cNvPr id="27" name="TextBox 26"/>
          <p:cNvSpPr txBox="1"/>
          <p:nvPr/>
        </p:nvSpPr>
        <p:spPr>
          <a:xfrm>
            <a:off x="9546336"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Lesson upload and management; student learning portal</a:t>
            </a:r>
          </a:p>
        </p:txBody>
      </p:sp>
      <p:sp>
        <p:nvSpPr>
          <p:cNvPr id="28" name="Rounded Rectangle 27"/>
          <p:cNvSpPr/>
          <p:nvPr/>
        </p:nvSpPr>
        <p:spPr>
          <a:xfrm>
            <a:off x="13523976"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9" name="TextBox 28"/>
          <p:cNvSpPr txBox="1"/>
          <p:nvPr/>
        </p:nvSpPr>
        <p:spPr>
          <a:xfrm>
            <a:off x="13780008"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3</a:t>
            </a:r>
          </a:p>
        </p:txBody>
      </p:sp>
      <p:sp>
        <p:nvSpPr>
          <p:cNvPr id="30" name="TextBox 29"/>
          <p:cNvSpPr txBox="1"/>
          <p:nvPr/>
        </p:nvSpPr>
        <p:spPr>
          <a:xfrm>
            <a:off x="13780008"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Activities and assessments</a:t>
            </a:r>
          </a:p>
        </p:txBody>
      </p:sp>
      <p:sp>
        <p:nvSpPr>
          <p:cNvPr id="31" name="TextBox 30"/>
          <p:cNvSpPr txBox="1"/>
          <p:nvPr/>
        </p:nvSpPr>
        <p:spPr>
          <a:xfrm>
            <a:off x="13780008"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Create and assign activities; automatic grading; submission tracking</a:t>
            </a:r>
          </a:p>
        </p:txBody>
      </p:sp>
      <p:sp>
        <p:nvSpPr>
          <p:cNvPr id="32" name="Rounded Rectangle 31"/>
          <p:cNvSpPr/>
          <p:nvPr/>
        </p:nvSpPr>
        <p:spPr>
          <a:xfrm>
            <a:off x="822960"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3" name="TextBox 32"/>
          <p:cNvSpPr txBox="1"/>
          <p:nvPr/>
        </p:nvSpPr>
        <p:spPr>
          <a:xfrm>
            <a:off x="1078992"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4</a:t>
            </a:r>
          </a:p>
        </p:txBody>
      </p:sp>
      <p:sp>
        <p:nvSpPr>
          <p:cNvPr id="34" name="TextBox 33"/>
          <p:cNvSpPr txBox="1"/>
          <p:nvPr/>
        </p:nvSpPr>
        <p:spPr>
          <a:xfrm>
            <a:off x="1078992"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Progress and communication</a:t>
            </a:r>
          </a:p>
        </p:txBody>
      </p:sp>
      <p:sp>
        <p:nvSpPr>
          <p:cNvPr id="35" name="TextBox 34"/>
          <p:cNvSpPr txBox="1"/>
          <p:nvPr/>
        </p:nvSpPr>
        <p:spPr>
          <a:xfrm>
            <a:off x="1078992"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Progress dashboards and reports; low-performance flag; parent notifications</a:t>
            </a:r>
          </a:p>
        </p:txBody>
      </p:sp>
      <p:sp>
        <p:nvSpPr>
          <p:cNvPr id="36" name="Rounded Rectangle 35"/>
          <p:cNvSpPr/>
          <p:nvPr/>
        </p:nvSpPr>
        <p:spPr>
          <a:xfrm>
            <a:off x="5056632"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7" name="TextBox 36"/>
          <p:cNvSpPr txBox="1"/>
          <p:nvPr/>
        </p:nvSpPr>
        <p:spPr>
          <a:xfrm>
            <a:off x="5312664"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5</a:t>
            </a:r>
          </a:p>
        </p:txBody>
      </p:sp>
      <p:sp>
        <p:nvSpPr>
          <p:cNvPr id="38" name="TextBox 37"/>
          <p:cNvSpPr txBox="1"/>
          <p:nvPr/>
        </p:nvSpPr>
        <p:spPr>
          <a:xfrm>
            <a:off x="5312664"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Accessibility and admin</a:t>
            </a:r>
          </a:p>
        </p:txBody>
      </p:sp>
      <p:sp>
        <p:nvSpPr>
          <p:cNvPr id="39" name="TextBox 38"/>
          <p:cNvSpPr txBox="1"/>
          <p:nvPr/>
        </p:nvSpPr>
        <p:spPr>
          <a:xfrm>
            <a:off x="5312664"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Text-to-speech, font size, high contrast, simple navigation; admin and backup</a:t>
            </a:r>
          </a:p>
        </p:txBody>
      </p:sp>
      <p:sp>
        <p:nvSpPr>
          <p:cNvPr id="40" name="Rounded Rectangle 39"/>
          <p:cNvSpPr/>
          <p:nvPr/>
        </p:nvSpPr>
        <p:spPr>
          <a:xfrm>
            <a:off x="9290304"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1" name="TextBox 40"/>
          <p:cNvSpPr txBox="1"/>
          <p:nvPr/>
        </p:nvSpPr>
        <p:spPr>
          <a:xfrm>
            <a:off x="9546336"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6</a:t>
            </a:r>
          </a:p>
        </p:txBody>
      </p:sp>
      <p:sp>
        <p:nvSpPr>
          <p:cNvPr id="42" name="TextBox 41"/>
          <p:cNvSpPr txBox="1"/>
          <p:nvPr/>
        </p:nvSpPr>
        <p:spPr>
          <a:xfrm>
            <a:off x="9546336"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Testing and UAT</a:t>
            </a:r>
          </a:p>
        </p:txBody>
      </p:sp>
      <p:sp>
        <p:nvSpPr>
          <p:cNvPr id="43" name="TextBox 42"/>
          <p:cNvSpPr txBox="1"/>
          <p:nvPr/>
        </p:nvSpPr>
        <p:spPr>
          <a:xfrm>
            <a:off x="9546336"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Unit, integration and system testing; 1-week UAT; ISO/IEC 25010 evaluation</a:t>
            </a:r>
          </a:p>
        </p:txBody>
      </p:sp>
      <p:sp>
        <p:nvSpPr>
          <p:cNvPr id="44" name="Rounded Rectangle 43"/>
          <p:cNvSpPr/>
          <p:nvPr/>
        </p:nvSpPr>
        <p:spPr>
          <a:xfrm>
            <a:off x="13523976" y="4983479"/>
            <a:ext cx="393192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5" name="TextBox 44"/>
          <p:cNvSpPr txBox="1"/>
          <p:nvPr/>
        </p:nvSpPr>
        <p:spPr>
          <a:xfrm>
            <a:off x="13780008" y="5148071"/>
            <a:ext cx="3419856" cy="365760"/>
          </a:xfrm>
          <a:prstGeom prst="rect">
            <a:avLst/>
          </a:prstGeom>
          <a:noFill/>
        </p:spPr>
        <p:txBody>
          <a:bodyPr wrap="square" anchor="t" lIns="0" rIns="0" tIns="0" bIns="0">
            <a:spAutoFit/>
          </a:bodyPr>
          <a:lstStyle/>
          <a:p>
            <a:pPr algn="l">
              <a:spcAft>
                <a:spcPts val="800"/>
              </a:spcAft>
            </a:pPr>
            <a:r>
              <a:rPr sz="1700" b="1">
                <a:solidFill>
                  <a:srgbClr val="FFFFFF"/>
                </a:solidFill>
                <a:latin typeface="Glacial Indifference Bold"/>
                <a:ea typeface="Glacial Indifference Bold"/>
                <a:cs typeface="Glacial Indifference Bold"/>
              </a:rPr>
              <a:t>SCRUM EVENTS</a:t>
            </a:r>
          </a:p>
        </p:txBody>
      </p:sp>
      <p:sp>
        <p:nvSpPr>
          <p:cNvPr id="46" name="TextBox 45"/>
          <p:cNvSpPr txBox="1"/>
          <p:nvPr/>
        </p:nvSpPr>
        <p:spPr>
          <a:xfrm>
            <a:off x="13780008" y="5532119"/>
            <a:ext cx="3419856" cy="2103120"/>
          </a:xfrm>
          <a:prstGeom prst="rect">
            <a:avLst/>
          </a:prstGeom>
          <a:noFill/>
        </p:spPr>
        <p:txBody>
          <a:bodyPr wrap="square" anchor="t" lIns="0" rIns="0" tIns="0" bIns="0">
            <a:spAutoFit/>
          </a:bodyPr>
          <a:lstStyle/>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planning</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Daily scrum</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review with stakeholders</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retrospective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Working system outputs from the sprints</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pic>
        <p:nvPicPr>
          <p:cNvPr id="16" name="Picture 15" descr="login.jpg"/>
          <p:cNvPicPr>
            <a:picLocks noChangeAspect="1"/>
          </p:cNvPicPr>
          <p:nvPr/>
        </p:nvPicPr>
        <p:blipFill>
          <a:blip r:embed="rId13"/>
          <a:stretch>
            <a:fillRect/>
          </a:stretch>
        </p:blipFill>
        <p:spPr>
          <a:xfrm>
            <a:off x="822960" y="1874519"/>
            <a:ext cx="5120640" cy="2560320"/>
          </a:xfrm>
          <a:prstGeom prst="rect">
            <a:avLst/>
          </a:prstGeom>
          <a:ln w="12700">
            <a:solidFill>
              <a:srgbClr val="9B9A9D"/>
            </a:solidFill>
          </a:ln>
        </p:spPr>
      </p:pic>
      <p:sp>
        <p:nvSpPr>
          <p:cNvPr id="17" name="TextBox 16"/>
          <p:cNvSpPr txBox="1"/>
          <p:nvPr/>
        </p:nvSpPr>
        <p:spPr>
          <a:xfrm>
            <a:off x="82296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1  |  Login and authentication</a:t>
            </a:r>
          </a:p>
        </p:txBody>
      </p:sp>
      <p:pic>
        <p:nvPicPr>
          <p:cNvPr id="18" name="Picture 17" descr="lesson.jpg"/>
          <p:cNvPicPr>
            <a:picLocks noChangeAspect="1"/>
          </p:cNvPicPr>
          <p:nvPr/>
        </p:nvPicPr>
        <p:blipFill>
          <a:blip r:embed="rId14"/>
          <a:stretch>
            <a:fillRect/>
          </a:stretch>
        </p:blipFill>
        <p:spPr>
          <a:xfrm>
            <a:off x="6583680" y="1874519"/>
            <a:ext cx="5120640" cy="2560320"/>
          </a:xfrm>
          <a:prstGeom prst="rect">
            <a:avLst/>
          </a:prstGeom>
          <a:ln w="12700">
            <a:solidFill>
              <a:srgbClr val="9B9A9D"/>
            </a:solidFill>
          </a:ln>
        </p:spPr>
      </p:pic>
      <p:sp>
        <p:nvSpPr>
          <p:cNvPr id="19" name="TextBox 18"/>
          <p:cNvSpPr txBox="1"/>
          <p:nvPr/>
        </p:nvSpPr>
        <p:spPr>
          <a:xfrm>
            <a:off x="658368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2  |  Lesson upload</a:t>
            </a:r>
          </a:p>
        </p:txBody>
      </p:sp>
      <p:pic>
        <p:nvPicPr>
          <p:cNvPr id="20" name="Picture 19" descr="portal.jpg"/>
          <p:cNvPicPr>
            <a:picLocks noChangeAspect="1"/>
          </p:cNvPicPr>
          <p:nvPr/>
        </p:nvPicPr>
        <p:blipFill>
          <a:blip r:embed="rId15"/>
          <a:stretch>
            <a:fillRect/>
          </a:stretch>
        </p:blipFill>
        <p:spPr>
          <a:xfrm>
            <a:off x="12344400" y="1874519"/>
            <a:ext cx="5120640" cy="2560320"/>
          </a:xfrm>
          <a:prstGeom prst="rect">
            <a:avLst/>
          </a:prstGeom>
          <a:ln w="12700">
            <a:solidFill>
              <a:srgbClr val="9B9A9D"/>
            </a:solidFill>
          </a:ln>
        </p:spPr>
      </p:pic>
      <p:sp>
        <p:nvSpPr>
          <p:cNvPr id="21" name="TextBox 20"/>
          <p:cNvSpPr txBox="1"/>
          <p:nvPr/>
        </p:nvSpPr>
        <p:spPr>
          <a:xfrm>
            <a:off x="1234440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2  |  Student learning portal</a:t>
            </a:r>
          </a:p>
        </p:txBody>
      </p:sp>
      <p:pic>
        <p:nvPicPr>
          <p:cNvPr id="22" name="Picture 21" descr="progress.jpg"/>
          <p:cNvPicPr>
            <a:picLocks noChangeAspect="1"/>
          </p:cNvPicPr>
          <p:nvPr/>
        </p:nvPicPr>
        <p:blipFill>
          <a:blip r:embed="rId16"/>
          <a:stretch>
            <a:fillRect/>
          </a:stretch>
        </p:blipFill>
        <p:spPr>
          <a:xfrm>
            <a:off x="822960" y="4983479"/>
            <a:ext cx="5120640" cy="2560320"/>
          </a:xfrm>
          <a:prstGeom prst="rect">
            <a:avLst/>
          </a:prstGeom>
          <a:ln w="12700">
            <a:solidFill>
              <a:srgbClr val="9B9A9D"/>
            </a:solidFill>
          </a:ln>
        </p:spPr>
      </p:pic>
      <p:sp>
        <p:nvSpPr>
          <p:cNvPr id="23" name="TextBox 22"/>
          <p:cNvSpPr txBox="1"/>
          <p:nvPr/>
        </p:nvSpPr>
        <p:spPr>
          <a:xfrm>
            <a:off x="82296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4  |  Student progress tracking</a:t>
            </a:r>
          </a:p>
        </p:txBody>
      </p:sp>
      <p:pic>
        <p:nvPicPr>
          <p:cNvPr id="24" name="Picture 23" descr="messages.jpg"/>
          <p:cNvPicPr>
            <a:picLocks noChangeAspect="1"/>
          </p:cNvPicPr>
          <p:nvPr/>
        </p:nvPicPr>
        <p:blipFill>
          <a:blip r:embed="rId17"/>
          <a:stretch>
            <a:fillRect/>
          </a:stretch>
        </p:blipFill>
        <p:spPr>
          <a:xfrm>
            <a:off x="6583680" y="4983479"/>
            <a:ext cx="5120640" cy="2560320"/>
          </a:xfrm>
          <a:prstGeom prst="rect">
            <a:avLst/>
          </a:prstGeom>
          <a:ln w="12700">
            <a:solidFill>
              <a:srgbClr val="9B9A9D"/>
            </a:solidFill>
          </a:ln>
        </p:spPr>
      </p:pic>
      <p:sp>
        <p:nvSpPr>
          <p:cNvPr id="25" name="TextBox 24"/>
          <p:cNvSpPr txBox="1"/>
          <p:nvPr/>
        </p:nvSpPr>
        <p:spPr>
          <a:xfrm>
            <a:off x="658368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4  |  Parent communication</a:t>
            </a:r>
          </a:p>
        </p:txBody>
      </p:sp>
      <p:pic>
        <p:nvPicPr>
          <p:cNvPr id="26" name="Picture 25" descr="access.jpg"/>
          <p:cNvPicPr>
            <a:picLocks noChangeAspect="1"/>
          </p:cNvPicPr>
          <p:nvPr/>
        </p:nvPicPr>
        <p:blipFill>
          <a:blip r:embed="rId18"/>
          <a:stretch>
            <a:fillRect/>
          </a:stretch>
        </p:blipFill>
        <p:spPr>
          <a:xfrm>
            <a:off x="12344400" y="4983479"/>
            <a:ext cx="5120640" cy="2560320"/>
          </a:xfrm>
          <a:prstGeom prst="rect">
            <a:avLst/>
          </a:prstGeom>
          <a:ln w="12700">
            <a:solidFill>
              <a:srgbClr val="9B9A9D"/>
            </a:solidFill>
          </a:ln>
        </p:spPr>
      </p:pic>
      <p:sp>
        <p:nvSpPr>
          <p:cNvPr id="27" name="TextBox 26"/>
          <p:cNvSpPr txBox="1"/>
          <p:nvPr/>
        </p:nvSpPr>
        <p:spPr>
          <a:xfrm>
            <a:off x="1234440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ea typeface="Glacial Indifference Bold"/>
                <a:cs typeface="Glacial Indifference Bold"/>
              </a:rPr>
              <a:t>Sprint 5  |  Accessibility settings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1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Accessible, user-friendly platform designed</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54864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051560"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ea typeface="Glacial Indifference Bold"/>
                <a:cs typeface="Glacial Indifference Bold"/>
              </a:rPr>
              <a:t>54 / 54</a:t>
            </a:r>
          </a:p>
        </p:txBody>
      </p:sp>
      <p:sp>
        <p:nvSpPr>
          <p:cNvPr id="19" name="TextBox 18"/>
          <p:cNvSpPr txBox="1"/>
          <p:nvPr/>
        </p:nvSpPr>
        <p:spPr>
          <a:xfrm>
            <a:off x="1051560"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ea typeface="Glacial Indifference"/>
                <a:cs typeface="Glacial Indifference"/>
              </a:rPr>
              <a:t>functions passed unit testing across 9 modules</a:t>
            </a:r>
          </a:p>
        </p:txBody>
      </p:sp>
      <p:sp>
        <p:nvSpPr>
          <p:cNvPr id="20" name="Rounded Rectangle 19"/>
          <p:cNvSpPr/>
          <p:nvPr/>
        </p:nvSpPr>
        <p:spPr>
          <a:xfrm>
            <a:off x="504474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1" name="TextBox 20"/>
          <p:cNvSpPr txBox="1"/>
          <p:nvPr/>
        </p:nvSpPr>
        <p:spPr>
          <a:xfrm>
            <a:off x="5273344"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ea typeface="Glacial Indifference Bold"/>
                <a:cs typeface="Glacial Indifference Bold"/>
              </a:rPr>
              <a:t>12 / 12</a:t>
            </a:r>
          </a:p>
        </p:txBody>
      </p:sp>
      <p:sp>
        <p:nvSpPr>
          <p:cNvPr id="22" name="TextBox 21"/>
          <p:cNvSpPr txBox="1"/>
          <p:nvPr/>
        </p:nvSpPr>
        <p:spPr>
          <a:xfrm>
            <a:off x="5273344"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ea typeface="Glacial Indifference"/>
                <a:cs typeface="Glacial Indifference"/>
              </a:rPr>
              <a:t>integration scenarios passed</a:t>
            </a:r>
          </a:p>
        </p:txBody>
      </p:sp>
      <p:sp>
        <p:nvSpPr>
          <p:cNvPr id="23" name="Rounded Rectangle 22"/>
          <p:cNvSpPr/>
          <p:nvPr/>
        </p:nvSpPr>
        <p:spPr>
          <a:xfrm>
            <a:off x="9266529"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4" name="TextBox 23"/>
          <p:cNvSpPr txBox="1"/>
          <p:nvPr/>
        </p:nvSpPr>
        <p:spPr>
          <a:xfrm>
            <a:off x="9495129"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ea typeface="Glacial Indifference Bold"/>
                <a:cs typeface="Glacial Indifference Bold"/>
              </a:rPr>
              <a:t>4.18</a:t>
            </a:r>
          </a:p>
        </p:txBody>
      </p:sp>
      <p:sp>
        <p:nvSpPr>
          <p:cNvPr id="25" name="TextBox 24"/>
          <p:cNvSpPr txBox="1"/>
          <p:nvPr/>
        </p:nvSpPr>
        <p:spPr>
          <a:xfrm>
            <a:off x="9495129"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ea typeface="Glacial Indifference"/>
                <a:cs typeface="Glacial Indifference"/>
              </a:rPr>
              <a:t>accessibility rating from students and guardians (Agree)</a:t>
            </a:r>
          </a:p>
        </p:txBody>
      </p:sp>
      <p:sp>
        <p:nvSpPr>
          <p:cNvPr id="26" name="Rounded Rectangle 25"/>
          <p:cNvSpPr/>
          <p:nvPr/>
        </p:nvSpPr>
        <p:spPr>
          <a:xfrm>
            <a:off x="1348831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7" name="TextBox 26"/>
          <p:cNvSpPr txBox="1"/>
          <p:nvPr/>
        </p:nvSpPr>
        <p:spPr>
          <a:xfrm>
            <a:off x="13716914"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ea typeface="Glacial Indifference Bold"/>
                <a:cs typeface="Glacial Indifference Bold"/>
              </a:rPr>
              <a:t>4.14</a:t>
            </a:r>
          </a:p>
        </p:txBody>
      </p:sp>
      <p:sp>
        <p:nvSpPr>
          <p:cNvPr id="28" name="TextBox 27"/>
          <p:cNvSpPr txBox="1"/>
          <p:nvPr/>
        </p:nvSpPr>
        <p:spPr>
          <a:xfrm>
            <a:off x="13716914"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ea typeface="Glacial Indifference"/>
                <a:cs typeface="Glacial Indifference"/>
              </a:rPr>
              <a:t>accessibility rating from teachers and school staff (Agree)</a:t>
            </a:r>
          </a:p>
        </p:txBody>
      </p:sp>
      <p:sp>
        <p:nvSpPr>
          <p:cNvPr id="29" name="Rounded Rectangle 28"/>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0" name="TextBox 29"/>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31" name="TextBox 30"/>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ea typeface="Glacial Indifference"/>
                <a:cs typeface="Glacial Indifference"/>
              </a:rPr>
              <a:t>Minor defects, such as inconsistent validation messages, were fixed within each sprint. Adjustable text size and simple display scored 4.33 among students and guardians.</a:t>
            </a:r>
          </a:p>
        </p:txBody>
      </p:sp>
      <p:sp>
        <p:nvSpPr>
          <p:cNvPr id="32" name="Rounded Rectangle 31"/>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3" name="TextBox 32"/>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34" name="TextBox 33"/>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ea typeface="Glacial Indifference Bold"/>
                <a:cs typeface="Glacial Indifference Bold"/>
              </a:rPr>
              <a:t>The platform was successfully designed to be accessible and user-friendly, and its modules worked both individually and as one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2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System functionalities developed</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54864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6949440" cy="31546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097280" y="2377440"/>
            <a:ext cx="6400800" cy="2926080"/>
          </a:xfrm>
          <a:prstGeom prst="rect">
            <a:avLst/>
          </a:prstGeom>
          <a:noFill/>
        </p:spPr>
        <p:txBody>
          <a:bodyPr wrap="square" anchor="t" lIns="0" rIns="0" tIns="0" bIns="0">
            <a:spAutoFit/>
          </a:bodyPr>
          <a:lstStyle/>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User registration and account management</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Lesson upload and content management</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Student learning portal</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Activity and assessment management</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Progress tracking and reporting</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Parent communication and notification</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Accessibility features management</a:t>
            </a:r>
          </a:p>
          <a:p>
            <a:pPr algn="l" marL="347472" indent="-347472">
              <a:spcAft>
                <a:spcPts val="400"/>
              </a:spcAft>
              <a:buClr>
                <a:srgbClr val="EC6A27"/>
              </a:buClr>
              <a:buFont typeface="Arial"/>
              <a:buChar char="•"/>
            </a:pPr>
            <a:r>
              <a:rPr sz="1900" b="0">
                <a:solidFill>
                  <a:srgbClr val="1E1E1E"/>
                </a:solidFill>
                <a:latin typeface="Glacial Indifference"/>
                <a:ea typeface="Glacial Indifference"/>
                <a:cs typeface="Glacial Indifference"/>
              </a:rPr>
              <a:t>System administration and user management</a:t>
            </a:r>
          </a:p>
        </p:txBody>
      </p:sp>
      <p:sp>
        <p:nvSpPr>
          <p:cNvPr id="19" name="TextBox 18"/>
          <p:cNvSpPr txBox="1"/>
          <p:nvPr/>
        </p:nvSpPr>
        <p:spPr>
          <a:xfrm>
            <a:off x="8046720" y="1874519"/>
            <a:ext cx="941832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ea typeface="Glacial Indifference Bold"/>
                <a:cs typeface="Glacial Indifference Bold"/>
              </a:rPr>
              <a:t>Highest functionality items (weighted mean)</a:t>
            </a:r>
          </a:p>
        </p:txBody>
      </p:sp>
      <p:graphicFrame>
        <p:nvGraphicFramePr>
          <p:cNvPr id="20" name="Chart 19"/>
          <p:cNvGraphicFramePr>
            <a:graphicFrameLocks noGrp="1"/>
          </p:cNvGraphicFramePr>
          <p:nvPr/>
        </p:nvGraphicFramePr>
        <p:xfrm>
          <a:off x="8046720" y="2240280"/>
          <a:ext cx="9418320" cy="3200400"/>
        </p:xfrm>
        <a:graphic>
          <a:graphicData uri="http://schemas.openxmlformats.org/drawingml/2006/chart">
            <c:chart xmlns:c="http://schemas.openxmlformats.org/drawingml/2006/chart" r:id="rId13"/>
          </a:graphicData>
        </a:graphic>
      </p:graphicFrame>
      <p:sp>
        <p:nvSpPr>
          <p:cNvPr id="21" name="Rounded Rectangle 20"/>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3" name="TextBox 22"/>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ea typeface="Glacial Indifference"/>
                <a:cs typeface="Glacial Indifference"/>
              </a:rPr>
              <a:t>Functionality averaged 4.14 (Agree) among students and guardians and 4.27 (Strongly Agree) among teachers and staff.</a:t>
            </a:r>
          </a:p>
        </p:txBody>
      </p:sp>
      <p:sp>
        <p:nvSpPr>
          <p:cNvPr id="24" name="Rounded Rectangle 23"/>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6" name="TextBox 25"/>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ea typeface="Glacial Indifference Bold"/>
                <a:cs typeface="Glacial Indifference Bold"/>
              </a:rPr>
              <a:t>The core functions for teachers, students and parents were successfully implemented and seen as reliable and effective.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Evaluation by students, guardians and teachers</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73152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  (weighted mean, five-point Likert scale)</a:t>
            </a:r>
          </a:p>
        </p:txBody>
      </p:sp>
      <p:graphicFrame>
        <p:nvGraphicFramePr>
          <p:cNvPr id="17" name="Chart 16"/>
          <p:cNvGraphicFramePr>
            <a:graphicFrameLocks noGrp="1"/>
          </p:cNvGraphicFramePr>
          <p:nvPr/>
        </p:nvGraphicFramePr>
        <p:xfrm>
          <a:off x="822960" y="2194560"/>
          <a:ext cx="11247120" cy="3291840"/>
        </p:xfrm>
        <a:graphic>
          <a:graphicData uri="http://schemas.openxmlformats.org/drawingml/2006/chart">
            <c:chart xmlns:c="http://schemas.openxmlformats.org/drawingml/2006/chart" r:id="rId13"/>
          </a:graphicData>
        </a:graphic>
      </p:graphicFrame>
      <p:sp>
        <p:nvSpPr>
          <p:cNvPr id="18" name="Rounded Rectangle 17"/>
          <p:cNvSpPr/>
          <p:nvPr/>
        </p:nvSpPr>
        <p:spPr>
          <a:xfrm>
            <a:off x="12344400" y="219456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9" name="TextBox 18"/>
          <p:cNvSpPr txBox="1"/>
          <p:nvPr/>
        </p:nvSpPr>
        <p:spPr>
          <a:xfrm>
            <a:off x="12573000" y="2331720"/>
            <a:ext cx="4663440" cy="777240"/>
          </a:xfrm>
          <a:prstGeom prst="rect">
            <a:avLst/>
          </a:prstGeom>
          <a:noFill/>
        </p:spPr>
        <p:txBody>
          <a:bodyPr wrap="square" anchor="ctr" lIns="0" rIns="0" tIns="0" bIns="0">
            <a:spAutoFit/>
          </a:bodyPr>
          <a:lstStyle/>
          <a:p>
            <a:pPr algn="ctr">
              <a:spcAft>
                <a:spcPts val="0"/>
              </a:spcAft>
            </a:pPr>
            <a:r>
              <a:rPr sz="4400" b="1">
                <a:solidFill>
                  <a:srgbClr val="EC6A27"/>
                </a:solidFill>
                <a:latin typeface="Glacial Indifference Bold"/>
                <a:ea typeface="Glacial Indifference Bold"/>
                <a:cs typeface="Glacial Indifference Bold"/>
              </a:rPr>
              <a:t>4.19</a:t>
            </a:r>
          </a:p>
        </p:txBody>
      </p:sp>
      <p:sp>
        <p:nvSpPr>
          <p:cNvPr id="20" name="TextBox 19"/>
          <p:cNvSpPr txBox="1"/>
          <p:nvPr/>
        </p:nvSpPr>
        <p:spPr>
          <a:xfrm>
            <a:off x="12573000" y="3049524"/>
            <a:ext cx="4663440" cy="65288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ea typeface="Glacial Indifference"/>
                <a:cs typeface="Glacial Indifference"/>
              </a:rPr>
              <a:t>Grand weighted mean (Agree)</a:t>
            </a:r>
          </a:p>
        </p:txBody>
      </p:sp>
      <p:sp>
        <p:nvSpPr>
          <p:cNvPr id="21" name="Rounded Rectangle 20"/>
          <p:cNvSpPr/>
          <p:nvPr/>
        </p:nvSpPr>
        <p:spPr>
          <a:xfrm>
            <a:off x="12344400" y="393192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2573000" y="4069080"/>
            <a:ext cx="4663440" cy="777240"/>
          </a:xfrm>
          <a:prstGeom prst="rect">
            <a:avLst/>
          </a:prstGeom>
          <a:noFill/>
        </p:spPr>
        <p:txBody>
          <a:bodyPr wrap="square" anchor="ctr" lIns="0" rIns="0" tIns="0" bIns="0">
            <a:spAutoFit/>
          </a:bodyPr>
          <a:lstStyle/>
          <a:p>
            <a:pPr algn="ctr">
              <a:spcAft>
                <a:spcPts val="0"/>
              </a:spcAft>
            </a:pPr>
            <a:r>
              <a:rPr sz="4400" b="1">
                <a:solidFill>
                  <a:srgbClr val="EC6A27"/>
                </a:solidFill>
                <a:latin typeface="Glacial Indifference Bold"/>
                <a:ea typeface="Glacial Indifference Bold"/>
                <a:cs typeface="Glacial Indifference Bold"/>
              </a:rPr>
              <a:t>4.25</a:t>
            </a:r>
          </a:p>
        </p:txBody>
      </p:sp>
      <p:sp>
        <p:nvSpPr>
          <p:cNvPr id="23" name="TextBox 22"/>
          <p:cNvSpPr txBox="1"/>
          <p:nvPr/>
        </p:nvSpPr>
        <p:spPr>
          <a:xfrm>
            <a:off x="12573000" y="4786883"/>
            <a:ext cx="4663440" cy="65288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ea typeface="Glacial Indifference"/>
                <a:cs typeface="Glacial Indifference"/>
              </a:rPr>
              <a:t>Highest: user satisfaction (Strongly Agree)</a:t>
            </a:r>
          </a:p>
        </p:txBody>
      </p:sp>
      <p:sp>
        <p:nvSpPr>
          <p:cNvPr id="24" name="Rounded Rectangle 23"/>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ea typeface="Glacial Indifference"/>
                <a:cs typeface="Glacial Indifference"/>
              </a:rPr>
              <a:t>Lowest items were device use (3.75, teachers) and slower internet (4.03, guardians). These point to device and connectivity limits, not core defects.</a:t>
            </a:r>
          </a:p>
        </p:txBody>
      </p:sp>
      <p:sp>
        <p:nvSpPr>
          <p:cNvPr id="27" name="Rounded Rectangle 26"/>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8" name="TextBox 27"/>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ea typeface="Glacial Indifference Bold"/>
                <a:cs typeface="Glacial Indifference Bold"/>
              </a:rPr>
              <a:t>End users found the platform generally acceptable, with all ratings in the Agree to Strongly Agree range.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Evaluation by IT experts (ISO/IEC 25010:2023)</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82296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  (n = 5, weighted mean)</a:t>
            </a:r>
          </a:p>
        </p:txBody>
      </p:sp>
      <p:graphicFrame>
        <p:nvGraphicFramePr>
          <p:cNvPr id="17" name="Chart 16"/>
          <p:cNvGraphicFramePr>
            <a:graphicFrameLocks noGrp="1"/>
          </p:cNvGraphicFramePr>
          <p:nvPr/>
        </p:nvGraphicFramePr>
        <p:xfrm>
          <a:off x="822960" y="2194560"/>
          <a:ext cx="8778240" cy="5577840"/>
        </p:xfrm>
        <a:graphic>
          <a:graphicData uri="http://schemas.openxmlformats.org/drawingml/2006/chart">
            <c:chart xmlns:c="http://schemas.openxmlformats.org/drawingml/2006/chart" r:id="rId13"/>
          </a:graphicData>
        </a:graphic>
      </p:graphicFrame>
      <p:sp>
        <p:nvSpPr>
          <p:cNvPr id="18" name="Rounded Rectangle 17"/>
          <p:cNvSpPr/>
          <p:nvPr/>
        </p:nvSpPr>
        <p:spPr>
          <a:xfrm>
            <a:off x="987552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9" name="TextBox 18"/>
          <p:cNvSpPr txBox="1"/>
          <p:nvPr/>
        </p:nvSpPr>
        <p:spPr>
          <a:xfrm>
            <a:off x="10104120" y="2331720"/>
            <a:ext cx="3154680" cy="868680"/>
          </a:xfrm>
          <a:prstGeom prst="rect">
            <a:avLst/>
          </a:prstGeom>
          <a:noFill/>
        </p:spPr>
        <p:txBody>
          <a:bodyPr wrap="square" anchor="ctr" lIns="0" rIns="0" tIns="0" bIns="0">
            <a:spAutoFit/>
          </a:bodyPr>
          <a:lstStyle/>
          <a:p>
            <a:pPr algn="ctr">
              <a:spcAft>
                <a:spcPts val="0"/>
              </a:spcAft>
            </a:pPr>
            <a:r>
              <a:rPr sz="4600" b="1">
                <a:solidFill>
                  <a:srgbClr val="EC6A27"/>
                </a:solidFill>
                <a:latin typeface="Glacial Indifference Bold"/>
                <a:ea typeface="Glacial Indifference Bold"/>
                <a:cs typeface="Glacial Indifference Bold"/>
              </a:rPr>
              <a:t>4.10</a:t>
            </a:r>
          </a:p>
        </p:txBody>
      </p:sp>
      <p:sp>
        <p:nvSpPr>
          <p:cNvPr id="20" name="TextBox 19"/>
          <p:cNvSpPr txBox="1"/>
          <p:nvPr/>
        </p:nvSpPr>
        <p:spPr>
          <a:xfrm>
            <a:off x="10104120" y="3150108"/>
            <a:ext cx="3154680" cy="72969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ea typeface="Glacial Indifference"/>
                <a:cs typeface="Glacial Indifference"/>
              </a:rPr>
              <a:t>Overall weighted mean (Agree)</a:t>
            </a:r>
          </a:p>
        </p:txBody>
      </p:sp>
      <p:sp>
        <p:nvSpPr>
          <p:cNvPr id="21" name="Rounded Rectangle 20"/>
          <p:cNvSpPr/>
          <p:nvPr/>
        </p:nvSpPr>
        <p:spPr>
          <a:xfrm>
            <a:off x="1385316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4081760" y="2331720"/>
            <a:ext cx="3154680" cy="868680"/>
          </a:xfrm>
          <a:prstGeom prst="rect">
            <a:avLst/>
          </a:prstGeom>
          <a:noFill/>
        </p:spPr>
        <p:txBody>
          <a:bodyPr wrap="square" anchor="ctr" lIns="0" rIns="0" tIns="0" bIns="0">
            <a:spAutoFit/>
          </a:bodyPr>
          <a:lstStyle/>
          <a:p>
            <a:pPr algn="ctr">
              <a:spcAft>
                <a:spcPts val="0"/>
              </a:spcAft>
            </a:pPr>
            <a:r>
              <a:rPr sz="4600" b="1">
                <a:solidFill>
                  <a:srgbClr val="EC6A27"/>
                </a:solidFill>
                <a:latin typeface="Glacial Indifference Bold"/>
                <a:ea typeface="Glacial Indifference Bold"/>
                <a:cs typeface="Glacial Indifference Bold"/>
              </a:rPr>
              <a:t>4.20</a:t>
            </a:r>
          </a:p>
        </p:txBody>
      </p:sp>
      <p:sp>
        <p:nvSpPr>
          <p:cNvPr id="23" name="TextBox 22"/>
          <p:cNvSpPr txBox="1"/>
          <p:nvPr/>
        </p:nvSpPr>
        <p:spPr>
          <a:xfrm>
            <a:off x="14081760" y="3150108"/>
            <a:ext cx="3154680" cy="72969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ea typeface="Glacial Indifference"/>
                <a:cs typeface="Glacial Indifference"/>
              </a:rPr>
              <a:t>Security and portability (Strongly Agree)</a:t>
            </a:r>
          </a:p>
        </p:txBody>
      </p:sp>
      <p:sp>
        <p:nvSpPr>
          <p:cNvPr id="24" name="Rounded Rectangle 23"/>
          <p:cNvSpPr/>
          <p:nvPr/>
        </p:nvSpPr>
        <p:spPr>
          <a:xfrm>
            <a:off x="9875520" y="4160520"/>
            <a:ext cx="7589520" cy="1691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10149840" y="4251960"/>
            <a:ext cx="7040880" cy="36576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0149840" y="4663440"/>
            <a:ext cx="7040880" cy="1188720"/>
          </a:xfrm>
          <a:prstGeom prst="rect">
            <a:avLst/>
          </a:prstGeom>
          <a:noFill/>
        </p:spPr>
        <p:txBody>
          <a:bodyPr wrap="square" anchor="t" lIns="0" rIns="0" tIns="0" bIns="0">
            <a:spAutoFit/>
          </a:bodyPr>
          <a:lstStyle/>
          <a:p>
            <a:pPr algn="l">
              <a:spcAft>
                <a:spcPts val="0"/>
              </a:spcAft>
            </a:pPr>
            <a:r>
              <a:rPr sz="2000" b="0">
                <a:solidFill>
                  <a:srgbClr val="1E1E1E"/>
                </a:solidFill>
                <a:latin typeface="Glacial Indifference"/>
                <a:ea typeface="Glacial Indifference"/>
                <a:cs typeface="Glacial Indifference"/>
              </a:rPr>
              <a:t>Experts rated every quality characteristic Agree or higher; function suitability was lowest at 3.95.</a:t>
            </a:r>
          </a:p>
        </p:txBody>
      </p:sp>
      <p:sp>
        <p:nvSpPr>
          <p:cNvPr id="27" name="Rounded Rectangle 26"/>
          <p:cNvSpPr/>
          <p:nvPr/>
        </p:nvSpPr>
        <p:spPr>
          <a:xfrm>
            <a:off x="9875520" y="6035040"/>
            <a:ext cx="7589520" cy="173736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8" name="TextBox 27"/>
          <p:cNvSpPr txBox="1"/>
          <p:nvPr/>
        </p:nvSpPr>
        <p:spPr>
          <a:xfrm>
            <a:off x="10149840" y="6126480"/>
            <a:ext cx="7040880" cy="36576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10149840" y="6537960"/>
            <a:ext cx="7040880" cy="1188720"/>
          </a:xfrm>
          <a:prstGeom prst="rect">
            <a:avLst/>
          </a:prstGeom>
          <a:noFill/>
        </p:spPr>
        <p:txBody>
          <a:bodyPr wrap="square" anchor="t" lIns="0" rIns="0" tIns="0" bIns="0">
            <a:spAutoFit/>
          </a:bodyPr>
          <a:lstStyle/>
          <a:p>
            <a:pPr algn="l">
              <a:spcAft>
                <a:spcPts val="0"/>
              </a:spcAft>
            </a:pPr>
            <a:r>
              <a:rPr sz="2000" b="1">
                <a:solidFill>
                  <a:srgbClr val="FFFFFF"/>
                </a:solidFill>
                <a:latin typeface="Glacial Indifference Bold"/>
                <a:ea typeface="Glacial Indifference Bold"/>
                <a:cs typeface="Glacial Indifference Bold"/>
              </a:rPr>
              <a:t>The platform is acceptable to users (4.19) and technically sound (4.10). The general objective was met.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RECOMMENDATIONS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Based on what the results showed</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09728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18" name="TextBox 17"/>
          <p:cNvSpPr txBox="1"/>
          <p:nvPr/>
        </p:nvSpPr>
        <p:spPr>
          <a:xfrm>
            <a:off x="109728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Slower internet rated lowest by guardians (4.03)</a:t>
            </a:r>
          </a:p>
        </p:txBody>
      </p:sp>
      <p:sp>
        <p:nvSpPr>
          <p:cNvPr id="19" name="TextBox 18"/>
          <p:cNvSpPr txBox="1"/>
          <p:nvPr/>
        </p:nvSpPr>
        <p:spPr>
          <a:xfrm>
            <a:off x="109728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0" name="TextBox 19"/>
          <p:cNvSpPr txBox="1"/>
          <p:nvPr/>
        </p:nvSpPr>
        <p:spPr>
          <a:xfrm>
            <a:off x="109728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ea typeface="Glacial Indifference Bold"/>
                <a:cs typeface="Glacial Indifference Bold"/>
              </a:rPr>
              <a:t>Optimize the platform for slow connections</a:t>
            </a:r>
          </a:p>
        </p:txBody>
      </p:sp>
      <p:sp>
        <p:nvSpPr>
          <p:cNvPr id="21" name="Rounded Rectangle 20"/>
          <p:cNvSpPr/>
          <p:nvPr/>
        </p:nvSpPr>
        <p:spPr>
          <a:xfrm>
            <a:off x="644652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672084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3" name="TextBox 22"/>
          <p:cNvSpPr txBox="1"/>
          <p:nvPr/>
        </p:nvSpPr>
        <p:spPr>
          <a:xfrm>
            <a:off x="672084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Device use rated lowest by teachers (3.75)</a:t>
            </a:r>
          </a:p>
        </p:txBody>
      </p:sp>
      <p:sp>
        <p:nvSpPr>
          <p:cNvPr id="24" name="TextBox 23"/>
          <p:cNvSpPr txBox="1"/>
          <p:nvPr/>
        </p:nvSpPr>
        <p:spPr>
          <a:xfrm>
            <a:off x="672084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5" name="TextBox 24"/>
          <p:cNvSpPr txBox="1"/>
          <p:nvPr/>
        </p:nvSpPr>
        <p:spPr>
          <a:xfrm>
            <a:off x="672084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ea typeface="Glacial Indifference Bold"/>
                <a:cs typeface="Glacial Indifference Bold"/>
              </a:rPr>
              <a:t>Improve the experience on tablets and mobile phones</a:t>
            </a:r>
          </a:p>
        </p:txBody>
      </p:sp>
      <p:sp>
        <p:nvSpPr>
          <p:cNvPr id="26" name="Rounded Rectangle 25"/>
          <p:cNvSpPr/>
          <p:nvPr/>
        </p:nvSpPr>
        <p:spPr>
          <a:xfrm>
            <a:off x="1207008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7" name="TextBox 26"/>
          <p:cNvSpPr txBox="1"/>
          <p:nvPr/>
        </p:nvSpPr>
        <p:spPr>
          <a:xfrm>
            <a:off x="1234440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8" name="TextBox 27"/>
          <p:cNvSpPr txBox="1"/>
          <p:nvPr/>
        </p:nvSpPr>
        <p:spPr>
          <a:xfrm>
            <a:off x="1234440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Teacher satisfaction was the lowest criterion (4.05)</a:t>
            </a:r>
          </a:p>
        </p:txBody>
      </p:sp>
      <p:sp>
        <p:nvSpPr>
          <p:cNvPr id="29" name="TextBox 28"/>
          <p:cNvSpPr txBox="1"/>
          <p:nvPr/>
        </p:nvSpPr>
        <p:spPr>
          <a:xfrm>
            <a:off x="1234440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0" name="TextBox 29"/>
          <p:cNvSpPr txBox="1"/>
          <p:nvPr/>
        </p:nvSpPr>
        <p:spPr>
          <a:xfrm>
            <a:off x="1234440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ea typeface="Glacial Indifference Bold"/>
                <a:cs typeface="Glacial Indifference Bold"/>
              </a:rPr>
              <a:t>Gather teacher feedback and add teacher training and support</a:t>
            </a:r>
          </a:p>
        </p:txBody>
      </p:sp>
      <p:sp>
        <p:nvSpPr>
          <p:cNvPr id="31" name="Rounded Rectangle 30"/>
          <p:cNvSpPr/>
          <p:nvPr/>
        </p:nvSpPr>
        <p:spPr>
          <a:xfrm>
            <a:off x="82296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2" name="TextBox 31"/>
          <p:cNvSpPr txBox="1"/>
          <p:nvPr/>
        </p:nvSpPr>
        <p:spPr>
          <a:xfrm>
            <a:off x="1097280" y="5166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3" name="TextBox 32"/>
          <p:cNvSpPr txBox="1"/>
          <p:nvPr/>
        </p:nvSpPr>
        <p:spPr>
          <a:xfrm>
            <a:off x="1097280" y="5486399"/>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Function suitability was the lowest for IT experts (3.95)</a:t>
            </a:r>
          </a:p>
        </p:txBody>
      </p:sp>
      <p:sp>
        <p:nvSpPr>
          <p:cNvPr id="34" name="TextBox 33"/>
          <p:cNvSpPr txBox="1"/>
          <p:nvPr/>
        </p:nvSpPr>
        <p:spPr>
          <a:xfrm>
            <a:off x="1097280" y="6309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5" name="TextBox 34"/>
          <p:cNvSpPr txBox="1"/>
          <p:nvPr/>
        </p:nvSpPr>
        <p:spPr>
          <a:xfrm>
            <a:off x="1097280" y="6629399"/>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ea typeface="Glacial Indifference Bold"/>
                <a:cs typeface="Glacial Indifference Bold"/>
              </a:rPr>
              <a:t>Keep refining features with further testing</a:t>
            </a:r>
          </a:p>
        </p:txBody>
      </p:sp>
      <p:sp>
        <p:nvSpPr>
          <p:cNvPr id="36" name="Rounded Rectangle 35"/>
          <p:cNvSpPr/>
          <p:nvPr/>
        </p:nvSpPr>
        <p:spPr>
          <a:xfrm>
            <a:off x="644652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7" name="TextBox 36"/>
          <p:cNvSpPr txBox="1"/>
          <p:nvPr/>
        </p:nvSpPr>
        <p:spPr>
          <a:xfrm>
            <a:off x="6720840" y="5166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8" name="TextBox 37"/>
          <p:cNvSpPr txBox="1"/>
          <p:nvPr/>
        </p:nvSpPr>
        <p:spPr>
          <a:xfrm>
            <a:off x="6720840" y="5486399"/>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ea typeface="Glacial Indifference"/>
                <a:cs typeface="Glacial Indifference"/>
              </a:rPr>
              <a:t>Study covered one school and one research period</a:t>
            </a:r>
          </a:p>
        </p:txBody>
      </p:sp>
      <p:sp>
        <p:nvSpPr>
          <p:cNvPr id="39" name="TextBox 38"/>
          <p:cNvSpPr txBox="1"/>
          <p:nvPr/>
        </p:nvSpPr>
        <p:spPr>
          <a:xfrm>
            <a:off x="6720840" y="6309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40" name="TextBox 39"/>
          <p:cNvSpPr txBox="1"/>
          <p:nvPr/>
        </p:nvSpPr>
        <p:spPr>
          <a:xfrm>
            <a:off x="6720840" y="6629399"/>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ea typeface="Glacial Indifference Bold"/>
                <a:cs typeface="Glacial Indifference Bold"/>
              </a:rPr>
              <a:t>Future studies: other schools and long-term learning effects</a:t>
            </a:r>
          </a:p>
        </p:txBody>
      </p:sp>
      <p:sp>
        <p:nvSpPr>
          <p:cNvPr id="41" name="Rounded Rectangle 40"/>
          <p:cNvSpPr/>
          <p:nvPr/>
        </p:nvSpPr>
        <p:spPr>
          <a:xfrm>
            <a:off x="12070080" y="4983479"/>
            <a:ext cx="534924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0"/>
              </a:spcAft>
            </a:pPr>
            <a:r>
              <a:rPr sz="2100" b="1">
                <a:solidFill>
                  <a:srgbClr val="FFFFFF"/>
                </a:solidFill>
                <a:latin typeface="Glacial Indifference Bold"/>
                <a:ea typeface="Glacial Indifference Bold"/>
                <a:cs typeface="Glacial Indifference Bold"/>
              </a:rPr>
              <a:t>Keep the platform as a supplement to teachers, not a replacement.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1097280" y="2377440"/>
            <a:ext cx="16093440" cy="1828800"/>
          </a:xfrm>
          <a:prstGeom prst="rect">
            <a:avLst/>
          </a:prstGeom>
          <a:noFill/>
        </p:spPr>
        <p:txBody>
          <a:bodyPr wrap="square" anchor="ctr" lIns="0" rIns="0" tIns="0" bIns="0">
            <a:spAutoFit/>
          </a:bodyPr>
          <a:lstStyle/>
          <a:p>
            <a:pPr algn="ctr">
              <a:spcAft>
                <a:spcPts val="800"/>
              </a:spcAft>
            </a:pPr>
            <a:r>
              <a:rPr sz="9600" b="1">
                <a:solidFill>
                  <a:srgbClr val="1E1E1E"/>
                </a:solidFill>
                <a:latin typeface="Glacial Indifference Bold"/>
                <a:ea typeface="Glacial Indifference Bold"/>
                <a:cs typeface="Glacial Indifference Bold"/>
              </a:rPr>
              <a:t>THANK YOU</a:t>
            </a:r>
          </a:p>
        </p:txBody>
      </p:sp>
      <p:sp>
        <p:nvSpPr>
          <p:cNvPr id="14" name="TextBox 13"/>
          <p:cNvSpPr txBox="1"/>
          <p:nvPr/>
        </p:nvSpPr>
        <p:spPr>
          <a:xfrm>
            <a:off x="1097280" y="4480560"/>
            <a:ext cx="16093440" cy="914400"/>
          </a:xfrm>
          <a:prstGeom prst="rect">
            <a:avLst/>
          </a:prstGeom>
          <a:noFill/>
        </p:spPr>
        <p:txBody>
          <a:bodyPr wrap="square" anchor="t" lIns="0" rIns="0" tIns="0" bIns="0">
            <a:spAutoFit/>
          </a:bodyPr>
          <a:lstStyle/>
          <a:p>
            <a:pPr algn="ctr">
              <a:spcAft>
                <a:spcPts val="800"/>
              </a:spcAft>
            </a:pPr>
            <a:r>
              <a:rPr sz="3400" b="0">
                <a:solidFill>
                  <a:srgbClr val="4A4A4A"/>
                </a:solidFill>
                <a:latin typeface="Glacial Indifference"/>
                <a:ea typeface="Glacial Indifference"/>
                <a:cs typeface="Glacial Indifference"/>
              </a:rPr>
              <a:t>We welcome your questions and suggestions.</a:t>
            </a:r>
          </a:p>
        </p:txBody>
      </p:sp>
      <p:sp>
        <p:nvSpPr>
          <p:cNvPr id="15" name="TextBox 14"/>
          <p:cNvSpPr txBox="1"/>
          <p:nvPr/>
        </p:nvSpPr>
        <p:spPr>
          <a:xfrm>
            <a:off x="1097280" y="5852160"/>
            <a:ext cx="16093440" cy="1097280"/>
          </a:xfrm>
          <a:prstGeom prst="rect">
            <a:avLst/>
          </a:prstGeom>
          <a:noFill/>
        </p:spPr>
        <p:txBody>
          <a:bodyPr wrap="square" anchor="t" lIns="0" rIns="0" tIns="0" bIns="0">
            <a:spAutoFit/>
          </a:bodyPr>
          <a:lstStyle/>
          <a:p>
            <a:pPr algn="ctr">
              <a:spcAft>
                <a:spcPts val="800"/>
              </a:spcAft>
            </a:pPr>
            <a:r>
              <a:rPr sz="2200" b="0">
                <a:solidFill>
                  <a:srgbClr val="4A4A4A"/>
                </a:solidFill>
                <a:latin typeface="Glacial Indifference"/>
                <a:ea typeface="Glacial Indifference"/>
                <a:cs typeface="Glacial Indifference"/>
              </a:rPr>
              <a:t>Escarez, Kurt Ronel B.  |  Onda, Kurby Dane B.  |  Parao, Eliseo Evangelista Jr.  |  Quintana, Felipe A. Jr.</a:t>
            </a:r>
          </a:p>
        </p:txBody>
      </p:sp>
      <p:sp>
        <p:nvSpPr>
          <p:cNvPr id="16" name="TextBox 15"/>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7</Words>
  <Application>Microsoft Office PowerPoint</Application>
  <PresentationFormat>Custom</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Glacial Indifference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pnc.edu.ph</dc:title>
  <dc:creator>GIMA</dc:creator>
  <cp:lastModifiedBy>GIMA MONTECILLO</cp:lastModifiedBy>
  <cp:revision>3</cp:revision>
  <dcterms:created xsi:type="dcterms:W3CDTF">2006-08-16T00:00:00Z</dcterms:created>
  <dcterms:modified xsi:type="dcterms:W3CDTF">2026-04-11T04:54:18Z</dcterms:modified>
  <dc:identifier>DAHGg8uSddU</dc:identifier>
</cp:coreProperties>
</file>
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Glacial Indifference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Respondents</c:v>
                </c:pt>
              </c:strCache>
            </c:strRef>
          </c:tx>
          <c:spPr>
            <a:solidFill>
              <a:srgbClr val="EC6A27"/>
            </a:solidFill>
          </c:spPr>
          <c:invertIfNegative val="0"/>
          <c:dLbls>
            <c:spPr>
              <a:noFill/>
              <a:ln>
                <a:noFill/>
              </a:ln>
              <a:effectLst/>
            </c:spPr>
            <c:txPr>
              <a:bodyPr/>
              <a:lstStyle/>
              <a:p>
                <a:pPr>
                  <a:defRPr sz="18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SNED students / parents</c:v>
                </c:pt>
                <c:pt idx="1">
                  <c:v>SNED teachers</c:v>
                </c:pt>
                <c:pt idx="2">
                  <c:v>IT experts</c:v>
                </c:pt>
                <c:pt idx="3">
                  <c:v>Teacher coordinator</c:v>
                </c:pt>
                <c:pt idx="4">
                  <c:v>School principal</c:v>
                </c:pt>
              </c:strCache>
            </c:strRef>
          </c:cat>
          <c:val>
            <c:numRef>
              <c:f>Sheet1!$B$2:$B$6</c:f>
              <c:numCache>
                <c:formatCode>General</c:formatCode>
                <c:ptCount val="5"/>
                <c:pt idx="0">
                  <c:v>40</c:v>
                </c:pt>
                <c:pt idx="1">
                  <c:v>15</c:v>
                </c:pt>
                <c:pt idx="2">
                  <c:v>5</c:v>
                </c:pt>
                <c:pt idx="3">
                  <c:v>1</c:v>
                </c:pt>
                <c:pt idx="4">
                  <c:v>1</c:v>
                </c:pt>
              </c:numCache>
            </c:numRef>
          </c:val>
          <c:extLst>
            <c:ext xmlns:c16="http://schemas.microsoft.com/office/drawing/2014/chart" uri="{C3380CC4-5D6E-409C-BE32-E72D297353CC}">
              <c16:uniqueId val="{00000000-E754-4483-AF2F-57BBBE717D4F}"/>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9B9A9D"/>
            </a:solidFill>
          </a:ln>
        </c:spPr>
        <c:txPr>
          <a:bodyPr/>
          <a:lstStyle/>
          <a:p>
            <a:pPr>
              <a:defRPr sz="1600"/>
            </a:pPr>
            <a:endParaRPr lang="en-US"/>
          </a:p>
        </c:txPr>
        <c:crossAx val="-2113994440"/>
        <c:crosses val="autoZero"/>
        <c:auto val="1"/>
        <c:lblAlgn val="ctr"/>
        <c:lblOffset val="100"/>
        <c:noMultiLvlLbl val="0"/>
      </c:catAx>
      <c:valAx>
        <c:axId val="-2113994440"/>
        <c:scaling>
          <c:orientation val="minMax"/>
          <c:max val="50"/>
          <c:min val="0"/>
        </c:scaling>
        <c:delete val="1"/>
        <c:axPos val="t"/>
        <c:majorGridlines>
          <c:spPr>
            <a:ln>
              <a:solidFill>
                <a:srgbClr val="DDDDDD"/>
              </a:solidFill>
            </a:ln>
          </c:spPr>
        </c:majorGridlines>
        <c:numFmt formatCode="General" sourceLinked="1"/>
        <c:majorTickMark val="out"/>
        <c:minorTickMark val="none"/>
        <c:tickLblPos val="nextTo"/>
        <c:crossAx val="-2068027336"/>
        <c:crosses val="autoZero"/>
        <c:crossBetween val="between"/>
        <c:majorUnit val="10"/>
      </c:valAx>
    </c:plotArea>
    <c:plotVisOnly val="1"/>
    <c:dispBlanksAs val="gap"/>
    <c:showDLblsOverMax val="1"/>
  </c:chart>
  <c:txPr>
    <a:bodyPr/>
    <a:lstStyle/>
    <a:p>
      <a:pPr>
        <a:defRPr sz="1600">
          <a:solidFill>
            <a:srgbClr val="4A4A4A"/>
          </a:solidFill>
          <a:latin typeface="Glacial Indifference"/>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Weighted mean</c:v>
                </c:pt>
              </c:strCache>
            </c:strRef>
          </c:tx>
          <c:spPr>
            <a:solidFill>
              <a:srgbClr val="EC6A27"/>
            </a:solidFill>
          </c:spPr>
          <c:invertIfNegative val="0"/>
          <c:dLbls>
            <c:numFmt formatCode="0.00" sourceLinked="0"/>
            <c:spPr>
              <a:noFill/>
              <a:ln>
                <a:noFill/>
              </a:ln>
              <a:effectLst/>
            </c:spPr>
            <c:txPr>
              <a:bodyPr/>
              <a:lstStyle/>
              <a:p>
                <a:pPr>
                  <a:defRPr sz="1600" b="1">
                    <a:solidFill>
                      <a:srgbClr val="1E1E1E"/>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Adjust accessibility settings (Teachers)</c:v>
                </c:pt>
                <c:pt idx="1">
                  <c:v>Accurate progress reports (Teachers)</c:v>
                </c:pt>
                <c:pt idx="2">
                  <c:v>Timely notifications (Students / Guardians)</c:v>
                </c:pt>
                <c:pt idx="3">
                  <c:v>View child's progress (Students / Guardians)</c:v>
                </c:pt>
              </c:strCache>
            </c:strRef>
          </c:cat>
          <c:val>
            <c:numRef>
              <c:f>Sheet1!$B$2:$B$5</c:f>
              <c:numCache>
                <c:formatCode>General</c:formatCode>
                <c:ptCount val="4"/>
                <c:pt idx="0">
                  <c:v>4.4400000000000004</c:v>
                </c:pt>
                <c:pt idx="1">
                  <c:v>4.33</c:v>
                </c:pt>
                <c:pt idx="2">
                  <c:v>4.2</c:v>
                </c:pt>
                <c:pt idx="3">
                  <c:v>4.08</c:v>
                </c:pt>
              </c:numCache>
            </c:numRef>
          </c:val>
          <c:extLst>
            <c:ext xmlns:c16="http://schemas.microsoft.com/office/drawing/2014/chart" uri="{C3380CC4-5D6E-409C-BE32-E72D297353CC}">
              <c16:uniqueId val="{00000000-FBAC-417E-A3E2-FBB194E67811}"/>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9B9A9D"/>
            </a:solidFill>
          </a:ln>
        </c:spPr>
        <c:txPr>
          <a:bodyPr/>
          <a:lstStyle/>
          <a:p>
            <a:pPr>
              <a:defRPr sz="1600"/>
            </a:pPr>
            <a:endParaRPr lang="en-US"/>
          </a:p>
        </c:txPr>
        <c:crossAx val="-2113994440"/>
        <c:crosses val="autoZero"/>
        <c:auto val="1"/>
        <c:lblAlgn val="ctr"/>
        <c:lblOffset val="100"/>
        <c:noMultiLvlLbl val="0"/>
      </c:catAx>
      <c:valAx>
        <c:axId val="-2113994440"/>
        <c:scaling>
          <c:orientation val="minMax"/>
          <c:max val="5"/>
          <c:min val="0"/>
        </c:scaling>
        <c:delete val="1"/>
        <c:axPos val="t"/>
        <c:majorGridlines>
          <c:spPr>
            <a:ln>
              <a:solidFill>
                <a:srgbClr val="DDDDDD"/>
              </a:solidFill>
            </a:ln>
          </c:spPr>
        </c:majorGridlines>
        <c:numFmt formatCode="General" sourceLinked="1"/>
        <c:majorTickMark val="out"/>
        <c:minorTickMark val="none"/>
        <c:tickLblPos val="nextTo"/>
        <c:crossAx val="-2068027336"/>
        <c:crosses val="autoZero"/>
        <c:crossBetween val="between"/>
        <c:majorUnit val="1"/>
      </c:valAx>
    </c:plotArea>
    <c:plotVisOnly val="1"/>
    <c:dispBlanksAs val="gap"/>
    <c:showDLblsOverMax val="1"/>
  </c:chart>
  <c:txPr>
    <a:bodyPr/>
    <a:lstStyle/>
    <a:p>
      <a:pPr>
        <a:defRPr sz="1600">
          <a:solidFill>
            <a:srgbClr val="4A4A4A"/>
          </a:solidFill>
          <a:latin typeface="Glacial Indifference"/>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Students / Guardians (n = 40)</c:v>
                </c:pt>
              </c:strCache>
            </c:strRef>
          </c:tx>
          <c:spPr>
            <a:solidFill>
              <a:srgbClr val="EC6A27"/>
            </a:solidFill>
          </c:spPr>
          <c:invertIfNegative val="0"/>
          <c:dLbls>
            <c:numFmt formatCode="0.00" sourceLinked="0"/>
            <c:spPr>
              <a:noFill/>
              <a:ln>
                <a:noFill/>
              </a:ln>
              <a:effectLst/>
            </c:spPr>
            <c:txPr>
              <a:bodyPr/>
              <a:lstStyle/>
              <a:p>
                <a:pPr>
                  <a:defRPr sz="1500" b="1">
                    <a:solidFill>
                      <a:srgbClr val="1E1E1E"/>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Functionality</c:v>
                </c:pt>
                <c:pt idx="1">
                  <c:v>Usability</c:v>
                </c:pt>
                <c:pt idx="2">
                  <c:v>Accessibility</c:v>
                </c:pt>
                <c:pt idx="3">
                  <c:v>User satisfaction</c:v>
                </c:pt>
                <c:pt idx="4">
                  <c:v>Grand mean</c:v>
                </c:pt>
              </c:strCache>
            </c:strRef>
          </c:cat>
          <c:val>
            <c:numRef>
              <c:f>Sheet1!$B$2:$B$6</c:f>
              <c:numCache>
                <c:formatCode>General</c:formatCode>
                <c:ptCount val="5"/>
                <c:pt idx="0">
                  <c:v>4.1399999999999997</c:v>
                </c:pt>
                <c:pt idx="1">
                  <c:v>4.17</c:v>
                </c:pt>
                <c:pt idx="2">
                  <c:v>4.18</c:v>
                </c:pt>
                <c:pt idx="3">
                  <c:v>4.34</c:v>
                </c:pt>
                <c:pt idx="4">
                  <c:v>4.21</c:v>
                </c:pt>
              </c:numCache>
            </c:numRef>
          </c:val>
          <c:extLst>
            <c:ext xmlns:c16="http://schemas.microsoft.com/office/drawing/2014/chart" uri="{C3380CC4-5D6E-409C-BE32-E72D297353CC}">
              <c16:uniqueId val="{00000000-F115-44E3-8115-ACCC3FD8D015}"/>
            </c:ext>
          </c:extLst>
        </c:ser>
        <c:ser>
          <c:idx val="1"/>
          <c:order val="1"/>
          <c:tx>
            <c:strRef>
              <c:f>Sheet1!$C$1</c:f>
              <c:strCache>
                <c:ptCount val="1"/>
                <c:pt idx="0">
                  <c:v>Teachers and staff (n = 17)</c:v>
                </c:pt>
              </c:strCache>
            </c:strRef>
          </c:tx>
          <c:spPr>
            <a:solidFill>
              <a:srgbClr val="9B9A9D"/>
            </a:solidFill>
          </c:spPr>
          <c:invertIfNegative val="0"/>
          <c:dLbls>
            <c:numFmt formatCode="0.00" sourceLinked="0"/>
            <c:spPr>
              <a:noFill/>
              <a:ln>
                <a:noFill/>
              </a:ln>
              <a:effectLst/>
            </c:spPr>
            <c:txPr>
              <a:bodyPr/>
              <a:lstStyle/>
              <a:p>
                <a:pPr>
                  <a:defRPr sz="1500" b="1">
                    <a:solidFill>
                      <a:srgbClr val="1E1E1E"/>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Functionality</c:v>
                </c:pt>
                <c:pt idx="1">
                  <c:v>Usability</c:v>
                </c:pt>
                <c:pt idx="2">
                  <c:v>Accessibility</c:v>
                </c:pt>
                <c:pt idx="3">
                  <c:v>User satisfaction</c:v>
                </c:pt>
                <c:pt idx="4">
                  <c:v>Grand mean</c:v>
                </c:pt>
              </c:strCache>
            </c:strRef>
          </c:cat>
          <c:val>
            <c:numRef>
              <c:f>Sheet1!$C$2:$C$6</c:f>
              <c:numCache>
                <c:formatCode>General</c:formatCode>
                <c:ptCount val="5"/>
                <c:pt idx="0">
                  <c:v>4.2699999999999996</c:v>
                </c:pt>
                <c:pt idx="1">
                  <c:v>4.1399999999999997</c:v>
                </c:pt>
                <c:pt idx="2">
                  <c:v>4.1399999999999997</c:v>
                </c:pt>
                <c:pt idx="3">
                  <c:v>4.05</c:v>
                </c:pt>
                <c:pt idx="4">
                  <c:v>4.1399999999999997</c:v>
                </c:pt>
              </c:numCache>
            </c:numRef>
          </c:val>
          <c:extLst>
            <c:ext xmlns:c16="http://schemas.microsoft.com/office/drawing/2014/chart" uri="{C3380CC4-5D6E-409C-BE32-E72D297353CC}">
              <c16:uniqueId val="{00000001-F115-44E3-8115-ACCC3FD8D015}"/>
            </c:ext>
          </c:extLst>
        </c:ser>
        <c:dLbls>
          <c:dLblPos val="outEnd"/>
          <c:showLegendKey val="0"/>
          <c:showVal val="1"/>
          <c:showCatName val="0"/>
          <c:showSerName val="0"/>
          <c:showPercent val="0"/>
          <c:showBubbleSize val="0"/>
        </c:dLbls>
        <c:gapWidth val="6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9B9A9D"/>
            </a:solidFill>
          </a:ln>
        </c:spPr>
        <c:txPr>
          <a:bodyPr/>
          <a:lstStyle/>
          <a:p>
            <a:pPr>
              <a:defRPr sz="1600"/>
            </a:pPr>
            <a:endParaRPr lang="en-US"/>
          </a:p>
        </c:txPr>
        <c:crossAx val="-2113994440"/>
        <c:crosses val="autoZero"/>
        <c:auto val="1"/>
        <c:lblAlgn val="ctr"/>
        <c:lblOffset val="100"/>
        <c:noMultiLvlLbl val="0"/>
      </c:catAx>
      <c:valAx>
        <c:axId val="-2113994440"/>
        <c:scaling>
          <c:orientation val="minMax"/>
          <c:max val="5"/>
          <c:min val="0"/>
        </c:scaling>
        <c:delete val="0"/>
        <c:axPos val="l"/>
        <c:majorGridlines>
          <c:spPr>
            <a:ln>
              <a:solidFill>
                <a:srgbClr val="DDDDDD"/>
              </a:solidFill>
            </a:ln>
          </c:spPr>
        </c:majorGridlines>
        <c:numFmt formatCode="General" sourceLinked="1"/>
        <c:majorTickMark val="out"/>
        <c:minorTickMark val="none"/>
        <c:tickLblPos val="nextTo"/>
        <c:spPr>
          <a:ln>
            <a:noFill/>
          </a:ln>
        </c:spPr>
        <c:txPr>
          <a:bodyPr/>
          <a:lstStyle/>
          <a:p>
            <a:pPr>
              <a:defRPr sz="1400"/>
            </a:pPr>
            <a:endParaRPr lang="en-US"/>
          </a:p>
        </c:txPr>
        <c:crossAx val="-2068027336"/>
        <c:crosses val="autoZero"/>
        <c:crossBetween val="between"/>
        <c:majorUnit val="1"/>
      </c:valAx>
    </c:plotArea>
    <c:legend>
      <c:legendPos val="t"/>
      <c:overlay val="0"/>
      <c:txPr>
        <a:bodyPr/>
        <a:lstStyle/>
        <a:p>
          <a:pPr>
            <a:defRPr sz="1600"/>
          </a:pPr>
          <a:endParaRPr lang="en-US"/>
        </a:p>
      </c:txPr>
    </c:legend>
    <c:plotVisOnly val="1"/>
    <c:dispBlanksAs val="gap"/>
    <c:showDLblsOverMax val="1"/>
  </c:chart>
  <c:txPr>
    <a:bodyPr/>
    <a:lstStyle/>
    <a:p>
      <a:pPr>
        <a:defRPr sz="1600">
          <a:solidFill>
            <a:srgbClr val="4A4A4A"/>
          </a:solidFill>
          <a:latin typeface="Glacial Indifference"/>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Weighted mean</c:v>
                </c:pt>
              </c:strCache>
            </c:strRef>
          </c:tx>
          <c:spPr>
            <a:solidFill>
              <a:srgbClr val="EC6A27"/>
            </a:solidFill>
          </c:spPr>
          <c:invertIfNegative val="0"/>
          <c:dLbls>
            <c:numFmt formatCode="0.00" sourceLinked="0"/>
            <c:spPr>
              <a:noFill/>
              <a:ln>
                <a:noFill/>
              </a:ln>
              <a:effectLst/>
            </c:spPr>
            <c:txPr>
              <a:bodyPr/>
              <a:lstStyle/>
              <a:p>
                <a:pPr>
                  <a:defRPr sz="1600" b="1">
                    <a:solidFill>
                      <a:srgbClr val="1E1E1E"/>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Function suitability</c:v>
                </c:pt>
                <c:pt idx="1">
                  <c:v>Performance efficiency</c:v>
                </c:pt>
                <c:pt idx="2">
                  <c:v>Compatibility</c:v>
                </c:pt>
                <c:pt idx="3">
                  <c:v>Usability</c:v>
                </c:pt>
                <c:pt idx="4">
                  <c:v>Reliability</c:v>
                </c:pt>
                <c:pt idx="5">
                  <c:v>Security</c:v>
                </c:pt>
                <c:pt idx="6">
                  <c:v>Maintainability</c:v>
                </c:pt>
                <c:pt idx="7">
                  <c:v>Portability</c:v>
                </c:pt>
              </c:strCache>
            </c:strRef>
          </c:cat>
          <c:val>
            <c:numRef>
              <c:f>Sheet1!$B$2:$B$9</c:f>
              <c:numCache>
                <c:formatCode>General</c:formatCode>
                <c:ptCount val="8"/>
                <c:pt idx="0">
                  <c:v>3.95</c:v>
                </c:pt>
                <c:pt idx="1">
                  <c:v>4.05</c:v>
                </c:pt>
                <c:pt idx="2">
                  <c:v>4.1500000000000004</c:v>
                </c:pt>
                <c:pt idx="3">
                  <c:v>4</c:v>
                </c:pt>
                <c:pt idx="4">
                  <c:v>4.0999999999999996</c:v>
                </c:pt>
                <c:pt idx="5">
                  <c:v>4.2</c:v>
                </c:pt>
                <c:pt idx="6">
                  <c:v>4.1500000000000004</c:v>
                </c:pt>
                <c:pt idx="7">
                  <c:v>4.2</c:v>
                </c:pt>
              </c:numCache>
            </c:numRef>
          </c:val>
          <c:extLst>
            <c:ext xmlns:c16="http://schemas.microsoft.com/office/drawing/2014/chart" uri="{C3380CC4-5D6E-409C-BE32-E72D297353CC}">
              <c16:uniqueId val="{00000000-857C-4A86-BDC8-6F126C92F0ED}"/>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9B9A9D"/>
            </a:solidFill>
          </a:ln>
        </c:spPr>
        <c:txPr>
          <a:bodyPr/>
          <a:lstStyle/>
          <a:p>
            <a:pPr>
              <a:defRPr sz="1600"/>
            </a:pPr>
            <a:endParaRPr lang="en-US"/>
          </a:p>
        </c:txPr>
        <c:crossAx val="-2113994440"/>
        <c:crosses val="autoZero"/>
        <c:auto val="1"/>
        <c:lblAlgn val="ctr"/>
        <c:lblOffset val="100"/>
        <c:noMultiLvlLbl val="0"/>
      </c:catAx>
      <c:valAx>
        <c:axId val="-2113994440"/>
        <c:scaling>
          <c:orientation val="minMax"/>
          <c:max val="5"/>
          <c:min val="0"/>
        </c:scaling>
        <c:delete val="1"/>
        <c:axPos val="t"/>
        <c:majorGridlines>
          <c:spPr>
            <a:ln>
              <a:solidFill>
                <a:srgbClr val="DDDDDD"/>
              </a:solidFill>
            </a:ln>
          </c:spPr>
        </c:majorGridlines>
        <c:numFmt formatCode="General" sourceLinked="1"/>
        <c:majorTickMark val="out"/>
        <c:minorTickMark val="none"/>
        <c:tickLblPos val="nextTo"/>
        <c:crossAx val="-2068027336"/>
        <c:crosses val="autoZero"/>
        <c:crossBetween val="between"/>
        <c:majorUnit val="1"/>
      </c:valAx>
    </c:plotArea>
    <c:plotVisOnly val="1"/>
    <c:dispBlanksAs val="gap"/>
    <c:showDLblsOverMax val="1"/>
  </c:chart>
  <c:txPr>
    <a:bodyPr/>
    <a:lstStyle/>
    <a:p>
      <a:pPr>
        <a:defRPr sz="1600">
          <a:solidFill>
            <a:srgbClr val="4A4A4A"/>
          </a:solidFill>
          <a:latin typeface="Glacial Indifference"/>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3046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Greet the panel. Introduce the title, the group and each researcher, and the adviser. About 20 seconds.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background, then the problems we saw at Bigaa Elementary School, then the gap: generic platforms are not accessible enough for SNED learners. About 1 minute.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general objective in your own words, then the three specific objectives. Tell the panel that the results later are presented objective by objective. About 40 seconds.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Scope on the left, limitations on the right. Stress that it is one school, one program, and only the research period. About 45 seconds.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two phases: we studied the problem first, then built and evaluated the system. Mention the 62 respondents and that the evaluation followed a one-week UAT. About 1 minute.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our proof that we followed Agile Scrum. Walk through the sprints quickly: requirements first, then login, lessons, assessments, progress and communication, accessibility, and finally testing and UAT. About 50 seconds.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at two or three screens as examples: the login, the student portal and the accessibility settings. These are the actual outputs of the sprints. About 40 seconds.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Results first: every function passed unit testing and every integration scenario passed. Then accessibility ratings from both groups. Discussion: defects were fixed within the sprint, which is how Scrum works. Conclusion: Objective 1 was met. About 55 seconds.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built eight modules covering everything in Objective 2. The chart shows the highest-rated items: teachers can adjust accessibility settings (4.44) and get accurate reports (4.33); parents get timely notifications (4.20). Conclusion: Objective 2 was met. About 55 seconds.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chart: guardians rated satisfaction highest (4.34), teachers rated functionality highest (4.27). Grand mean is 4.19, interpreted as Agree. The lowest items were about devices and slow internet, which are outside the core system. About 55 seconds.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Independent IT experts rated eight quality characteristics. Security and portability were highest at 4.20; function suitability was lowest at 3.95. Together with the user ratings, the study met its general objective. About 45 seconds.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recommendation comes from a specific finding. Slow internet and device use were the lowest items, teacher satisfaction was the lowest criterion, and function suitability was the lowest for the IT experts. The last one comes from our limitations. About 50 seconds.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panel and invite questions. About 10 seconds.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2.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3.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4.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5.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chart" Target="../charts/chart1.xml"/><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6.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4.jp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jpg"/><Relationship Id="rId2" Type="http://schemas.openxmlformats.org/officeDocument/2006/relationships/notesSlide" Target="../notesSlides/notesSlide7.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jp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jpg"/><Relationship Id="rId28" Type="http://schemas.openxmlformats.org/officeDocument/2006/relationships/image" Target="../media/image26.jp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jp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8.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9.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chart" Target="../charts/chart2.xml"/><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10.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10.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chart" Target="../charts/chart3.xml"/><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1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11.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chart" Target="../charts/chart4.xml"/><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1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12.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1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13.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1097280" y="1188720"/>
            <a:ext cx="16093440" cy="457200"/>
          </a:xfrm>
          <a:prstGeom prst="rect">
            <a:avLst/>
          </a:prstGeom>
          <a:noFill/>
        </p:spPr>
        <p:txBody>
          <a:bodyPr wrap="square" lIns="0" tIns="0" rIns="0" bIns="0" anchor="t">
            <a:spAutoFit/>
          </a:bodyPr>
          <a:lstStyle/>
          <a:p>
            <a:pPr algn="ctr">
              <a:spcAft>
                <a:spcPts val="800"/>
              </a:spcAft>
            </a:pPr>
            <a:r>
              <a:rPr sz="2200" b="1">
                <a:solidFill>
                  <a:srgbClr val="EC6A27"/>
                </a:solidFill>
                <a:latin typeface="Glacial Indifference Bold"/>
                <a:ea typeface="Glacial Indifference Bold"/>
                <a:cs typeface="Glacial Indifference Bold"/>
              </a:rPr>
              <a:t>CAPSTONE PROJECT DEFENSE  |  BACHELOR OF SCIENCE IN INFORMATION TECHNOLOGY</a:t>
            </a:r>
          </a:p>
        </p:txBody>
      </p:sp>
      <p:sp>
        <p:nvSpPr>
          <p:cNvPr id="14" name="TextBox 13"/>
          <p:cNvSpPr txBox="1"/>
          <p:nvPr/>
        </p:nvSpPr>
        <p:spPr>
          <a:xfrm>
            <a:off x="1097280" y="2135523"/>
            <a:ext cx="16093440" cy="3452227"/>
          </a:xfrm>
          <a:prstGeom prst="rect">
            <a:avLst/>
          </a:prstGeom>
          <a:noFill/>
        </p:spPr>
        <p:txBody>
          <a:bodyPr wrap="square" lIns="0" tIns="0" rIns="0" bIns="0" anchor="ctr">
            <a:spAutoFit/>
          </a:bodyPr>
          <a:lstStyle/>
          <a:p>
            <a:pPr algn="ctr">
              <a:spcAft>
                <a:spcPts val="400"/>
              </a:spcAft>
            </a:pPr>
            <a:r>
              <a:rPr lang="en-US" sz="2400" b="1" dirty="0">
                <a:solidFill>
                  <a:srgbClr val="1E1E1E"/>
                </a:solidFill>
                <a:latin typeface="Glacial Indifference Bold"/>
              </a:rPr>
              <a:t>RESEARCH TITLE</a:t>
            </a:r>
            <a:br>
              <a:rPr lang="en-US" sz="2400" b="1" dirty="0">
                <a:solidFill>
                  <a:srgbClr val="1E1E1E"/>
                </a:solidFill>
                <a:latin typeface="Glacial Indifference Bold"/>
              </a:rPr>
            </a:br>
            <a:r>
              <a:rPr lang="en-US" sz="1050" b="1" dirty="0">
                <a:solidFill>
                  <a:srgbClr val="1E1E1E"/>
                </a:solidFill>
                <a:latin typeface="Glacial Indifference Bold"/>
              </a:rPr>
              <a:t> </a:t>
            </a:r>
            <a:endParaRPr lang="en-US" sz="2000" b="1" dirty="0">
              <a:solidFill>
                <a:srgbClr val="1E1E1E"/>
              </a:solidFill>
              <a:latin typeface="Glacial Indifference Bold"/>
            </a:endParaRPr>
          </a:p>
          <a:p>
            <a:pPr algn="ctr">
              <a:spcAft>
                <a:spcPts val="400"/>
              </a:spcAft>
            </a:pPr>
            <a:r>
              <a:rPr lang="en-US" sz="1050" b="1" dirty="0">
                <a:solidFill>
                  <a:srgbClr val="1E1E1E"/>
                </a:solidFill>
                <a:latin typeface="Glacial Indifference Bold"/>
              </a:rPr>
              <a:t> </a:t>
            </a:r>
            <a:br>
              <a:rPr lang="en-US" sz="4400" b="1" dirty="0">
                <a:solidFill>
                  <a:srgbClr val="1E1E1E"/>
                </a:solidFill>
                <a:latin typeface="Glacial Indifference Bold"/>
              </a:rPr>
            </a:br>
            <a:r>
              <a:rPr lang="en-US" sz="4400" b="1" dirty="0">
                <a:solidFill>
                  <a:srgbClr val="1E1E1E"/>
                </a:solidFill>
                <a:latin typeface="Glacial Indifference Bold"/>
              </a:rPr>
              <a:t>WEB-BASED QR ENABLED PET REGISTRATION, VACCINATION AND TRACEABILITY MANAGEMENT SYSTEM WITH PAYMENT MONITORING AND DATA ANALYTICS FOR THE CITY VETERINARY ANIMAL CLINIC IN CABUYAO CITY, LAGUNA.</a:t>
            </a:r>
          </a:p>
        </p:txBody>
      </p:sp>
      <p:sp>
        <p:nvSpPr>
          <p:cNvPr id="15" name="TextBox 14"/>
          <p:cNvSpPr txBox="1"/>
          <p:nvPr/>
        </p:nvSpPr>
        <p:spPr>
          <a:xfrm>
            <a:off x="1097280" y="6440230"/>
            <a:ext cx="16093440" cy="913070"/>
          </a:xfrm>
          <a:prstGeom prst="rect">
            <a:avLst/>
          </a:prstGeom>
          <a:noFill/>
        </p:spPr>
        <p:txBody>
          <a:bodyPr wrap="square" lIns="0" tIns="0" rIns="0" bIns="0" anchor="t">
            <a:spAutoFit/>
          </a:bodyPr>
          <a:lstStyle/>
          <a:p>
            <a:pPr algn="ctr">
              <a:spcAft>
                <a:spcPts val="400"/>
              </a:spcAft>
            </a:pPr>
            <a:r>
              <a:rPr sz="2800" b="0" dirty="0">
                <a:solidFill>
                  <a:srgbClr val="4A4A4A"/>
                </a:solidFill>
                <a:latin typeface="Glacial Indifference"/>
                <a:ea typeface="Glacial Indifference"/>
                <a:cs typeface="Glacial Indifference"/>
              </a:rPr>
              <a:t>Group </a:t>
            </a:r>
            <a:r>
              <a:rPr lang="en-US" sz="2800" dirty="0">
                <a:solidFill>
                  <a:srgbClr val="4A4A4A"/>
                </a:solidFill>
                <a:latin typeface="Glacial Indifference"/>
                <a:ea typeface="Glacial Indifference"/>
                <a:cs typeface="Glacial Indifference"/>
              </a:rPr>
              <a:t>15 BSIT-B</a:t>
            </a:r>
            <a:r>
              <a:rPr sz="2800" b="0" dirty="0">
                <a:solidFill>
                  <a:srgbClr val="4A4A4A"/>
                </a:solidFill>
                <a:latin typeface="Glacial Indifference"/>
                <a:ea typeface="Glacial Indifference"/>
                <a:cs typeface="Glacial Indifference"/>
              </a:rPr>
              <a:t>  |  College of Computing Studies</a:t>
            </a:r>
          </a:p>
          <a:p>
            <a:pPr algn="ctr">
              <a:spcAft>
                <a:spcPts val="400"/>
              </a:spcAft>
            </a:pPr>
            <a:r>
              <a:rPr sz="2800" b="0" dirty="0">
                <a:solidFill>
                  <a:srgbClr val="4A4A4A"/>
                </a:solidFill>
                <a:latin typeface="Glacial Indifference"/>
                <a:ea typeface="Glacial Indifference"/>
                <a:cs typeface="Glacial Indifference"/>
              </a:rPr>
              <a:t>Pamantasan ng </a:t>
            </a:r>
            <a:r>
              <a:rPr sz="2800" b="0" dirty="0" err="1">
                <a:solidFill>
                  <a:srgbClr val="4A4A4A"/>
                </a:solidFill>
                <a:latin typeface="Glacial Indifference"/>
                <a:ea typeface="Glacial Indifference"/>
                <a:cs typeface="Glacial Indifference"/>
              </a:rPr>
              <a:t>Cabuyao</a:t>
            </a:r>
            <a:r>
              <a:rPr sz="2800" b="0" dirty="0">
                <a:solidFill>
                  <a:srgbClr val="4A4A4A"/>
                </a:solidFill>
                <a:latin typeface="Glacial Indifference"/>
                <a:ea typeface="Glacial Indifference"/>
                <a:cs typeface="Glacial Indifference"/>
              </a:rPr>
              <a:t>, City of </a:t>
            </a:r>
            <a:r>
              <a:rPr sz="2800" b="0" dirty="0" err="1">
                <a:solidFill>
                  <a:srgbClr val="4A4A4A"/>
                </a:solidFill>
                <a:latin typeface="Glacial Indifference"/>
                <a:ea typeface="Glacial Indifference"/>
                <a:cs typeface="Glacial Indifference"/>
              </a:rPr>
              <a:t>Cabuyao</a:t>
            </a:r>
            <a:r>
              <a:rPr sz="2800" b="0" dirty="0">
                <a:solidFill>
                  <a:srgbClr val="4A4A4A"/>
                </a:solidFill>
                <a:latin typeface="Glacial Indifference"/>
                <a:ea typeface="Glacial Indifference"/>
                <a:cs typeface="Glacial Indifference"/>
              </a:rPr>
              <a:t>, Laguna</a:t>
            </a:r>
          </a:p>
        </p:txBody>
      </p:sp>
      <p:sp>
        <p:nvSpPr>
          <p:cNvPr id="17" name="TextBox 16"/>
          <p:cNvSpPr txBox="1"/>
          <p:nvPr/>
        </p:nvSpPr>
        <p:spPr>
          <a:xfrm>
            <a:off x="8601456" y="9090660"/>
            <a:ext cx="2743200" cy="365760"/>
          </a:xfrm>
          <a:prstGeom prst="rect">
            <a:avLst/>
          </a:prstGeom>
          <a:noFill/>
        </p:spPr>
        <p:txBody>
          <a:bodyPr wrap="square" lIns="0" tIns="0" rIns="0" bIns="0" anchor="t">
            <a:spAutoFit/>
          </a:bodyPr>
          <a:lstStyle/>
          <a:p>
            <a:pPr algn="l">
              <a:spcAft>
                <a:spcPts val="800"/>
              </a:spcAft>
            </a:pPr>
            <a:r>
              <a:rPr sz="1900" b="1" dirty="0">
                <a:solidFill>
                  <a:srgbClr val="1E1E1E"/>
                </a:solidFill>
                <a:latin typeface="Glacial Indifference Bold"/>
                <a:ea typeface="Glacial Indifference Bold"/>
                <a:cs typeface="Glacial Indifference Bold"/>
              </a:rPr>
              <a:t>RESEARCHERS:</a:t>
            </a:r>
          </a:p>
        </p:txBody>
      </p:sp>
      <p:sp>
        <p:nvSpPr>
          <p:cNvPr id="18" name="TextBox 17"/>
          <p:cNvSpPr txBox="1"/>
          <p:nvPr/>
        </p:nvSpPr>
        <p:spPr>
          <a:xfrm>
            <a:off x="10591800" y="9090660"/>
            <a:ext cx="3566160" cy="518091"/>
          </a:xfrm>
          <a:prstGeom prst="rect">
            <a:avLst/>
          </a:prstGeom>
          <a:noFill/>
        </p:spPr>
        <p:txBody>
          <a:bodyPr wrap="square" lIns="0" tIns="0" rIns="0" bIns="0" anchor="t">
            <a:spAutoFit/>
          </a:bodyPr>
          <a:lstStyle/>
          <a:p>
            <a:pPr algn="l">
              <a:spcAft>
                <a:spcPts val="200"/>
              </a:spcAft>
            </a:pPr>
            <a:r>
              <a:rPr lang="en-US" sz="1600" dirty="0">
                <a:solidFill>
                  <a:srgbClr val="1E1E1E"/>
                </a:solidFill>
                <a:latin typeface="Glacial Indifference"/>
                <a:ea typeface="Glacial Indifference"/>
                <a:cs typeface="Glacial Indifference"/>
              </a:rPr>
              <a:t>Trinidad, Kaizen Brix</a:t>
            </a:r>
            <a:endParaRPr sz="1600" b="0" dirty="0">
              <a:solidFill>
                <a:srgbClr val="1E1E1E"/>
              </a:solidFill>
              <a:latin typeface="Glacial Indifference"/>
              <a:ea typeface="Glacial Indifference"/>
              <a:cs typeface="Glacial Indifference"/>
            </a:endParaRPr>
          </a:p>
          <a:p>
            <a:pPr algn="l">
              <a:spcAft>
                <a:spcPts val="200"/>
              </a:spcAft>
            </a:pPr>
            <a:r>
              <a:rPr lang="en-US" sz="1600" b="0" dirty="0">
                <a:solidFill>
                  <a:srgbClr val="1E1E1E"/>
                </a:solidFill>
                <a:latin typeface="Glacial Indifference"/>
                <a:ea typeface="Glacial Indifference"/>
                <a:cs typeface="Glacial Indifference"/>
              </a:rPr>
              <a:t>Catalonia, Zyrus M.</a:t>
            </a:r>
            <a:endParaRPr sz="1600" b="0" dirty="0">
              <a:solidFill>
                <a:srgbClr val="1E1E1E"/>
              </a:solidFill>
              <a:latin typeface="Glacial Indifference"/>
              <a:ea typeface="Glacial Indifference"/>
              <a:cs typeface="Glacial Indifference"/>
            </a:endParaRPr>
          </a:p>
        </p:txBody>
      </p:sp>
      <p:sp>
        <p:nvSpPr>
          <p:cNvPr id="19" name="TextBox 18"/>
          <p:cNvSpPr txBox="1"/>
          <p:nvPr/>
        </p:nvSpPr>
        <p:spPr>
          <a:xfrm>
            <a:off x="14112240" y="9090660"/>
            <a:ext cx="3566160" cy="518091"/>
          </a:xfrm>
          <a:prstGeom prst="rect">
            <a:avLst/>
          </a:prstGeom>
          <a:noFill/>
        </p:spPr>
        <p:txBody>
          <a:bodyPr wrap="square" lIns="0" tIns="0" rIns="0" bIns="0" anchor="t">
            <a:spAutoFit/>
          </a:bodyPr>
          <a:lstStyle/>
          <a:p>
            <a:pPr algn="l">
              <a:spcAft>
                <a:spcPts val="200"/>
              </a:spcAft>
            </a:pPr>
            <a:r>
              <a:rPr lang="en-US" sz="1600" b="0" dirty="0" err="1">
                <a:solidFill>
                  <a:srgbClr val="1E1E1E"/>
                </a:solidFill>
                <a:latin typeface="Glacial Indifference"/>
                <a:ea typeface="Glacial Indifference"/>
                <a:cs typeface="Glacial Indifference"/>
              </a:rPr>
              <a:t>Ocharan</a:t>
            </a:r>
            <a:r>
              <a:rPr lang="en-US" sz="1600" b="0" dirty="0">
                <a:solidFill>
                  <a:srgbClr val="1E1E1E"/>
                </a:solidFill>
                <a:latin typeface="Glacial Indifference"/>
                <a:ea typeface="Glacial Indifference"/>
                <a:cs typeface="Glacial Indifference"/>
              </a:rPr>
              <a:t>, Mark </a:t>
            </a:r>
            <a:r>
              <a:rPr lang="en-US" sz="1600" b="0" dirty="0" err="1">
                <a:solidFill>
                  <a:srgbClr val="1E1E1E"/>
                </a:solidFill>
                <a:latin typeface="Glacial Indifference"/>
                <a:ea typeface="Glacial Indifference"/>
                <a:cs typeface="Glacial Indifference"/>
              </a:rPr>
              <a:t>Lawrecnce</a:t>
            </a:r>
            <a:r>
              <a:rPr lang="en-US" sz="1600" b="0" dirty="0">
                <a:solidFill>
                  <a:srgbClr val="1E1E1E"/>
                </a:solidFill>
                <a:latin typeface="Glacial Indifference"/>
                <a:ea typeface="Glacial Indifference"/>
                <a:cs typeface="Glacial Indifference"/>
              </a:rPr>
              <a:t> C.</a:t>
            </a:r>
            <a:endParaRPr sz="1600" b="0" dirty="0">
              <a:solidFill>
                <a:srgbClr val="1E1E1E"/>
              </a:solidFill>
              <a:latin typeface="Glacial Indifference"/>
              <a:ea typeface="Glacial Indifference"/>
              <a:cs typeface="Glacial Indifference"/>
            </a:endParaRPr>
          </a:p>
          <a:p>
            <a:pPr algn="l">
              <a:spcAft>
                <a:spcPts val="200"/>
              </a:spcAft>
            </a:pPr>
            <a:r>
              <a:rPr lang="en-US" sz="1600" b="0" dirty="0" err="1">
                <a:solidFill>
                  <a:srgbClr val="1E1E1E"/>
                </a:solidFill>
                <a:latin typeface="Glacial Indifference"/>
                <a:ea typeface="Glacial Indifference"/>
                <a:cs typeface="Glacial Indifference"/>
              </a:rPr>
              <a:t>Parala</a:t>
            </a:r>
            <a:r>
              <a:rPr lang="en-US" sz="1600" b="0" dirty="0">
                <a:solidFill>
                  <a:srgbClr val="1E1E1E"/>
                </a:solidFill>
                <a:latin typeface="Glacial Indifference"/>
                <a:ea typeface="Glacial Indifference"/>
                <a:cs typeface="Glacial Indifference"/>
              </a:rPr>
              <a:t>, Andrei Vincent S.</a:t>
            </a:r>
            <a:endParaRPr sz="1600" b="0" dirty="0">
              <a:solidFill>
                <a:srgbClr val="1E1E1E"/>
              </a:solidFill>
              <a:latin typeface="Glacial Indifference"/>
              <a:ea typeface="Glacial Indifference"/>
              <a:cs typeface="Glacial Indifference"/>
            </a:endParaRPr>
          </a:p>
        </p:txBody>
      </p:sp>
      <p:sp>
        <p:nvSpPr>
          <p:cNvPr id="20" name="TextBox 19"/>
          <p:cNvSpPr txBox="1"/>
          <p:nvPr/>
        </p:nvSpPr>
        <p:spPr>
          <a:xfrm>
            <a:off x="9220200" y="9715500"/>
            <a:ext cx="2743200" cy="292388"/>
          </a:xfrm>
          <a:prstGeom prst="rect">
            <a:avLst/>
          </a:prstGeom>
          <a:noFill/>
        </p:spPr>
        <p:txBody>
          <a:bodyPr wrap="square" lIns="0" tIns="0" rIns="0" bIns="0" anchor="t">
            <a:spAutoFit/>
          </a:bodyPr>
          <a:lstStyle/>
          <a:p>
            <a:pPr algn="l">
              <a:spcAft>
                <a:spcPts val="800"/>
              </a:spcAft>
            </a:pPr>
            <a:r>
              <a:rPr sz="1900" b="1" dirty="0">
                <a:solidFill>
                  <a:srgbClr val="1E1E1E"/>
                </a:solidFill>
                <a:latin typeface="Glacial Indifference Bold"/>
                <a:ea typeface="Glacial Indifference Bold"/>
                <a:cs typeface="Glacial Indifference Bold"/>
              </a:rPr>
              <a:t>ADV</a:t>
            </a:r>
            <a:r>
              <a:rPr lang="en-US" sz="1900" b="1" dirty="0">
                <a:solidFill>
                  <a:srgbClr val="1E1E1E"/>
                </a:solidFill>
                <a:latin typeface="Glacial Indifference Bold"/>
                <a:ea typeface="Glacial Indifference Bold"/>
                <a:cs typeface="Glacial Indifference Bold"/>
              </a:rPr>
              <a:t>I</a:t>
            </a:r>
            <a:r>
              <a:rPr sz="1900" b="1" dirty="0">
                <a:solidFill>
                  <a:srgbClr val="1E1E1E"/>
                </a:solidFill>
                <a:latin typeface="Glacial Indifference Bold"/>
                <a:ea typeface="Glacial Indifference Bold"/>
                <a:cs typeface="Glacial Indifference Bold"/>
              </a:rPr>
              <a:t>SER:</a:t>
            </a:r>
          </a:p>
        </p:txBody>
      </p:sp>
      <p:sp>
        <p:nvSpPr>
          <p:cNvPr id="21" name="TextBox 20"/>
          <p:cNvSpPr txBox="1"/>
          <p:nvPr/>
        </p:nvSpPr>
        <p:spPr>
          <a:xfrm>
            <a:off x="10591800" y="9724933"/>
            <a:ext cx="5943600" cy="261610"/>
          </a:xfrm>
          <a:prstGeom prst="rect">
            <a:avLst/>
          </a:prstGeom>
          <a:noFill/>
        </p:spPr>
        <p:txBody>
          <a:bodyPr wrap="square" lIns="0" tIns="0" rIns="0" bIns="0" anchor="t">
            <a:spAutoFit/>
          </a:bodyPr>
          <a:lstStyle/>
          <a:p>
            <a:pPr algn="l">
              <a:spcAft>
                <a:spcPts val="800"/>
              </a:spcAft>
            </a:pPr>
            <a:r>
              <a:rPr lang="en-US" sz="1700" b="0" dirty="0">
                <a:solidFill>
                  <a:srgbClr val="1E1E1E"/>
                </a:solidFill>
                <a:latin typeface="Glacial Indifference"/>
                <a:ea typeface="Glacial Indifference"/>
                <a:cs typeface="Glacial Indifference"/>
              </a:rPr>
              <a:t>ASST. Prof. Melissa A. Dimaculangan</a:t>
            </a:r>
            <a:endParaRPr sz="1700" b="0" dirty="0">
              <a:solidFill>
                <a:srgbClr val="1E1E1E"/>
              </a:solidFill>
              <a:latin typeface="Glacial Indifference"/>
              <a:ea typeface="Glacial Indifference"/>
              <a:cs typeface="Glacial Indifferenc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RATIONALE</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Why we conducted this research</a:t>
            </a:r>
          </a:p>
        </p:txBody>
      </p:sp>
      <p:sp>
        <p:nvSpPr>
          <p:cNvPr id="16" name="Rounded Rectangle 15"/>
          <p:cNvSpPr/>
          <p:nvPr/>
        </p:nvSpPr>
        <p:spPr>
          <a:xfrm>
            <a:off x="822960" y="2011680"/>
            <a:ext cx="5349240" cy="56692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7" name="TextBox 16"/>
          <p:cNvSpPr txBox="1"/>
          <p:nvPr/>
        </p:nvSpPr>
        <p:spPr>
          <a:xfrm>
            <a:off x="1143000" y="2240280"/>
            <a:ext cx="4709159" cy="457200"/>
          </a:xfrm>
          <a:prstGeom prst="rect">
            <a:avLst/>
          </a:prstGeom>
          <a:noFill/>
        </p:spPr>
        <p:txBody>
          <a:bodyPr wrap="square" lIns="0" tIns="0" rIns="0" bIns="0" anchor="t">
            <a:spAutoFit/>
          </a:bodyPr>
          <a:lstStyle/>
          <a:p>
            <a:pPr algn="l">
              <a:spcAft>
                <a:spcPts val="800"/>
              </a:spcAft>
            </a:pPr>
            <a:r>
              <a:rPr sz="2400" b="1">
                <a:solidFill>
                  <a:srgbClr val="EC6A27"/>
                </a:solidFill>
                <a:latin typeface="Glacial Indifference Bold"/>
                <a:ea typeface="Glacial Indifference Bold"/>
                <a:cs typeface="Glacial Indifference Bold"/>
              </a:rPr>
              <a:t>Background</a:t>
            </a:r>
          </a:p>
        </p:txBody>
      </p:sp>
      <p:sp>
        <p:nvSpPr>
          <p:cNvPr id="19" name="Rounded Rectangle 18"/>
          <p:cNvSpPr/>
          <p:nvPr/>
        </p:nvSpPr>
        <p:spPr>
          <a:xfrm>
            <a:off x="6446520" y="2011680"/>
            <a:ext cx="5349240" cy="56692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0" name="TextBox 19"/>
          <p:cNvSpPr txBox="1"/>
          <p:nvPr/>
        </p:nvSpPr>
        <p:spPr>
          <a:xfrm>
            <a:off x="6766559" y="2240280"/>
            <a:ext cx="4709159" cy="369332"/>
          </a:xfrm>
          <a:prstGeom prst="rect">
            <a:avLst/>
          </a:prstGeom>
          <a:noFill/>
        </p:spPr>
        <p:txBody>
          <a:bodyPr wrap="square" lIns="0" tIns="0" rIns="0" bIns="0" anchor="t">
            <a:spAutoFit/>
          </a:bodyPr>
          <a:lstStyle/>
          <a:p>
            <a:pPr algn="l">
              <a:spcAft>
                <a:spcPts val="800"/>
              </a:spcAft>
            </a:pPr>
            <a:r>
              <a:rPr sz="2400" b="1" dirty="0">
                <a:solidFill>
                  <a:srgbClr val="EC6A27"/>
                </a:solidFill>
                <a:latin typeface="Glacial Indifference Bold"/>
                <a:ea typeface="Glacial Indifference Bold"/>
                <a:cs typeface="Glacial Indifference Bold"/>
              </a:rPr>
              <a:t>Problems at </a:t>
            </a:r>
            <a:r>
              <a:rPr lang="en-US" sz="2400" b="1" dirty="0">
                <a:solidFill>
                  <a:srgbClr val="EC6A27"/>
                </a:solidFill>
                <a:latin typeface="Glacial Indifference Bold"/>
                <a:ea typeface="Glacial Indifference Bold"/>
                <a:cs typeface="Glacial Indifference Bold"/>
              </a:rPr>
              <a:t>the clinic</a:t>
            </a:r>
            <a:endParaRPr sz="2400" b="1" dirty="0">
              <a:solidFill>
                <a:srgbClr val="EC6A27"/>
              </a:solidFill>
              <a:latin typeface="Glacial Indifference Bold"/>
              <a:ea typeface="Glacial Indifference Bold"/>
              <a:cs typeface="Glacial Indifference Bold"/>
            </a:endParaRPr>
          </a:p>
        </p:txBody>
      </p:sp>
      <p:sp>
        <p:nvSpPr>
          <p:cNvPr id="22" name="Rounded Rectangle 21"/>
          <p:cNvSpPr/>
          <p:nvPr/>
        </p:nvSpPr>
        <p:spPr>
          <a:xfrm>
            <a:off x="12070080" y="2011680"/>
            <a:ext cx="5349240" cy="566928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3" name="TextBox 22"/>
          <p:cNvSpPr txBox="1"/>
          <p:nvPr/>
        </p:nvSpPr>
        <p:spPr>
          <a:xfrm>
            <a:off x="12390119" y="2240280"/>
            <a:ext cx="4709159" cy="457200"/>
          </a:xfrm>
          <a:prstGeom prst="rect">
            <a:avLst/>
          </a:prstGeom>
          <a:noFill/>
        </p:spPr>
        <p:txBody>
          <a:bodyPr wrap="square" lIns="0" tIns="0" rIns="0" bIns="0" anchor="t">
            <a:spAutoFit/>
          </a:bodyPr>
          <a:lstStyle/>
          <a:p>
            <a:pPr algn="l">
              <a:spcAft>
                <a:spcPts val="800"/>
              </a:spcAft>
            </a:pPr>
            <a:r>
              <a:rPr sz="2400" b="1">
                <a:solidFill>
                  <a:srgbClr val="FFFFFF"/>
                </a:solidFill>
                <a:latin typeface="Glacial Indifference Bold"/>
                <a:ea typeface="Glacial Indifference Bold"/>
                <a:cs typeface="Glacial Indifference Bold"/>
              </a:rPr>
              <a:t>Research Gap</a:t>
            </a:r>
          </a:p>
        </p:txBody>
      </p:sp>
      <p:sp>
        <p:nvSpPr>
          <p:cNvPr id="25" name="TextBox 24">
            <a:extLst>
              <a:ext uri="{FF2B5EF4-FFF2-40B4-BE49-F238E27FC236}">
                <a16:creationId xmlns:a16="http://schemas.microsoft.com/office/drawing/2014/main" id="{6CF9AB26-4239-4C27-0AB8-67DBE246C6E3}"/>
              </a:ext>
            </a:extLst>
          </p:cNvPr>
          <p:cNvSpPr txBox="1"/>
          <p:nvPr/>
        </p:nvSpPr>
        <p:spPr>
          <a:xfrm>
            <a:off x="1143000" y="2834640"/>
            <a:ext cx="4709159" cy="4663440"/>
          </a:xfrm>
          <a:prstGeom prst="rect">
            <a:avLst/>
          </a:prstGeom>
          <a:noFill/>
        </p:spPr>
        <p:txBody>
          <a:bodyPr wrap="square" lIns="0" tIns="0" rIns="0" bIns="0" anchor="t">
            <a:spAutoFit/>
          </a:bodyPr>
          <a:lstStyle/>
          <a:p>
            <a:pPr marL="347472" indent="-347472" algn="l">
              <a:spcAft>
                <a:spcPts val="1400"/>
              </a:spcAft>
              <a:buClr>
                <a:srgbClr val="EC6A27"/>
              </a:buClr>
              <a:buFont typeface="Arial"/>
              <a:buChar char="•"/>
            </a:pPr>
            <a:r>
              <a:rPr sz="2600" b="0" dirty="0">
                <a:solidFill>
                  <a:srgbClr val="1E1E1E"/>
                </a:solidFill>
                <a:latin typeface="Glacial Indifference"/>
              </a:rPr>
              <a:t>The clinic manages owner and pet registration, vaccination, and payment records</a:t>
            </a:r>
          </a:p>
          <a:p>
            <a:pPr marL="347472" indent="-347472" algn="l">
              <a:spcAft>
                <a:spcPts val="1400"/>
              </a:spcAft>
              <a:buClr>
                <a:srgbClr val="EC6A27"/>
              </a:buClr>
              <a:buFont typeface="Arial"/>
              <a:buChar char="•"/>
            </a:pPr>
            <a:r>
              <a:rPr sz="2600" b="0" dirty="0">
                <a:solidFill>
                  <a:srgbClr val="1E1E1E"/>
                </a:solidFill>
                <a:latin typeface="Glacial Indifference"/>
              </a:rPr>
              <a:t>Records are still mostly manual - prone to delays, inconsistencies, and difficult data access</a:t>
            </a:r>
          </a:p>
          <a:p>
            <a:pPr marL="347472" indent="-347472" algn="l">
              <a:spcAft>
                <a:spcPts val="1400"/>
              </a:spcAft>
              <a:buClr>
                <a:srgbClr val="EC6A27"/>
              </a:buClr>
              <a:buFont typeface="Arial"/>
              <a:buChar char="•"/>
            </a:pPr>
            <a:r>
              <a:rPr sz="2600" b="0" dirty="0">
                <a:solidFill>
                  <a:srgbClr val="1E1E1E"/>
                </a:solidFill>
                <a:latin typeface="Glacial Indifference"/>
              </a:rPr>
              <a:t>Matching Treasury-issued Official Receipts with payments is hard to trace</a:t>
            </a:r>
          </a:p>
        </p:txBody>
      </p:sp>
      <p:sp>
        <p:nvSpPr>
          <p:cNvPr id="27" name="TextBox 26">
            <a:extLst>
              <a:ext uri="{FF2B5EF4-FFF2-40B4-BE49-F238E27FC236}">
                <a16:creationId xmlns:a16="http://schemas.microsoft.com/office/drawing/2014/main" id="{7970BA38-1485-D039-B9D7-6037E0B36D56}"/>
              </a:ext>
            </a:extLst>
          </p:cNvPr>
          <p:cNvSpPr txBox="1"/>
          <p:nvPr/>
        </p:nvSpPr>
        <p:spPr>
          <a:xfrm>
            <a:off x="6766559" y="2834640"/>
            <a:ext cx="4709159" cy="4663440"/>
          </a:xfrm>
          <a:prstGeom prst="rect">
            <a:avLst/>
          </a:prstGeom>
          <a:noFill/>
        </p:spPr>
        <p:txBody>
          <a:bodyPr wrap="square" lIns="0" tIns="0" rIns="0" bIns="0" anchor="t">
            <a:spAutoFit/>
          </a:bodyPr>
          <a:lstStyle/>
          <a:p>
            <a:pPr marL="347472" indent="-347472" algn="l">
              <a:spcAft>
                <a:spcPts val="1400"/>
              </a:spcAft>
              <a:buClr>
                <a:srgbClr val="EC6A27"/>
              </a:buClr>
              <a:buFont typeface="Arial"/>
              <a:buChar char="•"/>
            </a:pPr>
            <a:r>
              <a:rPr sz="2600" b="0" dirty="0">
                <a:solidFill>
                  <a:srgbClr val="1E1E1E"/>
                </a:solidFill>
                <a:latin typeface="Glacial Indifference"/>
              </a:rPr>
              <a:t>Manual and fragmented registration with long waiting lines</a:t>
            </a:r>
          </a:p>
          <a:p>
            <a:pPr marL="347472" indent="-347472" algn="l">
              <a:spcAft>
                <a:spcPts val="1400"/>
              </a:spcAft>
              <a:buClr>
                <a:srgbClr val="EC6A27"/>
              </a:buClr>
              <a:buFont typeface="Arial"/>
              <a:buChar char="•"/>
            </a:pPr>
            <a:r>
              <a:rPr sz="2600" b="0" dirty="0">
                <a:solidFill>
                  <a:srgbClr val="1E1E1E"/>
                </a:solidFill>
                <a:latin typeface="Glacial Indifference"/>
              </a:rPr>
              <a:t>Difficulty tracing which clients have paid and which have not</a:t>
            </a:r>
          </a:p>
          <a:p>
            <a:pPr marL="347472" indent="-347472" algn="l">
              <a:spcAft>
                <a:spcPts val="1400"/>
              </a:spcAft>
              <a:buClr>
                <a:srgbClr val="EC6A27"/>
              </a:buClr>
              <a:buFont typeface="Arial"/>
              <a:buChar char="•"/>
            </a:pPr>
            <a:r>
              <a:rPr sz="2600" b="0" dirty="0">
                <a:solidFill>
                  <a:srgbClr val="1E1E1E"/>
                </a:solidFill>
                <a:latin typeface="Glacial Indifference"/>
              </a:rPr>
              <a:t>Poor vaccination tracking and weak analytics for planning</a:t>
            </a:r>
          </a:p>
        </p:txBody>
      </p:sp>
      <p:sp>
        <p:nvSpPr>
          <p:cNvPr id="32" name="TextBox 31">
            <a:extLst>
              <a:ext uri="{FF2B5EF4-FFF2-40B4-BE49-F238E27FC236}">
                <a16:creationId xmlns:a16="http://schemas.microsoft.com/office/drawing/2014/main" id="{E1393179-F072-9045-7390-5097AEA4B83D}"/>
              </a:ext>
            </a:extLst>
          </p:cNvPr>
          <p:cNvSpPr txBox="1"/>
          <p:nvPr/>
        </p:nvSpPr>
        <p:spPr>
          <a:xfrm>
            <a:off x="12390119" y="2834640"/>
            <a:ext cx="4709159" cy="4663440"/>
          </a:xfrm>
          <a:prstGeom prst="rect">
            <a:avLst/>
          </a:prstGeom>
          <a:noFill/>
        </p:spPr>
        <p:txBody>
          <a:bodyPr wrap="square" lIns="0" tIns="0" rIns="0" bIns="0" anchor="t">
            <a:spAutoFit/>
          </a:bodyPr>
          <a:lstStyle/>
          <a:p>
            <a:pPr marL="347472" indent="-347472" algn="l">
              <a:spcAft>
                <a:spcPts val="1400"/>
              </a:spcAft>
              <a:buClr>
                <a:srgbClr val="FFFFFF"/>
              </a:buClr>
              <a:buFont typeface="Arial"/>
              <a:buChar char="•"/>
            </a:pPr>
            <a:r>
              <a:rPr sz="2500" b="0" dirty="0">
                <a:solidFill>
                  <a:srgbClr val="FFFFFF"/>
                </a:solidFill>
                <a:latin typeface="Glacial Indifference"/>
              </a:rPr>
              <a:t>Existing systems lack an integrated registration, QR traceability, payment, and analytics platform</a:t>
            </a:r>
          </a:p>
          <a:p>
            <a:pPr marL="347472" indent="-347472" algn="l">
              <a:spcAft>
                <a:spcPts val="1400"/>
              </a:spcAft>
              <a:buClr>
                <a:srgbClr val="FFFFFF"/>
              </a:buClr>
              <a:buFont typeface="Arial"/>
              <a:buChar char="•"/>
            </a:pPr>
            <a:r>
              <a:rPr sz="2500" b="0" dirty="0">
                <a:solidFill>
                  <a:srgbClr val="FFFFFF"/>
                </a:solidFill>
                <a:latin typeface="Glacial Indifference"/>
              </a:rPr>
              <a:t>No single scannable identifier linking a pet's registration, vaccination, payment, and clinical records</a:t>
            </a:r>
          </a:p>
          <a:p>
            <a:pPr marL="347472" indent="-347472" algn="l">
              <a:spcAft>
                <a:spcPts val="1400"/>
              </a:spcAft>
              <a:buClr>
                <a:srgbClr val="FFFFFF"/>
              </a:buClr>
              <a:buFont typeface="Arial"/>
              <a:buChar char="•"/>
            </a:pPr>
            <a:r>
              <a:rPr sz="2500" b="0" dirty="0">
                <a:solidFill>
                  <a:srgbClr val="FFFFFF"/>
                </a:solidFill>
                <a:latin typeface="Glacial Indifference"/>
              </a:rPr>
              <a:t>A web-based system built for the City Veterinary Animal Clinic is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OBJECTIVES</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What we set out to do</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7" name="Rounded Rectangle 16"/>
          <p:cNvSpPr/>
          <p:nvPr/>
        </p:nvSpPr>
        <p:spPr>
          <a:xfrm>
            <a:off x="822960" y="3611880"/>
            <a:ext cx="5349240" cy="41605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8" name="TextBox 17"/>
          <p:cNvSpPr txBox="1"/>
          <p:nvPr/>
        </p:nvSpPr>
        <p:spPr>
          <a:xfrm>
            <a:off x="1143000" y="3794760"/>
            <a:ext cx="4709159" cy="411480"/>
          </a:xfrm>
          <a:prstGeom prst="rect">
            <a:avLst/>
          </a:prstGeom>
          <a:noFill/>
        </p:spPr>
        <p:txBody>
          <a:bodyPr wrap="square" lIns="0" tIns="0" rIns="0" bIns="0" anchor="t">
            <a:spAutoFit/>
          </a:bodyPr>
          <a:lstStyle/>
          <a:p>
            <a:pPr algn="l">
              <a:spcAft>
                <a:spcPts val="800"/>
              </a:spcAft>
            </a:pPr>
            <a:r>
              <a:rPr sz="1900" b="1">
                <a:solidFill>
                  <a:srgbClr val="EC6A27"/>
                </a:solidFill>
                <a:latin typeface="Glacial Indifference Bold"/>
                <a:ea typeface="Glacial Indifference Bold"/>
                <a:cs typeface="Glacial Indifference Bold"/>
              </a:rPr>
              <a:t>OBJECTIVE 1</a:t>
            </a:r>
          </a:p>
        </p:txBody>
      </p:sp>
      <p:sp>
        <p:nvSpPr>
          <p:cNvPr id="19" name="TextBox 18"/>
          <p:cNvSpPr txBox="1"/>
          <p:nvPr/>
        </p:nvSpPr>
        <p:spPr>
          <a:xfrm>
            <a:off x="1143000" y="4114800"/>
            <a:ext cx="4709159" cy="492443"/>
          </a:xfrm>
          <a:prstGeom prst="rect">
            <a:avLst/>
          </a:prstGeom>
          <a:noFill/>
        </p:spPr>
        <p:txBody>
          <a:bodyPr wrap="square" lIns="0" tIns="0" rIns="0" bIns="0" anchor="t">
            <a:spAutoFit/>
          </a:bodyPr>
          <a:lstStyle/>
          <a:p>
            <a:pPr algn="l">
              <a:spcAft>
                <a:spcPts val="800"/>
              </a:spcAft>
            </a:pPr>
            <a:r>
              <a:rPr sz="3200" b="1" dirty="0">
                <a:solidFill>
                  <a:srgbClr val="1E1E1E"/>
                </a:solidFill>
                <a:latin typeface="Glacial Indifference Bold"/>
                <a:ea typeface="Glacial Indifference Bold"/>
                <a:cs typeface="Glacial Indifference Bold"/>
              </a:rPr>
              <a:t>De</a:t>
            </a:r>
            <a:r>
              <a:rPr lang="en-US" sz="3200" b="1" dirty="0">
                <a:solidFill>
                  <a:srgbClr val="1E1E1E"/>
                </a:solidFill>
                <a:latin typeface="Glacial Indifference Bold"/>
                <a:ea typeface="Glacial Indifference Bold"/>
                <a:cs typeface="Glacial Indifference Bold"/>
              </a:rPr>
              <a:t>velop and implement</a:t>
            </a:r>
            <a:endParaRPr sz="3600" b="1" dirty="0">
              <a:solidFill>
                <a:srgbClr val="1E1E1E"/>
              </a:solidFill>
              <a:latin typeface="Glacial Indifference Bold"/>
              <a:ea typeface="Glacial Indifference Bold"/>
              <a:cs typeface="Glacial Indifference Bold"/>
            </a:endParaRPr>
          </a:p>
        </p:txBody>
      </p:sp>
      <p:sp>
        <p:nvSpPr>
          <p:cNvPr id="20" name="TextBox 19"/>
          <p:cNvSpPr txBox="1"/>
          <p:nvPr/>
        </p:nvSpPr>
        <p:spPr>
          <a:xfrm>
            <a:off x="1143000" y="4892040"/>
            <a:ext cx="4709159" cy="2743200"/>
          </a:xfrm>
          <a:prstGeom prst="rect">
            <a:avLst/>
          </a:prstGeom>
          <a:noFill/>
        </p:spPr>
        <p:txBody>
          <a:bodyPr wrap="square" lIns="0" tIns="0" rIns="0" bIns="0" anchor="t">
            <a:spAutoFit/>
          </a:bodyPr>
          <a:lstStyle/>
          <a:p>
            <a:pPr marL="347472" indent="-347472" algn="l">
              <a:spcAft>
                <a:spcPts val="600"/>
              </a:spcAft>
              <a:buClr>
                <a:srgbClr val="EC6A27"/>
              </a:buClr>
              <a:buFont typeface="Arial"/>
              <a:buChar char="•"/>
            </a:pPr>
            <a:r>
              <a:rPr sz="2200" b="0">
                <a:solidFill>
                  <a:srgbClr val="1E1E1E"/>
                </a:solidFill>
                <a:latin typeface="Glacial Indifference"/>
                <a:ea typeface="Glacial Indifference"/>
                <a:cs typeface="Glacial Indifference"/>
              </a:rPr>
              <a:t>An accessible, user-friendly platform for delivering lessons</a:t>
            </a:r>
          </a:p>
          <a:p>
            <a:pPr marL="347472" indent="-347472" algn="l">
              <a:spcAft>
                <a:spcPts val="600"/>
              </a:spcAft>
              <a:buClr>
                <a:srgbClr val="EC6A27"/>
              </a:buClr>
              <a:buFont typeface="Arial"/>
              <a:buChar char="•"/>
            </a:pPr>
            <a:r>
              <a:rPr sz="2200" b="0">
                <a:solidFill>
                  <a:srgbClr val="1E1E1E"/>
                </a:solidFill>
                <a:latin typeface="Glacial Indifference"/>
                <a:ea typeface="Glacial Indifference"/>
                <a:cs typeface="Glacial Indifference"/>
              </a:rPr>
              <a:t>Managing activities and assessments</a:t>
            </a:r>
          </a:p>
          <a:p>
            <a:pPr marL="347472" indent="-347472" algn="l">
              <a:spcAft>
                <a:spcPts val="600"/>
              </a:spcAft>
              <a:buClr>
                <a:srgbClr val="EC6A27"/>
              </a:buClr>
              <a:buFont typeface="Arial"/>
              <a:buChar char="•"/>
            </a:pPr>
            <a:r>
              <a:rPr sz="2200" b="0">
                <a:solidFill>
                  <a:srgbClr val="1E1E1E"/>
                </a:solidFill>
                <a:latin typeface="Glacial Indifference"/>
                <a:ea typeface="Glacial Indifference"/>
                <a:cs typeface="Glacial Indifference"/>
              </a:rPr>
              <a:t>Strengthening teacher, student and parent communication</a:t>
            </a:r>
          </a:p>
        </p:txBody>
      </p:sp>
      <p:sp>
        <p:nvSpPr>
          <p:cNvPr id="21" name="Rounded Rectangle 20"/>
          <p:cNvSpPr/>
          <p:nvPr/>
        </p:nvSpPr>
        <p:spPr>
          <a:xfrm>
            <a:off x="6446520" y="3611880"/>
            <a:ext cx="5349240" cy="41605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2" name="TextBox 21"/>
          <p:cNvSpPr txBox="1"/>
          <p:nvPr/>
        </p:nvSpPr>
        <p:spPr>
          <a:xfrm>
            <a:off x="6766559" y="3794760"/>
            <a:ext cx="4709159" cy="411480"/>
          </a:xfrm>
          <a:prstGeom prst="rect">
            <a:avLst/>
          </a:prstGeom>
          <a:noFill/>
        </p:spPr>
        <p:txBody>
          <a:bodyPr wrap="square" lIns="0" tIns="0" rIns="0" bIns="0" anchor="t">
            <a:spAutoFit/>
          </a:bodyPr>
          <a:lstStyle/>
          <a:p>
            <a:pPr algn="l">
              <a:spcAft>
                <a:spcPts val="800"/>
              </a:spcAft>
            </a:pPr>
            <a:r>
              <a:rPr sz="1900" b="1">
                <a:solidFill>
                  <a:srgbClr val="EC6A27"/>
                </a:solidFill>
                <a:latin typeface="Glacial Indifference Bold"/>
                <a:ea typeface="Glacial Indifference Bold"/>
                <a:cs typeface="Glacial Indifference Bold"/>
              </a:rPr>
              <a:t>OBJECTIVE 2</a:t>
            </a:r>
          </a:p>
        </p:txBody>
      </p:sp>
      <p:sp>
        <p:nvSpPr>
          <p:cNvPr id="23" name="TextBox 22"/>
          <p:cNvSpPr txBox="1"/>
          <p:nvPr/>
        </p:nvSpPr>
        <p:spPr>
          <a:xfrm>
            <a:off x="6766559" y="4114800"/>
            <a:ext cx="4709159" cy="738664"/>
          </a:xfrm>
          <a:prstGeom prst="rect">
            <a:avLst/>
          </a:prstGeom>
          <a:noFill/>
        </p:spPr>
        <p:txBody>
          <a:bodyPr wrap="square" lIns="0" tIns="0" rIns="0" bIns="0" anchor="t">
            <a:spAutoFit/>
          </a:bodyPr>
          <a:lstStyle/>
          <a:p>
            <a:pPr algn="ctr">
              <a:spcAft>
                <a:spcPts val="800"/>
              </a:spcAft>
            </a:pPr>
            <a:r>
              <a:rPr lang="en-US" sz="2400" b="1" dirty="0">
                <a:solidFill>
                  <a:srgbClr val="1E1E1E"/>
                </a:solidFill>
                <a:latin typeface="Glacial Indifference Bold"/>
                <a:ea typeface="Glacial Indifference Bold"/>
                <a:cs typeface="Glacial Indifference Bold"/>
              </a:rPr>
              <a:t>Implement a centralized online system </a:t>
            </a:r>
            <a:endParaRPr sz="3600" b="1" dirty="0">
              <a:solidFill>
                <a:srgbClr val="1E1E1E"/>
              </a:solidFill>
              <a:latin typeface="Glacial Indifference Bold"/>
              <a:ea typeface="Glacial Indifference Bold"/>
              <a:cs typeface="Glacial Indifference Bold"/>
            </a:endParaRPr>
          </a:p>
        </p:txBody>
      </p:sp>
      <p:sp>
        <p:nvSpPr>
          <p:cNvPr id="24" name="TextBox 23"/>
          <p:cNvSpPr txBox="1"/>
          <p:nvPr/>
        </p:nvSpPr>
        <p:spPr>
          <a:xfrm>
            <a:off x="6766559" y="4892040"/>
            <a:ext cx="4709159" cy="2743200"/>
          </a:xfrm>
          <a:prstGeom prst="rect">
            <a:avLst/>
          </a:prstGeom>
          <a:noFill/>
        </p:spPr>
        <p:txBody>
          <a:bodyPr wrap="square" lIns="0" tIns="0" rIns="0" bIns="0" anchor="t">
            <a:spAutoFit/>
          </a:bodyPr>
          <a:lstStyle/>
          <a:p>
            <a:pPr marL="347472" indent="-347472" algn="l">
              <a:spcAft>
                <a:spcPts val="600"/>
              </a:spcAft>
              <a:buClr>
                <a:srgbClr val="EC6A27"/>
              </a:buClr>
              <a:buFont typeface="Arial"/>
              <a:buChar char="•"/>
            </a:pPr>
            <a:r>
              <a:rPr sz="2200" b="0">
                <a:solidFill>
                  <a:srgbClr val="1E1E1E"/>
                </a:solidFill>
                <a:latin typeface="Glacial Indifference"/>
                <a:ea typeface="Glacial Indifference"/>
                <a:cs typeface="Glacial Indifference"/>
              </a:rPr>
              <a:t>Tools for teachers to create and manage modules</a:t>
            </a:r>
          </a:p>
          <a:p>
            <a:pPr marL="347472" indent="-347472" algn="l">
              <a:spcAft>
                <a:spcPts val="600"/>
              </a:spcAft>
              <a:buClr>
                <a:srgbClr val="EC6A27"/>
              </a:buClr>
              <a:buFont typeface="Arial"/>
              <a:buChar char="•"/>
            </a:pPr>
            <a:r>
              <a:rPr sz="2200" b="0">
                <a:solidFill>
                  <a:srgbClr val="1E1E1E"/>
                </a:solidFill>
                <a:latin typeface="Glacial Indifference"/>
                <a:ea typeface="Glacial Indifference"/>
                <a:cs typeface="Glacial Indifference"/>
              </a:rPr>
              <a:t>Student access to lessons and assessments</a:t>
            </a:r>
          </a:p>
          <a:p>
            <a:pPr marL="347472" indent="-347472" algn="l">
              <a:spcAft>
                <a:spcPts val="600"/>
              </a:spcAft>
              <a:buClr>
                <a:srgbClr val="EC6A27"/>
              </a:buClr>
              <a:buFont typeface="Arial"/>
              <a:buChar char="•"/>
            </a:pPr>
            <a:r>
              <a:rPr sz="2200" b="0">
                <a:solidFill>
                  <a:srgbClr val="1E1E1E"/>
                </a:solidFill>
                <a:latin typeface="Glacial Indifference"/>
                <a:ea typeface="Glacial Indifference"/>
                <a:cs typeface="Glacial Indifference"/>
              </a:rPr>
              <a:t>Progress tracking for teachers</a:t>
            </a:r>
          </a:p>
          <a:p>
            <a:pPr marL="347472" indent="-347472" algn="l">
              <a:spcAft>
                <a:spcPts val="600"/>
              </a:spcAft>
              <a:buClr>
                <a:srgbClr val="EC6A27"/>
              </a:buClr>
              <a:buFont typeface="Arial"/>
              <a:buChar char="•"/>
            </a:pPr>
            <a:r>
              <a:rPr sz="2200" b="0">
                <a:solidFill>
                  <a:srgbClr val="1E1E1E"/>
                </a:solidFill>
                <a:latin typeface="Glacial Indifference"/>
                <a:ea typeface="Glacial Indifference"/>
                <a:cs typeface="Glacial Indifference"/>
              </a:rPr>
              <a:t>Timely updates for parents</a:t>
            </a:r>
          </a:p>
        </p:txBody>
      </p:sp>
      <p:sp>
        <p:nvSpPr>
          <p:cNvPr id="25" name="Rounded Rectangle 24"/>
          <p:cNvSpPr/>
          <p:nvPr/>
        </p:nvSpPr>
        <p:spPr>
          <a:xfrm>
            <a:off x="12070080" y="3611880"/>
            <a:ext cx="5349240" cy="41605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6" name="TextBox 25"/>
          <p:cNvSpPr txBox="1"/>
          <p:nvPr/>
        </p:nvSpPr>
        <p:spPr>
          <a:xfrm>
            <a:off x="12390119" y="3794760"/>
            <a:ext cx="4709159" cy="411480"/>
          </a:xfrm>
          <a:prstGeom prst="rect">
            <a:avLst/>
          </a:prstGeom>
          <a:noFill/>
        </p:spPr>
        <p:txBody>
          <a:bodyPr wrap="square" lIns="0" tIns="0" rIns="0" bIns="0" anchor="t">
            <a:spAutoFit/>
          </a:bodyPr>
          <a:lstStyle/>
          <a:p>
            <a:pPr algn="l">
              <a:spcAft>
                <a:spcPts val="800"/>
              </a:spcAft>
            </a:pPr>
            <a:r>
              <a:rPr sz="1900" b="1">
                <a:solidFill>
                  <a:srgbClr val="EC6A27"/>
                </a:solidFill>
                <a:latin typeface="Glacial Indifference Bold"/>
                <a:ea typeface="Glacial Indifference Bold"/>
                <a:cs typeface="Glacial Indifference Bold"/>
              </a:rPr>
              <a:t>OBJECTIVE 3</a:t>
            </a:r>
          </a:p>
        </p:txBody>
      </p:sp>
      <p:sp>
        <p:nvSpPr>
          <p:cNvPr id="27" name="TextBox 26"/>
          <p:cNvSpPr txBox="1"/>
          <p:nvPr/>
        </p:nvSpPr>
        <p:spPr>
          <a:xfrm>
            <a:off x="12390119" y="4114800"/>
            <a:ext cx="4709159" cy="731520"/>
          </a:xfrm>
          <a:prstGeom prst="rect">
            <a:avLst/>
          </a:prstGeom>
          <a:noFill/>
        </p:spPr>
        <p:txBody>
          <a:bodyPr wrap="square" lIns="0" tIns="0" rIns="0" bIns="0" anchor="t">
            <a:spAutoFit/>
          </a:bodyPr>
          <a:lstStyle/>
          <a:p>
            <a:pPr algn="l">
              <a:spcAft>
                <a:spcPts val="800"/>
              </a:spcAft>
            </a:pPr>
            <a:r>
              <a:rPr sz="3600" b="1">
                <a:solidFill>
                  <a:srgbClr val="1E1E1E"/>
                </a:solidFill>
                <a:latin typeface="Glacial Indifference Bold"/>
                <a:ea typeface="Glacial Indifference Bold"/>
                <a:cs typeface="Glacial Indifference Bold"/>
              </a:rPr>
              <a:t>Evaluate</a:t>
            </a:r>
          </a:p>
        </p:txBody>
      </p:sp>
      <p:sp>
        <p:nvSpPr>
          <p:cNvPr id="28" name="TextBox 27"/>
          <p:cNvSpPr txBox="1"/>
          <p:nvPr/>
        </p:nvSpPr>
        <p:spPr>
          <a:xfrm>
            <a:off x="12390119" y="4892040"/>
            <a:ext cx="4709159" cy="2743200"/>
          </a:xfrm>
          <a:prstGeom prst="rect">
            <a:avLst/>
          </a:prstGeom>
          <a:noFill/>
        </p:spPr>
        <p:txBody>
          <a:bodyPr wrap="square" lIns="0" tIns="0" rIns="0" bIns="0" anchor="t">
            <a:spAutoFit/>
          </a:bodyPr>
          <a:lstStyle/>
          <a:p>
            <a:pPr marL="347472" indent="-347472" algn="l">
              <a:spcAft>
                <a:spcPts val="600"/>
              </a:spcAft>
              <a:buClr>
                <a:srgbClr val="EC6A27"/>
              </a:buClr>
              <a:buFont typeface="Arial"/>
              <a:buChar char="•"/>
            </a:pPr>
            <a:r>
              <a:rPr sz="2200" b="0">
                <a:solidFill>
                  <a:srgbClr val="1E1E1E"/>
                </a:solidFill>
                <a:latin typeface="Glacial Indifference"/>
                <a:ea typeface="Glacial Indifference"/>
                <a:cs typeface="Glacial Indifference"/>
              </a:rPr>
              <a:t>Functionality</a:t>
            </a:r>
          </a:p>
          <a:p>
            <a:pPr marL="347472" indent="-347472" algn="l">
              <a:spcAft>
                <a:spcPts val="600"/>
              </a:spcAft>
              <a:buClr>
                <a:srgbClr val="EC6A27"/>
              </a:buClr>
              <a:buFont typeface="Arial"/>
              <a:buChar char="•"/>
            </a:pPr>
            <a:r>
              <a:rPr sz="2200" b="0">
                <a:solidFill>
                  <a:srgbClr val="1E1E1E"/>
                </a:solidFill>
                <a:latin typeface="Glacial Indifference"/>
                <a:ea typeface="Glacial Indifference"/>
                <a:cs typeface="Glacial Indifference"/>
              </a:rPr>
              <a:t>Usability</a:t>
            </a:r>
          </a:p>
          <a:p>
            <a:pPr marL="347472" indent="-347472" algn="l">
              <a:spcAft>
                <a:spcPts val="600"/>
              </a:spcAft>
              <a:buClr>
                <a:srgbClr val="EC6A27"/>
              </a:buClr>
              <a:buFont typeface="Arial"/>
              <a:buChar char="•"/>
            </a:pPr>
            <a:r>
              <a:rPr sz="2200" b="0">
                <a:solidFill>
                  <a:srgbClr val="1E1E1E"/>
                </a:solidFill>
                <a:latin typeface="Glacial Indifference"/>
                <a:ea typeface="Glacial Indifference"/>
                <a:cs typeface="Glacial Indifference"/>
              </a:rPr>
              <a:t>Accessibility</a:t>
            </a:r>
          </a:p>
          <a:p>
            <a:pPr marL="347472" indent="-347472" algn="l">
              <a:spcAft>
                <a:spcPts val="600"/>
              </a:spcAft>
              <a:buClr>
                <a:srgbClr val="EC6A27"/>
              </a:buClr>
              <a:buFont typeface="Arial"/>
              <a:buChar char="•"/>
            </a:pPr>
            <a:r>
              <a:rPr sz="2200" b="0">
                <a:solidFill>
                  <a:srgbClr val="1E1E1E"/>
                </a:solidFill>
                <a:latin typeface="Glacial Indifference"/>
                <a:ea typeface="Glacial Indifference"/>
                <a:cs typeface="Glacial Indifference"/>
              </a:rPr>
              <a:t>User satisfaction</a:t>
            </a:r>
          </a:p>
        </p:txBody>
      </p:sp>
      <p:sp>
        <p:nvSpPr>
          <p:cNvPr id="30" name="Rounded Rectangle 15">
            <a:extLst>
              <a:ext uri="{FF2B5EF4-FFF2-40B4-BE49-F238E27FC236}">
                <a16:creationId xmlns:a16="http://schemas.microsoft.com/office/drawing/2014/main" id="{3ECDC376-7D34-456E-C194-1A664457C654}"/>
              </a:ext>
            </a:extLst>
          </p:cNvPr>
          <p:cNvSpPr/>
          <p:nvPr/>
        </p:nvSpPr>
        <p:spPr>
          <a:xfrm>
            <a:off x="822960" y="1965960"/>
            <a:ext cx="16642080" cy="132588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l">
              <a:spcAft>
                <a:spcPts val="0"/>
              </a:spcAft>
            </a:pPr>
            <a:r>
              <a:rPr sz="2400" dirty="0">
                <a:solidFill>
                  <a:srgbClr val="FFFFFF"/>
                </a:solidFill>
                <a:latin typeface="Glacial Indifference Bold"/>
              </a:rPr>
              <a:t>General objective: Implement and document an integrated web-based system - the Web-Based QR-Enabled Pet Registration, Vaccination, and Traceability Manag</a:t>
            </a:r>
            <a:r>
              <a:rPr lang="en-US" sz="2400" dirty="0">
                <a:solidFill>
                  <a:srgbClr val="FFFFFF"/>
                </a:solidFill>
                <a:latin typeface="Glacial Indifference Bold"/>
              </a:rPr>
              <a:t>e</a:t>
            </a:r>
            <a:r>
              <a:rPr sz="2400" dirty="0">
                <a:solidFill>
                  <a:srgbClr val="FFFFFF"/>
                </a:solidFill>
                <a:latin typeface="Glacial Indifference Bold"/>
              </a:rPr>
              <a:t>ment System with Payment Monitoring and Data Analytics - for the City Veterinary Animal Clinic of </a:t>
            </a:r>
            <a:r>
              <a:rPr sz="2400" dirty="0" err="1">
                <a:solidFill>
                  <a:srgbClr val="FFFFFF"/>
                </a:solidFill>
                <a:latin typeface="Glacial Indifference Bold"/>
              </a:rPr>
              <a:t>Cabuyao</a:t>
            </a:r>
            <a:r>
              <a:rPr sz="2400" dirty="0">
                <a:solidFill>
                  <a:srgbClr val="FFFFFF"/>
                </a:solidFill>
                <a:latin typeface="Glacial Indifference Bold"/>
              </a:rPr>
              <a:t> City, Laguna.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SCOPE AND LIMITATIONS</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What the study covers, and where it stops</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Rounded Rectangle 15"/>
          <p:cNvSpPr/>
          <p:nvPr/>
        </p:nvSpPr>
        <p:spPr>
          <a:xfrm>
            <a:off x="822960" y="2011680"/>
            <a:ext cx="8138160" cy="57607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7" name="TextBox 16"/>
          <p:cNvSpPr txBox="1"/>
          <p:nvPr/>
        </p:nvSpPr>
        <p:spPr>
          <a:xfrm>
            <a:off x="1143000" y="2240280"/>
            <a:ext cx="7498080" cy="457200"/>
          </a:xfrm>
          <a:prstGeom prst="rect">
            <a:avLst/>
          </a:prstGeom>
          <a:noFill/>
        </p:spPr>
        <p:txBody>
          <a:bodyPr wrap="square" lIns="0" tIns="0" rIns="0" bIns="0" anchor="t">
            <a:spAutoFit/>
          </a:bodyPr>
          <a:lstStyle/>
          <a:p>
            <a:pPr algn="l">
              <a:spcAft>
                <a:spcPts val="800"/>
              </a:spcAft>
            </a:pPr>
            <a:r>
              <a:rPr sz="2400" b="1">
                <a:solidFill>
                  <a:srgbClr val="EC6A27"/>
                </a:solidFill>
                <a:latin typeface="Glacial Indifference Bold"/>
                <a:ea typeface="Glacial Indifference Bold"/>
                <a:cs typeface="Glacial Indifference Bold"/>
              </a:rPr>
              <a:t>Scope</a:t>
            </a:r>
          </a:p>
        </p:txBody>
      </p:sp>
      <p:sp>
        <p:nvSpPr>
          <p:cNvPr id="18" name="TextBox 17"/>
          <p:cNvSpPr txBox="1"/>
          <p:nvPr/>
        </p:nvSpPr>
        <p:spPr>
          <a:xfrm>
            <a:off x="1143000" y="2834640"/>
            <a:ext cx="7498080" cy="4754879"/>
          </a:xfrm>
          <a:prstGeom prst="rect">
            <a:avLst/>
          </a:prstGeom>
          <a:noFill/>
        </p:spPr>
        <p:txBody>
          <a:bodyPr wrap="square" lIns="0" tIns="0" rIns="0" bIns="0" anchor="t">
            <a:spAutoFit/>
          </a:bodyPr>
          <a:lstStyle/>
          <a:p>
            <a:pPr marL="347472" indent="-347472" algn="l">
              <a:spcAft>
                <a:spcPts val="1000"/>
              </a:spcAft>
              <a:buClr>
                <a:srgbClr val="EC6A27"/>
              </a:buClr>
              <a:buFont typeface="Arial"/>
              <a:buChar char="•"/>
            </a:pPr>
            <a:r>
              <a:rPr sz="2400" b="0">
                <a:solidFill>
                  <a:srgbClr val="1E1E1E"/>
                </a:solidFill>
                <a:latin typeface="Glacial Indifference"/>
                <a:ea typeface="Glacial Indifference"/>
                <a:cs typeface="Glacial Indifference"/>
              </a:rPr>
              <a:t>SNED Program of Bigaa Elementary School only</a:t>
            </a:r>
          </a:p>
          <a:p>
            <a:pPr marL="347472" indent="-347472" algn="l">
              <a:spcAft>
                <a:spcPts val="1000"/>
              </a:spcAft>
              <a:buClr>
                <a:srgbClr val="EC6A27"/>
              </a:buClr>
              <a:buFont typeface="Arial"/>
              <a:buChar char="•"/>
            </a:pPr>
            <a:r>
              <a:rPr sz="2400" b="0">
                <a:solidFill>
                  <a:srgbClr val="1E1E1E"/>
                </a:solidFill>
                <a:latin typeface="Glacial Indifference"/>
                <a:ea typeface="Glacial Indifference"/>
                <a:cs typeface="Glacial Indifference"/>
              </a:rPr>
              <a:t>Lesson delivery, learning materials, progress monitoring and communication</a:t>
            </a:r>
          </a:p>
          <a:p>
            <a:pPr marL="347472" indent="-347472" algn="l">
              <a:spcAft>
                <a:spcPts val="1000"/>
              </a:spcAft>
              <a:buClr>
                <a:srgbClr val="EC6A27"/>
              </a:buClr>
              <a:buFont typeface="Arial"/>
              <a:buChar char="•"/>
            </a:pPr>
            <a:r>
              <a:rPr sz="2400" b="0">
                <a:solidFill>
                  <a:srgbClr val="1E1E1E"/>
                </a:solidFill>
                <a:latin typeface="Glacial Indifference"/>
                <a:ea typeface="Glacial Indifference"/>
                <a:cs typeface="Glacial Indifference"/>
              </a:rPr>
              <a:t>Modules: lessons, activities and assessments, progress tracking, dashboards, messaging</a:t>
            </a:r>
          </a:p>
          <a:p>
            <a:pPr marL="347472" indent="-347472" algn="l">
              <a:spcAft>
                <a:spcPts val="1000"/>
              </a:spcAft>
              <a:buClr>
                <a:srgbClr val="EC6A27"/>
              </a:buClr>
              <a:buFont typeface="Arial"/>
              <a:buChar char="•"/>
            </a:pPr>
            <a:r>
              <a:rPr sz="2400" b="0">
                <a:solidFill>
                  <a:srgbClr val="1E1E1E"/>
                </a:solidFill>
                <a:latin typeface="Glacial Indifference"/>
                <a:ea typeface="Glacial Indifference"/>
                <a:cs typeface="Glacial Indifference"/>
              </a:rPr>
              <a:t>Stages: design, development, testing and evaluation</a:t>
            </a:r>
          </a:p>
          <a:p>
            <a:pPr marL="347472" indent="-347472" algn="l">
              <a:spcAft>
                <a:spcPts val="1000"/>
              </a:spcAft>
              <a:buClr>
                <a:srgbClr val="EC6A27"/>
              </a:buClr>
              <a:buFont typeface="Arial"/>
              <a:buChar char="•"/>
            </a:pPr>
            <a:r>
              <a:rPr sz="2400" b="0">
                <a:solidFill>
                  <a:srgbClr val="1E1E1E"/>
                </a:solidFill>
                <a:latin typeface="Glacial Indifference"/>
                <a:ea typeface="Glacial Indifference"/>
                <a:cs typeface="Glacial Indifference"/>
              </a:rPr>
              <a:t>Evaluated on functionality, usability, accessibility and user satisfaction</a:t>
            </a:r>
          </a:p>
        </p:txBody>
      </p:sp>
      <p:sp>
        <p:nvSpPr>
          <p:cNvPr id="19" name="Rounded Rectangle 18"/>
          <p:cNvSpPr/>
          <p:nvPr/>
        </p:nvSpPr>
        <p:spPr>
          <a:xfrm>
            <a:off x="9326880" y="2011680"/>
            <a:ext cx="8138160" cy="57607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0" name="TextBox 19"/>
          <p:cNvSpPr txBox="1"/>
          <p:nvPr/>
        </p:nvSpPr>
        <p:spPr>
          <a:xfrm>
            <a:off x="9646919" y="2240280"/>
            <a:ext cx="7498080" cy="457200"/>
          </a:xfrm>
          <a:prstGeom prst="rect">
            <a:avLst/>
          </a:prstGeom>
          <a:noFill/>
        </p:spPr>
        <p:txBody>
          <a:bodyPr wrap="square" lIns="0" tIns="0" rIns="0" bIns="0" anchor="t">
            <a:spAutoFit/>
          </a:bodyPr>
          <a:lstStyle/>
          <a:p>
            <a:pPr algn="l">
              <a:spcAft>
                <a:spcPts val="800"/>
              </a:spcAft>
            </a:pPr>
            <a:r>
              <a:rPr sz="2400" b="1">
                <a:solidFill>
                  <a:srgbClr val="4A4A4A"/>
                </a:solidFill>
                <a:latin typeface="Glacial Indifference Bold"/>
                <a:ea typeface="Glacial Indifference Bold"/>
                <a:cs typeface="Glacial Indifference Bold"/>
              </a:rPr>
              <a:t>Limitations</a:t>
            </a:r>
          </a:p>
        </p:txBody>
      </p:sp>
      <p:sp>
        <p:nvSpPr>
          <p:cNvPr id="21" name="TextBox 20"/>
          <p:cNvSpPr txBox="1"/>
          <p:nvPr/>
        </p:nvSpPr>
        <p:spPr>
          <a:xfrm>
            <a:off x="9646919" y="2834640"/>
            <a:ext cx="7498080" cy="4754879"/>
          </a:xfrm>
          <a:prstGeom prst="rect">
            <a:avLst/>
          </a:prstGeom>
          <a:noFill/>
        </p:spPr>
        <p:txBody>
          <a:bodyPr wrap="square" lIns="0" tIns="0" rIns="0" bIns="0" anchor="t">
            <a:spAutoFit/>
          </a:bodyPr>
          <a:lstStyle/>
          <a:p>
            <a:pPr marL="347472" indent="-347472" algn="l">
              <a:spcAft>
                <a:spcPts val="1000"/>
              </a:spcAft>
              <a:buClr>
                <a:srgbClr val="EC6A27"/>
              </a:buClr>
              <a:buFont typeface="Arial"/>
              <a:buChar char="•"/>
            </a:pPr>
            <a:r>
              <a:rPr sz="2400" b="0">
                <a:solidFill>
                  <a:srgbClr val="1E1E1E"/>
                </a:solidFill>
                <a:latin typeface="Glacial Indifference"/>
                <a:ea typeface="Glacial Indifference"/>
                <a:cs typeface="Glacial Indifference"/>
              </a:rPr>
              <a:t>Results cannot be generalized to other schools or programs</a:t>
            </a:r>
          </a:p>
          <a:p>
            <a:pPr marL="347472" indent="-347472" algn="l">
              <a:spcAft>
                <a:spcPts val="1000"/>
              </a:spcAft>
              <a:buClr>
                <a:srgbClr val="EC6A27"/>
              </a:buClr>
              <a:buFont typeface="Arial"/>
              <a:buChar char="•"/>
            </a:pPr>
            <a:r>
              <a:rPr sz="2400" b="0">
                <a:solidFill>
                  <a:srgbClr val="1E1E1E"/>
                </a:solidFill>
                <a:latin typeface="Glacial Indifference"/>
                <a:ea typeface="Glacial Indifference"/>
                <a:cs typeface="Glacial Indifference"/>
              </a:rPr>
              <a:t>Needs a device and stable internet connection</a:t>
            </a:r>
          </a:p>
          <a:p>
            <a:pPr marL="347472" indent="-347472" algn="l">
              <a:spcAft>
                <a:spcPts val="1000"/>
              </a:spcAft>
              <a:buClr>
                <a:srgbClr val="EC6A27"/>
              </a:buClr>
              <a:buFont typeface="Arial"/>
              <a:buChar char="•"/>
            </a:pPr>
            <a:r>
              <a:rPr sz="2400" b="0">
                <a:solidFill>
                  <a:srgbClr val="1E1E1E"/>
                </a:solidFill>
                <a:latin typeface="Glacial Indifference"/>
                <a:ea typeface="Glacial Indifference"/>
                <a:cs typeface="Glacial Indifference"/>
              </a:rPr>
              <a:t>No specialized assistive hardware, paid software or complex integration</a:t>
            </a:r>
          </a:p>
          <a:p>
            <a:pPr marL="347472" indent="-347472" algn="l">
              <a:spcAft>
                <a:spcPts val="1000"/>
              </a:spcAft>
              <a:buClr>
                <a:srgbClr val="EC6A27"/>
              </a:buClr>
              <a:buFont typeface="Arial"/>
              <a:buChar char="•"/>
            </a:pPr>
            <a:r>
              <a:rPr sz="2400" b="0">
                <a:solidFill>
                  <a:srgbClr val="1E1E1E"/>
                </a:solidFill>
                <a:latin typeface="Glacial Indifference"/>
                <a:ea typeface="Glacial Indifference"/>
                <a:cs typeface="Glacial Indifference"/>
              </a:rPr>
              <a:t>A supplement to teachers, not a replacement</a:t>
            </a:r>
          </a:p>
          <a:p>
            <a:pPr marL="347472" indent="-347472" algn="l">
              <a:spcAft>
                <a:spcPts val="1000"/>
              </a:spcAft>
              <a:buClr>
                <a:srgbClr val="EC6A27"/>
              </a:buClr>
              <a:buFont typeface="Arial"/>
              <a:buChar char="•"/>
            </a:pPr>
            <a:r>
              <a:rPr sz="2400" b="0">
                <a:solidFill>
                  <a:srgbClr val="1E1E1E"/>
                </a:solidFill>
                <a:latin typeface="Glacial Indifference"/>
                <a:ea typeface="Glacial Indifference"/>
                <a:cs typeface="Glacial Indifference"/>
              </a:rPr>
              <a:t>Assessed only during the research period, so no long-term effects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METHODOLOGY</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Descriptive mixed-method research design</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Rounded Rectangle 15"/>
          <p:cNvSpPr/>
          <p:nvPr/>
        </p:nvSpPr>
        <p:spPr>
          <a:xfrm>
            <a:off x="822960" y="2011680"/>
            <a:ext cx="9326880" cy="57607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7" name="TextBox 16"/>
          <p:cNvSpPr txBox="1"/>
          <p:nvPr/>
        </p:nvSpPr>
        <p:spPr>
          <a:xfrm>
            <a:off x="1143000" y="2194560"/>
            <a:ext cx="8686800" cy="457200"/>
          </a:xfrm>
          <a:prstGeom prst="rect">
            <a:avLst/>
          </a:prstGeom>
          <a:noFill/>
        </p:spPr>
        <p:txBody>
          <a:bodyPr wrap="square" lIns="0" tIns="0" rIns="0" bIns="0" anchor="t">
            <a:spAutoFit/>
          </a:bodyPr>
          <a:lstStyle/>
          <a:p>
            <a:pPr algn="l">
              <a:spcAft>
                <a:spcPts val="800"/>
              </a:spcAft>
            </a:pPr>
            <a:r>
              <a:rPr sz="2400" b="1">
                <a:solidFill>
                  <a:srgbClr val="EC6A27"/>
                </a:solidFill>
                <a:latin typeface="Glacial Indifference Bold"/>
                <a:ea typeface="Glacial Indifference Bold"/>
                <a:cs typeface="Glacial Indifference Bold"/>
              </a:rPr>
              <a:t>Two phases</a:t>
            </a:r>
          </a:p>
        </p:txBody>
      </p:sp>
      <p:sp>
        <p:nvSpPr>
          <p:cNvPr id="18" name="TextBox 17"/>
          <p:cNvSpPr txBox="1"/>
          <p:nvPr/>
        </p:nvSpPr>
        <p:spPr>
          <a:xfrm>
            <a:off x="1143000" y="2743200"/>
            <a:ext cx="8686800" cy="4937760"/>
          </a:xfrm>
          <a:prstGeom prst="rect">
            <a:avLst/>
          </a:prstGeom>
          <a:noFill/>
        </p:spPr>
        <p:txBody>
          <a:bodyPr wrap="square" lIns="0" tIns="0" rIns="0" bIns="0" anchor="t">
            <a:spAutoFit/>
          </a:bodyPr>
          <a:lstStyle/>
          <a:p>
            <a:pPr marL="347472" indent="-347472" algn="l">
              <a:spcAft>
                <a:spcPts val="1600"/>
              </a:spcAft>
              <a:buClr>
                <a:srgbClr val="EC6A27"/>
              </a:buClr>
              <a:buFont typeface="Arial"/>
              <a:buChar char="•"/>
            </a:pPr>
            <a:r>
              <a:rPr sz="2500" b="1">
                <a:solidFill>
                  <a:srgbClr val="1E1E1E"/>
                </a:solidFill>
                <a:latin typeface="Glacial Indifference Bold"/>
                <a:ea typeface="Glacial Indifference Bold"/>
                <a:cs typeface="Glacial Indifference Bold"/>
              </a:rPr>
              <a:t>Pre-development (qualitative): </a:t>
            </a:r>
            <a:r>
              <a:rPr sz="2500" b="0">
                <a:solidFill>
                  <a:srgbClr val="1E1E1E"/>
                </a:solidFill>
                <a:latin typeface="Glacial Indifference"/>
                <a:ea typeface="Glacial Indifference"/>
                <a:cs typeface="Glacial Indifference"/>
              </a:rPr>
              <a:t>survey questionnaire, direct observation, document analysis</a:t>
            </a:r>
          </a:p>
          <a:p>
            <a:pPr marL="347472" indent="-347472" algn="l">
              <a:spcAft>
                <a:spcPts val="1600"/>
              </a:spcAft>
              <a:buClr>
                <a:srgbClr val="EC6A27"/>
              </a:buClr>
              <a:buFont typeface="Arial"/>
              <a:buChar char="•"/>
            </a:pPr>
            <a:r>
              <a:rPr sz="2500" b="1">
                <a:solidFill>
                  <a:srgbClr val="1E1E1E"/>
                </a:solidFill>
                <a:latin typeface="Glacial Indifference Bold"/>
                <a:ea typeface="Glacial Indifference Bold"/>
                <a:cs typeface="Glacial Indifference Bold"/>
              </a:rPr>
              <a:t>Post-development (quantitative): </a:t>
            </a:r>
            <a:r>
              <a:rPr sz="2500" b="0">
                <a:solidFill>
                  <a:srgbClr val="1E1E1E"/>
                </a:solidFill>
                <a:latin typeface="Glacial Indifference"/>
                <a:ea typeface="Glacial Indifference"/>
                <a:cs typeface="Glacial Indifference"/>
              </a:rPr>
              <a:t>1-week User Acceptance Testing, then ISO/IEC 25010:2023 evaluation questionnaires</a:t>
            </a:r>
          </a:p>
          <a:p>
            <a:pPr marL="347472" indent="-347472" algn="l">
              <a:spcAft>
                <a:spcPts val="1600"/>
              </a:spcAft>
              <a:buClr>
                <a:srgbClr val="EC6A27"/>
              </a:buClr>
              <a:buFont typeface="Arial"/>
              <a:buChar char="•"/>
            </a:pPr>
            <a:r>
              <a:rPr sz="2500" b="1">
                <a:solidFill>
                  <a:srgbClr val="1E1E1E"/>
                </a:solidFill>
                <a:latin typeface="Glacial Indifference Bold"/>
                <a:ea typeface="Glacial Indifference Bold"/>
                <a:cs typeface="Glacial Indifference Bold"/>
              </a:rPr>
              <a:t>Statistics: </a:t>
            </a:r>
            <a:r>
              <a:rPr sz="2500" b="0">
                <a:solidFill>
                  <a:srgbClr val="1E1E1E"/>
                </a:solidFill>
                <a:latin typeface="Glacial Indifference"/>
                <a:ea typeface="Glacial Indifference"/>
                <a:cs typeface="Glacial Indifference"/>
              </a:rPr>
              <a:t>content analysis for qualitative data; weighted mean with a five-point Likert scale for evaluation</a:t>
            </a:r>
          </a:p>
          <a:p>
            <a:pPr marL="347472" indent="-347472" algn="l">
              <a:spcAft>
                <a:spcPts val="1600"/>
              </a:spcAft>
              <a:buClr>
                <a:srgbClr val="EC6A27"/>
              </a:buClr>
              <a:buFont typeface="Arial"/>
              <a:buChar char="•"/>
            </a:pPr>
            <a:r>
              <a:rPr sz="2500" b="1">
                <a:solidFill>
                  <a:srgbClr val="1E1E1E"/>
                </a:solidFill>
                <a:latin typeface="Glacial Indifference Bold"/>
                <a:ea typeface="Glacial Indifference Bold"/>
                <a:cs typeface="Glacial Indifference Bold"/>
              </a:rPr>
              <a:t>Respondents: </a:t>
            </a:r>
            <a:r>
              <a:rPr sz="2500" b="0">
                <a:solidFill>
                  <a:srgbClr val="1E1E1E"/>
                </a:solidFill>
                <a:latin typeface="Glacial Indifference"/>
                <a:ea typeface="Glacial Indifference"/>
                <a:cs typeface="Glacial Indifference"/>
              </a:rPr>
              <a:t>62 purposely selected from Bigaa Elementary School, 100% retrieval</a:t>
            </a:r>
          </a:p>
        </p:txBody>
      </p:sp>
      <p:graphicFrame>
        <p:nvGraphicFramePr>
          <p:cNvPr id="19" name="Chart 18"/>
          <p:cNvGraphicFramePr>
            <a:graphicFrameLocks noGrp="1"/>
          </p:cNvGraphicFramePr>
          <p:nvPr/>
        </p:nvGraphicFramePr>
        <p:xfrm>
          <a:off x="10424160" y="2514600"/>
          <a:ext cx="7040880" cy="5303520"/>
        </p:xfrm>
        <a:graphic>
          <a:graphicData uri="http://schemas.openxmlformats.org/drawingml/2006/chart">
            <c:chart xmlns:c="http://schemas.openxmlformats.org/drawingml/2006/chart" xmlns:r="http://schemas.openxmlformats.org/officeDocument/2006/relationships" r:id="rId23"/>
          </a:graphicData>
        </a:graphic>
      </p:graphicFrame>
      <p:sp>
        <p:nvSpPr>
          <p:cNvPr id="20" name="TextBox 19"/>
          <p:cNvSpPr txBox="1"/>
          <p:nvPr/>
        </p:nvSpPr>
        <p:spPr>
          <a:xfrm>
            <a:off x="10424160" y="2011680"/>
            <a:ext cx="7040880" cy="457200"/>
          </a:xfrm>
          <a:prstGeom prst="rect">
            <a:avLst/>
          </a:prstGeom>
          <a:noFill/>
        </p:spPr>
        <p:txBody>
          <a:bodyPr wrap="square" lIns="0" tIns="0" rIns="0" bIns="0" anchor="t">
            <a:spAutoFit/>
          </a:bodyPr>
          <a:lstStyle/>
          <a:p>
            <a:pPr algn="l">
              <a:spcAft>
                <a:spcPts val="800"/>
              </a:spcAft>
            </a:pPr>
            <a:r>
              <a:rPr sz="2200" b="1">
                <a:solidFill>
                  <a:srgbClr val="1E1E1E"/>
                </a:solidFill>
                <a:latin typeface="Glacial Indifference Bold"/>
                <a:ea typeface="Glacial Indifference Bold"/>
                <a:cs typeface="Glacial Indifference Bold"/>
              </a:rPr>
              <a:t>Respondents by group (N = 62)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EVIDENCE OF METHODOLOGY</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Agile Scrum: every sprint was carried out</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Rounded Rectangle 15"/>
          <p:cNvSpPr/>
          <p:nvPr/>
        </p:nvSpPr>
        <p:spPr>
          <a:xfrm>
            <a:off x="822960"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7" name="TextBox 16"/>
          <p:cNvSpPr txBox="1"/>
          <p:nvPr/>
        </p:nvSpPr>
        <p:spPr>
          <a:xfrm>
            <a:off x="1078992" y="2130552"/>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0</a:t>
            </a:r>
          </a:p>
        </p:txBody>
      </p:sp>
      <p:sp>
        <p:nvSpPr>
          <p:cNvPr id="18" name="TextBox 17"/>
          <p:cNvSpPr txBox="1"/>
          <p:nvPr/>
        </p:nvSpPr>
        <p:spPr>
          <a:xfrm>
            <a:off x="1078992" y="2496312"/>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ea typeface="Glacial Indifference Bold"/>
                <a:cs typeface="Glacial Indifference Bold"/>
              </a:rPr>
              <a:t>Requirements</a:t>
            </a:r>
          </a:p>
        </p:txBody>
      </p:sp>
      <p:sp>
        <p:nvSpPr>
          <p:cNvPr id="19" name="TextBox 18"/>
          <p:cNvSpPr txBox="1"/>
          <p:nvPr/>
        </p:nvSpPr>
        <p:spPr>
          <a:xfrm>
            <a:off x="1078992" y="324612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Survey, observation, document analysis and interviews; user stories and product backlog</a:t>
            </a:r>
          </a:p>
        </p:txBody>
      </p:sp>
      <p:sp>
        <p:nvSpPr>
          <p:cNvPr id="20" name="Rounded Rectangle 19"/>
          <p:cNvSpPr/>
          <p:nvPr/>
        </p:nvSpPr>
        <p:spPr>
          <a:xfrm>
            <a:off x="5056632"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1" name="TextBox 20"/>
          <p:cNvSpPr txBox="1"/>
          <p:nvPr/>
        </p:nvSpPr>
        <p:spPr>
          <a:xfrm>
            <a:off x="5312664" y="2130552"/>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1</a:t>
            </a:r>
          </a:p>
        </p:txBody>
      </p:sp>
      <p:sp>
        <p:nvSpPr>
          <p:cNvPr id="22" name="TextBox 21"/>
          <p:cNvSpPr txBox="1"/>
          <p:nvPr/>
        </p:nvSpPr>
        <p:spPr>
          <a:xfrm>
            <a:off x="5312664" y="2496312"/>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ea typeface="Glacial Indifference Bold"/>
                <a:cs typeface="Glacial Indifference Bold"/>
              </a:rPr>
              <a:t>Login and foundation</a:t>
            </a:r>
          </a:p>
        </p:txBody>
      </p:sp>
      <p:sp>
        <p:nvSpPr>
          <p:cNvPr id="23" name="TextBox 22"/>
          <p:cNvSpPr txBox="1"/>
          <p:nvPr/>
        </p:nvSpPr>
        <p:spPr>
          <a:xfrm>
            <a:off x="5312664" y="324612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Account management, role-based login, React, Laravel and MySQL set up</a:t>
            </a:r>
          </a:p>
        </p:txBody>
      </p:sp>
      <p:sp>
        <p:nvSpPr>
          <p:cNvPr id="24" name="Rounded Rectangle 23"/>
          <p:cNvSpPr/>
          <p:nvPr/>
        </p:nvSpPr>
        <p:spPr>
          <a:xfrm>
            <a:off x="9290304"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5" name="TextBox 24"/>
          <p:cNvSpPr txBox="1"/>
          <p:nvPr/>
        </p:nvSpPr>
        <p:spPr>
          <a:xfrm>
            <a:off x="9546336" y="2130552"/>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2</a:t>
            </a:r>
          </a:p>
        </p:txBody>
      </p:sp>
      <p:sp>
        <p:nvSpPr>
          <p:cNvPr id="26" name="TextBox 25"/>
          <p:cNvSpPr txBox="1"/>
          <p:nvPr/>
        </p:nvSpPr>
        <p:spPr>
          <a:xfrm>
            <a:off x="9546336" y="2496312"/>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ea typeface="Glacial Indifference Bold"/>
                <a:cs typeface="Glacial Indifference Bold"/>
              </a:rPr>
              <a:t>Lessons and portal</a:t>
            </a:r>
          </a:p>
        </p:txBody>
      </p:sp>
      <p:sp>
        <p:nvSpPr>
          <p:cNvPr id="27" name="TextBox 26"/>
          <p:cNvSpPr txBox="1"/>
          <p:nvPr/>
        </p:nvSpPr>
        <p:spPr>
          <a:xfrm>
            <a:off x="9546336" y="324612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Lesson upload and management; student learning portal</a:t>
            </a:r>
          </a:p>
        </p:txBody>
      </p:sp>
      <p:sp>
        <p:nvSpPr>
          <p:cNvPr id="28" name="Rounded Rectangle 27"/>
          <p:cNvSpPr/>
          <p:nvPr/>
        </p:nvSpPr>
        <p:spPr>
          <a:xfrm>
            <a:off x="13523976"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9" name="TextBox 28"/>
          <p:cNvSpPr txBox="1"/>
          <p:nvPr/>
        </p:nvSpPr>
        <p:spPr>
          <a:xfrm>
            <a:off x="13780008" y="2130552"/>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3</a:t>
            </a:r>
          </a:p>
        </p:txBody>
      </p:sp>
      <p:sp>
        <p:nvSpPr>
          <p:cNvPr id="30" name="TextBox 29"/>
          <p:cNvSpPr txBox="1"/>
          <p:nvPr/>
        </p:nvSpPr>
        <p:spPr>
          <a:xfrm>
            <a:off x="13780008" y="2496312"/>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ea typeface="Glacial Indifference Bold"/>
                <a:cs typeface="Glacial Indifference Bold"/>
              </a:rPr>
              <a:t>Activities and assessments</a:t>
            </a:r>
          </a:p>
        </p:txBody>
      </p:sp>
      <p:sp>
        <p:nvSpPr>
          <p:cNvPr id="31" name="TextBox 30"/>
          <p:cNvSpPr txBox="1"/>
          <p:nvPr/>
        </p:nvSpPr>
        <p:spPr>
          <a:xfrm>
            <a:off x="13780008" y="324612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Create and assign activities; automatic grading; submission tracking</a:t>
            </a:r>
          </a:p>
        </p:txBody>
      </p:sp>
      <p:sp>
        <p:nvSpPr>
          <p:cNvPr id="32" name="Rounded Rectangle 31"/>
          <p:cNvSpPr/>
          <p:nvPr/>
        </p:nvSpPr>
        <p:spPr>
          <a:xfrm>
            <a:off x="822960"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3" name="TextBox 32"/>
          <p:cNvSpPr txBox="1"/>
          <p:nvPr/>
        </p:nvSpPr>
        <p:spPr>
          <a:xfrm>
            <a:off x="1078992" y="5148071"/>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4</a:t>
            </a:r>
          </a:p>
        </p:txBody>
      </p:sp>
      <p:sp>
        <p:nvSpPr>
          <p:cNvPr id="34" name="TextBox 33"/>
          <p:cNvSpPr txBox="1"/>
          <p:nvPr/>
        </p:nvSpPr>
        <p:spPr>
          <a:xfrm>
            <a:off x="1078992" y="5513831"/>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ea typeface="Glacial Indifference Bold"/>
                <a:cs typeface="Glacial Indifference Bold"/>
              </a:rPr>
              <a:t>Progress and communication</a:t>
            </a:r>
          </a:p>
        </p:txBody>
      </p:sp>
      <p:sp>
        <p:nvSpPr>
          <p:cNvPr id="35" name="TextBox 34"/>
          <p:cNvSpPr txBox="1"/>
          <p:nvPr/>
        </p:nvSpPr>
        <p:spPr>
          <a:xfrm>
            <a:off x="1078992" y="626364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Progress dashboards and reports; low-performance flag; parent notifications</a:t>
            </a:r>
          </a:p>
        </p:txBody>
      </p:sp>
      <p:sp>
        <p:nvSpPr>
          <p:cNvPr id="36" name="Rounded Rectangle 35"/>
          <p:cNvSpPr/>
          <p:nvPr/>
        </p:nvSpPr>
        <p:spPr>
          <a:xfrm>
            <a:off x="5056632"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7" name="TextBox 36"/>
          <p:cNvSpPr txBox="1"/>
          <p:nvPr/>
        </p:nvSpPr>
        <p:spPr>
          <a:xfrm>
            <a:off x="5312664" y="5148071"/>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5</a:t>
            </a:r>
          </a:p>
        </p:txBody>
      </p:sp>
      <p:sp>
        <p:nvSpPr>
          <p:cNvPr id="38" name="TextBox 37"/>
          <p:cNvSpPr txBox="1"/>
          <p:nvPr/>
        </p:nvSpPr>
        <p:spPr>
          <a:xfrm>
            <a:off x="5312664" y="5513831"/>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ea typeface="Glacial Indifference Bold"/>
                <a:cs typeface="Glacial Indifference Bold"/>
              </a:rPr>
              <a:t>Accessibility and admin</a:t>
            </a:r>
          </a:p>
        </p:txBody>
      </p:sp>
      <p:sp>
        <p:nvSpPr>
          <p:cNvPr id="39" name="TextBox 38"/>
          <p:cNvSpPr txBox="1"/>
          <p:nvPr/>
        </p:nvSpPr>
        <p:spPr>
          <a:xfrm>
            <a:off x="5312664" y="626364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Text-to-speech, font size, high contrast, simple navigation; admin and backup</a:t>
            </a:r>
          </a:p>
        </p:txBody>
      </p:sp>
      <p:sp>
        <p:nvSpPr>
          <p:cNvPr id="40" name="Rounded Rectangle 39"/>
          <p:cNvSpPr/>
          <p:nvPr/>
        </p:nvSpPr>
        <p:spPr>
          <a:xfrm>
            <a:off x="9290304"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41" name="TextBox 40"/>
          <p:cNvSpPr txBox="1"/>
          <p:nvPr/>
        </p:nvSpPr>
        <p:spPr>
          <a:xfrm>
            <a:off x="9546336" y="5148071"/>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6</a:t>
            </a:r>
          </a:p>
        </p:txBody>
      </p:sp>
      <p:sp>
        <p:nvSpPr>
          <p:cNvPr id="42" name="TextBox 41"/>
          <p:cNvSpPr txBox="1"/>
          <p:nvPr/>
        </p:nvSpPr>
        <p:spPr>
          <a:xfrm>
            <a:off x="9546336" y="5513831"/>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ea typeface="Glacial Indifference Bold"/>
                <a:cs typeface="Glacial Indifference Bold"/>
              </a:rPr>
              <a:t>Testing and UAT</a:t>
            </a:r>
          </a:p>
        </p:txBody>
      </p:sp>
      <p:sp>
        <p:nvSpPr>
          <p:cNvPr id="43" name="TextBox 42"/>
          <p:cNvSpPr txBox="1"/>
          <p:nvPr/>
        </p:nvSpPr>
        <p:spPr>
          <a:xfrm>
            <a:off x="9546336" y="626364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Unit, integration and system testing; 1-week UAT; ISO/IEC 25010 evaluation</a:t>
            </a:r>
          </a:p>
        </p:txBody>
      </p:sp>
      <p:sp>
        <p:nvSpPr>
          <p:cNvPr id="44" name="Rounded Rectangle 43"/>
          <p:cNvSpPr/>
          <p:nvPr/>
        </p:nvSpPr>
        <p:spPr>
          <a:xfrm>
            <a:off x="13523976" y="4983479"/>
            <a:ext cx="3931920" cy="278892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45" name="TextBox 44"/>
          <p:cNvSpPr txBox="1"/>
          <p:nvPr/>
        </p:nvSpPr>
        <p:spPr>
          <a:xfrm>
            <a:off x="13780008" y="5148071"/>
            <a:ext cx="3419856" cy="365760"/>
          </a:xfrm>
          <a:prstGeom prst="rect">
            <a:avLst/>
          </a:prstGeom>
          <a:noFill/>
        </p:spPr>
        <p:txBody>
          <a:bodyPr wrap="square" lIns="0" tIns="0" rIns="0" bIns="0" anchor="t">
            <a:spAutoFit/>
          </a:bodyPr>
          <a:lstStyle/>
          <a:p>
            <a:pPr algn="l">
              <a:spcAft>
                <a:spcPts val="800"/>
              </a:spcAft>
            </a:pPr>
            <a:r>
              <a:rPr sz="1700" b="1">
                <a:solidFill>
                  <a:srgbClr val="FFFFFF"/>
                </a:solidFill>
                <a:latin typeface="Glacial Indifference Bold"/>
                <a:ea typeface="Glacial Indifference Bold"/>
                <a:cs typeface="Glacial Indifference Bold"/>
              </a:rPr>
              <a:t>SCRUM EVENTS</a:t>
            </a:r>
          </a:p>
        </p:txBody>
      </p:sp>
      <p:sp>
        <p:nvSpPr>
          <p:cNvPr id="46" name="TextBox 45"/>
          <p:cNvSpPr txBox="1"/>
          <p:nvPr/>
        </p:nvSpPr>
        <p:spPr>
          <a:xfrm>
            <a:off x="13780008" y="5532119"/>
            <a:ext cx="3419856" cy="2103120"/>
          </a:xfrm>
          <a:prstGeom prst="rect">
            <a:avLst/>
          </a:prstGeom>
          <a:noFill/>
        </p:spPr>
        <p:txBody>
          <a:bodyPr wrap="square" lIns="0" tIns="0" rIns="0" bIns="0" anchor="t">
            <a:spAutoFit/>
          </a:bodyPr>
          <a:lstStyle/>
          <a:p>
            <a:pPr marL="347472" indent="-347472" algn="l">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planning</a:t>
            </a:r>
          </a:p>
          <a:p>
            <a:pPr marL="347472" indent="-347472" algn="l">
              <a:spcAft>
                <a:spcPts val="500"/>
              </a:spcAft>
              <a:buClr>
                <a:srgbClr val="FFFFFF"/>
              </a:buClr>
              <a:buFont typeface="Arial"/>
              <a:buChar char="•"/>
            </a:pPr>
            <a:r>
              <a:rPr sz="2100" b="0">
                <a:solidFill>
                  <a:srgbClr val="FFFFFF"/>
                </a:solidFill>
                <a:latin typeface="Glacial Indifference"/>
                <a:ea typeface="Glacial Indifference"/>
                <a:cs typeface="Glacial Indifference"/>
              </a:rPr>
              <a:t>Daily scrum</a:t>
            </a:r>
          </a:p>
          <a:p>
            <a:pPr marL="347472" indent="-347472" algn="l">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review with stakeholders</a:t>
            </a:r>
          </a:p>
          <a:p>
            <a:pPr marL="347472" indent="-347472" algn="l">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retrospective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EVIDENCE OF METHODOLOGY</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Working system outputs from the sprints</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pic>
        <p:nvPicPr>
          <p:cNvPr id="16" name="Picture 15" descr="login.jpg"/>
          <p:cNvPicPr>
            <a:picLocks noChangeAspect="1"/>
          </p:cNvPicPr>
          <p:nvPr/>
        </p:nvPicPr>
        <p:blipFill>
          <a:blip r:embed="rId23"/>
          <a:stretch>
            <a:fillRect/>
          </a:stretch>
        </p:blipFill>
        <p:spPr>
          <a:xfrm>
            <a:off x="822960" y="1874519"/>
            <a:ext cx="5120640" cy="2560320"/>
          </a:xfrm>
          <a:prstGeom prst="rect">
            <a:avLst/>
          </a:prstGeom>
          <a:ln w="12700">
            <a:solidFill>
              <a:srgbClr val="9B9A9D"/>
            </a:solidFill>
          </a:ln>
        </p:spPr>
      </p:pic>
      <p:sp>
        <p:nvSpPr>
          <p:cNvPr id="17" name="TextBox 16"/>
          <p:cNvSpPr txBox="1"/>
          <p:nvPr/>
        </p:nvSpPr>
        <p:spPr>
          <a:xfrm>
            <a:off x="822960" y="4489703"/>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ea typeface="Glacial Indifference Bold"/>
                <a:cs typeface="Glacial Indifference Bold"/>
              </a:rPr>
              <a:t>Sprint 1  |  Login and authentication</a:t>
            </a:r>
          </a:p>
        </p:txBody>
      </p:sp>
      <p:pic>
        <p:nvPicPr>
          <p:cNvPr id="18" name="Picture 17" descr="lesson.jpg"/>
          <p:cNvPicPr>
            <a:picLocks noChangeAspect="1"/>
          </p:cNvPicPr>
          <p:nvPr/>
        </p:nvPicPr>
        <p:blipFill>
          <a:blip r:embed="rId24"/>
          <a:stretch>
            <a:fillRect/>
          </a:stretch>
        </p:blipFill>
        <p:spPr>
          <a:xfrm>
            <a:off x="6583680" y="1874519"/>
            <a:ext cx="5120640" cy="2560320"/>
          </a:xfrm>
          <a:prstGeom prst="rect">
            <a:avLst/>
          </a:prstGeom>
          <a:ln w="12700">
            <a:solidFill>
              <a:srgbClr val="9B9A9D"/>
            </a:solidFill>
          </a:ln>
        </p:spPr>
      </p:pic>
      <p:sp>
        <p:nvSpPr>
          <p:cNvPr id="19" name="TextBox 18"/>
          <p:cNvSpPr txBox="1"/>
          <p:nvPr/>
        </p:nvSpPr>
        <p:spPr>
          <a:xfrm>
            <a:off x="6583680" y="4489703"/>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ea typeface="Glacial Indifference Bold"/>
                <a:cs typeface="Glacial Indifference Bold"/>
              </a:rPr>
              <a:t>Sprint 2  |  Lesson upload</a:t>
            </a:r>
          </a:p>
        </p:txBody>
      </p:sp>
      <p:pic>
        <p:nvPicPr>
          <p:cNvPr id="20" name="Picture 19" descr="portal.jpg"/>
          <p:cNvPicPr>
            <a:picLocks noChangeAspect="1"/>
          </p:cNvPicPr>
          <p:nvPr/>
        </p:nvPicPr>
        <p:blipFill>
          <a:blip r:embed="rId25"/>
          <a:stretch>
            <a:fillRect/>
          </a:stretch>
        </p:blipFill>
        <p:spPr>
          <a:xfrm>
            <a:off x="12344400" y="1874519"/>
            <a:ext cx="5120640" cy="2560320"/>
          </a:xfrm>
          <a:prstGeom prst="rect">
            <a:avLst/>
          </a:prstGeom>
          <a:ln w="12700">
            <a:solidFill>
              <a:srgbClr val="9B9A9D"/>
            </a:solidFill>
          </a:ln>
        </p:spPr>
      </p:pic>
      <p:sp>
        <p:nvSpPr>
          <p:cNvPr id="21" name="TextBox 20"/>
          <p:cNvSpPr txBox="1"/>
          <p:nvPr/>
        </p:nvSpPr>
        <p:spPr>
          <a:xfrm>
            <a:off x="12344400" y="4489703"/>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ea typeface="Glacial Indifference Bold"/>
                <a:cs typeface="Glacial Indifference Bold"/>
              </a:rPr>
              <a:t>Sprint 2  |  Student learning portal</a:t>
            </a:r>
          </a:p>
        </p:txBody>
      </p:sp>
      <p:pic>
        <p:nvPicPr>
          <p:cNvPr id="22" name="Picture 21" descr="progress.jpg"/>
          <p:cNvPicPr>
            <a:picLocks noChangeAspect="1"/>
          </p:cNvPicPr>
          <p:nvPr/>
        </p:nvPicPr>
        <p:blipFill>
          <a:blip r:embed="rId26"/>
          <a:stretch>
            <a:fillRect/>
          </a:stretch>
        </p:blipFill>
        <p:spPr>
          <a:xfrm>
            <a:off x="822960" y="4983479"/>
            <a:ext cx="5120640" cy="2560320"/>
          </a:xfrm>
          <a:prstGeom prst="rect">
            <a:avLst/>
          </a:prstGeom>
          <a:ln w="12700">
            <a:solidFill>
              <a:srgbClr val="9B9A9D"/>
            </a:solidFill>
          </a:ln>
        </p:spPr>
      </p:pic>
      <p:sp>
        <p:nvSpPr>
          <p:cNvPr id="23" name="TextBox 22"/>
          <p:cNvSpPr txBox="1"/>
          <p:nvPr/>
        </p:nvSpPr>
        <p:spPr>
          <a:xfrm>
            <a:off x="822960" y="7598664"/>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ea typeface="Glacial Indifference Bold"/>
                <a:cs typeface="Glacial Indifference Bold"/>
              </a:rPr>
              <a:t>Sprint 4  |  Student progress tracking</a:t>
            </a:r>
          </a:p>
        </p:txBody>
      </p:sp>
      <p:pic>
        <p:nvPicPr>
          <p:cNvPr id="24" name="Picture 23" descr="messages.jpg"/>
          <p:cNvPicPr>
            <a:picLocks noChangeAspect="1"/>
          </p:cNvPicPr>
          <p:nvPr/>
        </p:nvPicPr>
        <p:blipFill>
          <a:blip r:embed="rId27"/>
          <a:stretch>
            <a:fillRect/>
          </a:stretch>
        </p:blipFill>
        <p:spPr>
          <a:xfrm>
            <a:off x="6583680" y="4983479"/>
            <a:ext cx="5120640" cy="2560320"/>
          </a:xfrm>
          <a:prstGeom prst="rect">
            <a:avLst/>
          </a:prstGeom>
          <a:ln w="12700">
            <a:solidFill>
              <a:srgbClr val="9B9A9D"/>
            </a:solidFill>
          </a:ln>
        </p:spPr>
      </p:pic>
      <p:sp>
        <p:nvSpPr>
          <p:cNvPr id="25" name="TextBox 24"/>
          <p:cNvSpPr txBox="1"/>
          <p:nvPr/>
        </p:nvSpPr>
        <p:spPr>
          <a:xfrm>
            <a:off x="6583680" y="7598664"/>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ea typeface="Glacial Indifference Bold"/>
                <a:cs typeface="Glacial Indifference Bold"/>
              </a:rPr>
              <a:t>Sprint 4  |  Parent communication</a:t>
            </a:r>
          </a:p>
        </p:txBody>
      </p:sp>
      <p:pic>
        <p:nvPicPr>
          <p:cNvPr id="26" name="Picture 25" descr="access.jpg"/>
          <p:cNvPicPr>
            <a:picLocks noChangeAspect="1"/>
          </p:cNvPicPr>
          <p:nvPr/>
        </p:nvPicPr>
        <p:blipFill>
          <a:blip r:embed="rId28"/>
          <a:stretch>
            <a:fillRect/>
          </a:stretch>
        </p:blipFill>
        <p:spPr>
          <a:xfrm>
            <a:off x="12344400" y="4983479"/>
            <a:ext cx="5120640" cy="2560320"/>
          </a:xfrm>
          <a:prstGeom prst="rect">
            <a:avLst/>
          </a:prstGeom>
          <a:ln w="12700">
            <a:solidFill>
              <a:srgbClr val="9B9A9D"/>
            </a:solidFill>
          </a:ln>
        </p:spPr>
      </p:pic>
      <p:sp>
        <p:nvSpPr>
          <p:cNvPr id="27" name="TextBox 26"/>
          <p:cNvSpPr txBox="1"/>
          <p:nvPr/>
        </p:nvSpPr>
        <p:spPr>
          <a:xfrm>
            <a:off x="12344400" y="7598664"/>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ea typeface="Glacial Indifference Bold"/>
                <a:cs typeface="Glacial Indifference Bold"/>
              </a:rPr>
              <a:t>Sprint 5  |  Accessibility settings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OBJECTIVE 1  |  RESULTS  &gt;  DISCUSSION  &gt;  CONCLUSION</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Accessible, user-friendly platform designed</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TextBox 15"/>
          <p:cNvSpPr txBox="1"/>
          <p:nvPr/>
        </p:nvSpPr>
        <p:spPr>
          <a:xfrm>
            <a:off x="822960" y="1828800"/>
            <a:ext cx="5486400" cy="365760"/>
          </a:xfrm>
          <a:prstGeom prst="rect">
            <a:avLst/>
          </a:prstGeom>
          <a:noFill/>
        </p:spPr>
        <p:txBody>
          <a:bodyPr wrap="square" lIns="0" tIns="0" rIns="0" bIns="0" anchor="t">
            <a:spAutoFit/>
          </a:bodyPr>
          <a:lstStyle/>
          <a:p>
            <a:pPr algn="l">
              <a:spcAft>
                <a:spcPts val="800"/>
              </a:spcAft>
            </a:pPr>
            <a:r>
              <a:rPr sz="1900" b="1">
                <a:solidFill>
                  <a:srgbClr val="EC6A27"/>
                </a:solidFill>
                <a:latin typeface="Glacial Indifference Bold"/>
                <a:ea typeface="Glacial Indifference Bold"/>
                <a:cs typeface="Glacial Indifference Bold"/>
              </a:rPr>
              <a:t>RESULTS</a:t>
            </a:r>
          </a:p>
        </p:txBody>
      </p:sp>
      <p:sp>
        <p:nvSpPr>
          <p:cNvPr id="17" name="Rounded Rectangle 16"/>
          <p:cNvSpPr/>
          <p:nvPr/>
        </p:nvSpPr>
        <p:spPr>
          <a:xfrm>
            <a:off x="822960"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8" name="TextBox 17"/>
          <p:cNvSpPr txBox="1"/>
          <p:nvPr/>
        </p:nvSpPr>
        <p:spPr>
          <a:xfrm>
            <a:off x="1051560" y="2377440"/>
            <a:ext cx="3520439" cy="1554480"/>
          </a:xfrm>
          <a:prstGeom prst="rect">
            <a:avLst/>
          </a:prstGeom>
          <a:noFill/>
        </p:spPr>
        <p:txBody>
          <a:bodyPr wrap="square" lIns="0" tIns="0" rIns="0" bIns="0" anchor="ctr">
            <a:spAutoFit/>
          </a:bodyPr>
          <a:lstStyle/>
          <a:p>
            <a:pPr algn="ctr">
              <a:spcAft>
                <a:spcPts val="0"/>
              </a:spcAft>
            </a:pPr>
            <a:r>
              <a:rPr sz="5600" b="1">
                <a:solidFill>
                  <a:srgbClr val="EC6A27"/>
                </a:solidFill>
                <a:latin typeface="Glacial Indifference Bold"/>
                <a:ea typeface="Glacial Indifference Bold"/>
                <a:cs typeface="Glacial Indifference Bold"/>
              </a:rPr>
              <a:t>54 / 54</a:t>
            </a:r>
          </a:p>
        </p:txBody>
      </p:sp>
      <p:sp>
        <p:nvSpPr>
          <p:cNvPr id="19" name="TextBox 18"/>
          <p:cNvSpPr txBox="1"/>
          <p:nvPr/>
        </p:nvSpPr>
        <p:spPr>
          <a:xfrm>
            <a:off x="1051560" y="3950208"/>
            <a:ext cx="3520439" cy="1305763"/>
          </a:xfrm>
          <a:prstGeom prst="rect">
            <a:avLst/>
          </a:prstGeom>
          <a:noFill/>
        </p:spPr>
        <p:txBody>
          <a:bodyPr wrap="square" lIns="0" tIns="0" rIns="0" bIns="0" anchor="t">
            <a:spAutoFit/>
          </a:bodyPr>
          <a:lstStyle/>
          <a:p>
            <a:pPr algn="ctr">
              <a:spcAft>
                <a:spcPts val="0"/>
              </a:spcAft>
            </a:pPr>
            <a:r>
              <a:rPr sz="2200" b="0">
                <a:solidFill>
                  <a:srgbClr val="4A4A4A"/>
                </a:solidFill>
                <a:latin typeface="Glacial Indifference"/>
                <a:ea typeface="Glacial Indifference"/>
                <a:cs typeface="Glacial Indifference"/>
              </a:rPr>
              <a:t>functions passed unit testing across 9 modules</a:t>
            </a:r>
          </a:p>
        </p:txBody>
      </p:sp>
      <p:sp>
        <p:nvSpPr>
          <p:cNvPr id="20" name="Rounded Rectangle 19"/>
          <p:cNvSpPr/>
          <p:nvPr/>
        </p:nvSpPr>
        <p:spPr>
          <a:xfrm>
            <a:off x="5044744"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1" name="TextBox 20"/>
          <p:cNvSpPr txBox="1"/>
          <p:nvPr/>
        </p:nvSpPr>
        <p:spPr>
          <a:xfrm>
            <a:off x="5273344" y="2377440"/>
            <a:ext cx="3520439" cy="1554480"/>
          </a:xfrm>
          <a:prstGeom prst="rect">
            <a:avLst/>
          </a:prstGeom>
          <a:noFill/>
        </p:spPr>
        <p:txBody>
          <a:bodyPr wrap="square" lIns="0" tIns="0" rIns="0" bIns="0" anchor="ctr">
            <a:spAutoFit/>
          </a:bodyPr>
          <a:lstStyle/>
          <a:p>
            <a:pPr algn="ctr">
              <a:spcAft>
                <a:spcPts val="0"/>
              </a:spcAft>
            </a:pPr>
            <a:r>
              <a:rPr sz="5600" b="1">
                <a:solidFill>
                  <a:srgbClr val="EC6A27"/>
                </a:solidFill>
                <a:latin typeface="Glacial Indifference Bold"/>
                <a:ea typeface="Glacial Indifference Bold"/>
                <a:cs typeface="Glacial Indifference Bold"/>
              </a:rPr>
              <a:t>12 / 12</a:t>
            </a:r>
          </a:p>
        </p:txBody>
      </p:sp>
      <p:sp>
        <p:nvSpPr>
          <p:cNvPr id="22" name="TextBox 21"/>
          <p:cNvSpPr txBox="1"/>
          <p:nvPr/>
        </p:nvSpPr>
        <p:spPr>
          <a:xfrm>
            <a:off x="5273344" y="3950208"/>
            <a:ext cx="3520439" cy="1305763"/>
          </a:xfrm>
          <a:prstGeom prst="rect">
            <a:avLst/>
          </a:prstGeom>
          <a:noFill/>
        </p:spPr>
        <p:txBody>
          <a:bodyPr wrap="square" lIns="0" tIns="0" rIns="0" bIns="0" anchor="t">
            <a:spAutoFit/>
          </a:bodyPr>
          <a:lstStyle/>
          <a:p>
            <a:pPr algn="ctr">
              <a:spcAft>
                <a:spcPts val="0"/>
              </a:spcAft>
            </a:pPr>
            <a:r>
              <a:rPr sz="2200" b="0">
                <a:solidFill>
                  <a:srgbClr val="4A4A4A"/>
                </a:solidFill>
                <a:latin typeface="Glacial Indifference"/>
                <a:ea typeface="Glacial Indifference"/>
                <a:cs typeface="Glacial Indifference"/>
              </a:rPr>
              <a:t>integration scenarios passed</a:t>
            </a:r>
          </a:p>
        </p:txBody>
      </p:sp>
      <p:sp>
        <p:nvSpPr>
          <p:cNvPr id="23" name="Rounded Rectangle 22"/>
          <p:cNvSpPr/>
          <p:nvPr/>
        </p:nvSpPr>
        <p:spPr>
          <a:xfrm>
            <a:off x="9266529"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4" name="TextBox 23"/>
          <p:cNvSpPr txBox="1"/>
          <p:nvPr/>
        </p:nvSpPr>
        <p:spPr>
          <a:xfrm>
            <a:off x="9495129" y="2377440"/>
            <a:ext cx="3520439" cy="1554480"/>
          </a:xfrm>
          <a:prstGeom prst="rect">
            <a:avLst/>
          </a:prstGeom>
          <a:noFill/>
        </p:spPr>
        <p:txBody>
          <a:bodyPr wrap="square" lIns="0" tIns="0" rIns="0" bIns="0" anchor="ctr">
            <a:spAutoFit/>
          </a:bodyPr>
          <a:lstStyle/>
          <a:p>
            <a:pPr algn="ctr">
              <a:spcAft>
                <a:spcPts val="0"/>
              </a:spcAft>
            </a:pPr>
            <a:r>
              <a:rPr sz="5600" b="1">
                <a:solidFill>
                  <a:srgbClr val="EC6A27"/>
                </a:solidFill>
                <a:latin typeface="Glacial Indifference Bold"/>
                <a:ea typeface="Glacial Indifference Bold"/>
                <a:cs typeface="Glacial Indifference Bold"/>
              </a:rPr>
              <a:t>4.18</a:t>
            </a:r>
          </a:p>
        </p:txBody>
      </p:sp>
      <p:sp>
        <p:nvSpPr>
          <p:cNvPr id="25" name="TextBox 24"/>
          <p:cNvSpPr txBox="1"/>
          <p:nvPr/>
        </p:nvSpPr>
        <p:spPr>
          <a:xfrm>
            <a:off x="9495129" y="3950208"/>
            <a:ext cx="3520439" cy="1305763"/>
          </a:xfrm>
          <a:prstGeom prst="rect">
            <a:avLst/>
          </a:prstGeom>
          <a:noFill/>
        </p:spPr>
        <p:txBody>
          <a:bodyPr wrap="square" lIns="0" tIns="0" rIns="0" bIns="0" anchor="t">
            <a:spAutoFit/>
          </a:bodyPr>
          <a:lstStyle/>
          <a:p>
            <a:pPr algn="ctr">
              <a:spcAft>
                <a:spcPts val="0"/>
              </a:spcAft>
            </a:pPr>
            <a:r>
              <a:rPr sz="2200" b="0">
                <a:solidFill>
                  <a:srgbClr val="4A4A4A"/>
                </a:solidFill>
                <a:latin typeface="Glacial Indifference"/>
                <a:ea typeface="Glacial Indifference"/>
                <a:cs typeface="Glacial Indifference"/>
              </a:rPr>
              <a:t>accessibility rating from students and guardians (Agree)</a:t>
            </a:r>
          </a:p>
        </p:txBody>
      </p:sp>
      <p:sp>
        <p:nvSpPr>
          <p:cNvPr id="26" name="Rounded Rectangle 25"/>
          <p:cNvSpPr/>
          <p:nvPr/>
        </p:nvSpPr>
        <p:spPr>
          <a:xfrm>
            <a:off x="13488314"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7" name="TextBox 26"/>
          <p:cNvSpPr txBox="1"/>
          <p:nvPr/>
        </p:nvSpPr>
        <p:spPr>
          <a:xfrm>
            <a:off x="13716914" y="2377440"/>
            <a:ext cx="3520439" cy="1554480"/>
          </a:xfrm>
          <a:prstGeom prst="rect">
            <a:avLst/>
          </a:prstGeom>
          <a:noFill/>
        </p:spPr>
        <p:txBody>
          <a:bodyPr wrap="square" lIns="0" tIns="0" rIns="0" bIns="0" anchor="ctr">
            <a:spAutoFit/>
          </a:bodyPr>
          <a:lstStyle/>
          <a:p>
            <a:pPr algn="ctr">
              <a:spcAft>
                <a:spcPts val="0"/>
              </a:spcAft>
            </a:pPr>
            <a:r>
              <a:rPr sz="5600" b="1">
                <a:solidFill>
                  <a:srgbClr val="EC6A27"/>
                </a:solidFill>
                <a:latin typeface="Glacial Indifference Bold"/>
                <a:ea typeface="Glacial Indifference Bold"/>
                <a:cs typeface="Glacial Indifference Bold"/>
              </a:rPr>
              <a:t>4.14</a:t>
            </a:r>
          </a:p>
        </p:txBody>
      </p:sp>
      <p:sp>
        <p:nvSpPr>
          <p:cNvPr id="28" name="TextBox 27"/>
          <p:cNvSpPr txBox="1"/>
          <p:nvPr/>
        </p:nvSpPr>
        <p:spPr>
          <a:xfrm>
            <a:off x="13716914" y="3950208"/>
            <a:ext cx="3520439" cy="1305763"/>
          </a:xfrm>
          <a:prstGeom prst="rect">
            <a:avLst/>
          </a:prstGeom>
          <a:noFill/>
        </p:spPr>
        <p:txBody>
          <a:bodyPr wrap="square" lIns="0" tIns="0" rIns="0" bIns="0" anchor="t">
            <a:spAutoFit/>
          </a:bodyPr>
          <a:lstStyle/>
          <a:p>
            <a:pPr algn="ctr">
              <a:spcAft>
                <a:spcPts val="0"/>
              </a:spcAft>
            </a:pPr>
            <a:r>
              <a:rPr sz="2200" b="0">
                <a:solidFill>
                  <a:srgbClr val="4A4A4A"/>
                </a:solidFill>
                <a:latin typeface="Glacial Indifference"/>
                <a:ea typeface="Glacial Indifference"/>
                <a:cs typeface="Glacial Indifference"/>
              </a:rPr>
              <a:t>accessibility rating from teachers and school staff (Agree)</a:t>
            </a:r>
          </a:p>
        </p:txBody>
      </p:sp>
      <p:sp>
        <p:nvSpPr>
          <p:cNvPr id="29" name="Rounded Rectangle 28"/>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0" name="TextBox 29"/>
          <p:cNvSpPr txBox="1"/>
          <p:nvPr/>
        </p:nvSpPr>
        <p:spPr>
          <a:xfrm>
            <a:off x="1143000" y="5742432"/>
            <a:ext cx="7498079" cy="411480"/>
          </a:xfrm>
          <a:prstGeom prst="rect">
            <a:avLst/>
          </a:prstGeom>
          <a:noFill/>
        </p:spPr>
        <p:txBody>
          <a:bodyPr wrap="square" lIns="0" tIns="0" rIns="0" bIns="0" anchor="t">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31" name="TextBox 30"/>
          <p:cNvSpPr txBox="1"/>
          <p:nvPr/>
        </p:nvSpPr>
        <p:spPr>
          <a:xfrm>
            <a:off x="1143000" y="6172200"/>
            <a:ext cx="7498079" cy="1554480"/>
          </a:xfrm>
          <a:prstGeom prst="rect">
            <a:avLst/>
          </a:prstGeom>
          <a:noFill/>
        </p:spPr>
        <p:txBody>
          <a:bodyPr wrap="square" lIns="0" tIns="0" rIns="0" bIns="0" anchor="t">
            <a:spAutoFit/>
          </a:bodyPr>
          <a:lstStyle/>
          <a:p>
            <a:pPr algn="l">
              <a:spcAft>
                <a:spcPts val="0"/>
              </a:spcAft>
            </a:pPr>
            <a:r>
              <a:rPr sz="2100" b="0">
                <a:solidFill>
                  <a:srgbClr val="1E1E1E"/>
                </a:solidFill>
                <a:latin typeface="Glacial Indifference"/>
                <a:ea typeface="Glacial Indifference"/>
                <a:cs typeface="Glacial Indifference"/>
              </a:rPr>
              <a:t>Minor defects, such as inconsistent validation messages, were fixed within each sprint. Adjustable text size and simple display scored 4.33 among students and guardians.</a:t>
            </a:r>
          </a:p>
        </p:txBody>
      </p:sp>
      <p:sp>
        <p:nvSpPr>
          <p:cNvPr id="32" name="Rounded Rectangle 31"/>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3" name="TextBox 32"/>
          <p:cNvSpPr txBox="1"/>
          <p:nvPr/>
        </p:nvSpPr>
        <p:spPr>
          <a:xfrm>
            <a:off x="9646920" y="5742432"/>
            <a:ext cx="7498079" cy="411480"/>
          </a:xfrm>
          <a:prstGeom prst="rect">
            <a:avLst/>
          </a:prstGeom>
          <a:noFill/>
        </p:spPr>
        <p:txBody>
          <a:bodyPr wrap="square" lIns="0" tIns="0" rIns="0" bIns="0" anchor="t">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34" name="TextBox 33"/>
          <p:cNvSpPr txBox="1"/>
          <p:nvPr/>
        </p:nvSpPr>
        <p:spPr>
          <a:xfrm>
            <a:off x="9646920" y="6172200"/>
            <a:ext cx="7498079" cy="1554480"/>
          </a:xfrm>
          <a:prstGeom prst="rect">
            <a:avLst/>
          </a:prstGeom>
          <a:noFill/>
        </p:spPr>
        <p:txBody>
          <a:bodyPr wrap="square" lIns="0" tIns="0" rIns="0" bIns="0" anchor="t">
            <a:spAutoFit/>
          </a:bodyPr>
          <a:lstStyle/>
          <a:p>
            <a:pPr algn="l">
              <a:spcAft>
                <a:spcPts val="0"/>
              </a:spcAft>
            </a:pPr>
            <a:r>
              <a:rPr sz="2200" b="1">
                <a:solidFill>
                  <a:srgbClr val="FFFFFF"/>
                </a:solidFill>
                <a:latin typeface="Glacial Indifference Bold"/>
                <a:ea typeface="Glacial Indifference Bold"/>
                <a:cs typeface="Glacial Indifference Bold"/>
              </a:rPr>
              <a:t>The platform was successfully designed to be accessible and user-friendly, and its modules worked both individually and as one 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OBJECTIVE 2  |  RESULTS  &gt;  DISCUSSION  &gt;  CONCLUSION</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System functionalities developed</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TextBox 15"/>
          <p:cNvSpPr txBox="1"/>
          <p:nvPr/>
        </p:nvSpPr>
        <p:spPr>
          <a:xfrm>
            <a:off x="822960" y="1828800"/>
            <a:ext cx="5486400" cy="365760"/>
          </a:xfrm>
          <a:prstGeom prst="rect">
            <a:avLst/>
          </a:prstGeom>
          <a:noFill/>
        </p:spPr>
        <p:txBody>
          <a:bodyPr wrap="square" lIns="0" tIns="0" rIns="0" bIns="0" anchor="t">
            <a:spAutoFit/>
          </a:bodyPr>
          <a:lstStyle/>
          <a:p>
            <a:pPr algn="l">
              <a:spcAft>
                <a:spcPts val="800"/>
              </a:spcAft>
            </a:pPr>
            <a:r>
              <a:rPr sz="1900" b="1">
                <a:solidFill>
                  <a:srgbClr val="EC6A27"/>
                </a:solidFill>
                <a:latin typeface="Glacial Indifference Bold"/>
                <a:ea typeface="Glacial Indifference Bold"/>
                <a:cs typeface="Glacial Indifference Bold"/>
              </a:rPr>
              <a:t>RESULTS</a:t>
            </a:r>
          </a:p>
        </p:txBody>
      </p:sp>
      <p:sp>
        <p:nvSpPr>
          <p:cNvPr id="17" name="Rounded Rectangle 16"/>
          <p:cNvSpPr/>
          <p:nvPr/>
        </p:nvSpPr>
        <p:spPr>
          <a:xfrm>
            <a:off x="822960" y="2240280"/>
            <a:ext cx="6949440" cy="31546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8" name="TextBox 17"/>
          <p:cNvSpPr txBox="1"/>
          <p:nvPr/>
        </p:nvSpPr>
        <p:spPr>
          <a:xfrm>
            <a:off x="1097280" y="2377440"/>
            <a:ext cx="6400800" cy="2926080"/>
          </a:xfrm>
          <a:prstGeom prst="rect">
            <a:avLst/>
          </a:prstGeom>
          <a:noFill/>
        </p:spPr>
        <p:txBody>
          <a:bodyPr wrap="square" lIns="0" tIns="0" rIns="0" bIns="0" anchor="t">
            <a:spAutoFit/>
          </a:bodyPr>
          <a:lstStyle/>
          <a:p>
            <a:pPr marL="347472" indent="-347472" algn="l">
              <a:spcAft>
                <a:spcPts val="400"/>
              </a:spcAft>
              <a:buClr>
                <a:srgbClr val="EC6A27"/>
              </a:buClr>
              <a:buFont typeface="Arial"/>
              <a:buChar char="•"/>
            </a:pPr>
            <a:r>
              <a:rPr sz="1900" b="0">
                <a:solidFill>
                  <a:srgbClr val="1E1E1E"/>
                </a:solidFill>
                <a:latin typeface="Glacial Indifference"/>
                <a:ea typeface="Glacial Indifference"/>
                <a:cs typeface="Glacial Indifference"/>
              </a:rPr>
              <a:t>User registration and account management</a:t>
            </a:r>
          </a:p>
          <a:p>
            <a:pPr marL="347472" indent="-347472" algn="l">
              <a:spcAft>
                <a:spcPts val="400"/>
              </a:spcAft>
              <a:buClr>
                <a:srgbClr val="EC6A27"/>
              </a:buClr>
              <a:buFont typeface="Arial"/>
              <a:buChar char="•"/>
            </a:pPr>
            <a:r>
              <a:rPr sz="1900" b="0">
                <a:solidFill>
                  <a:srgbClr val="1E1E1E"/>
                </a:solidFill>
                <a:latin typeface="Glacial Indifference"/>
                <a:ea typeface="Glacial Indifference"/>
                <a:cs typeface="Glacial Indifference"/>
              </a:rPr>
              <a:t>Lesson upload and content management</a:t>
            </a:r>
          </a:p>
          <a:p>
            <a:pPr marL="347472" indent="-347472" algn="l">
              <a:spcAft>
                <a:spcPts val="400"/>
              </a:spcAft>
              <a:buClr>
                <a:srgbClr val="EC6A27"/>
              </a:buClr>
              <a:buFont typeface="Arial"/>
              <a:buChar char="•"/>
            </a:pPr>
            <a:r>
              <a:rPr sz="1900" b="0">
                <a:solidFill>
                  <a:srgbClr val="1E1E1E"/>
                </a:solidFill>
                <a:latin typeface="Glacial Indifference"/>
                <a:ea typeface="Glacial Indifference"/>
                <a:cs typeface="Glacial Indifference"/>
              </a:rPr>
              <a:t>Student learning portal</a:t>
            </a:r>
          </a:p>
          <a:p>
            <a:pPr marL="347472" indent="-347472" algn="l">
              <a:spcAft>
                <a:spcPts val="400"/>
              </a:spcAft>
              <a:buClr>
                <a:srgbClr val="EC6A27"/>
              </a:buClr>
              <a:buFont typeface="Arial"/>
              <a:buChar char="•"/>
            </a:pPr>
            <a:r>
              <a:rPr sz="1900" b="0">
                <a:solidFill>
                  <a:srgbClr val="1E1E1E"/>
                </a:solidFill>
                <a:latin typeface="Glacial Indifference"/>
                <a:ea typeface="Glacial Indifference"/>
                <a:cs typeface="Glacial Indifference"/>
              </a:rPr>
              <a:t>Activity and assessment management</a:t>
            </a:r>
          </a:p>
          <a:p>
            <a:pPr marL="347472" indent="-347472" algn="l">
              <a:spcAft>
                <a:spcPts val="400"/>
              </a:spcAft>
              <a:buClr>
                <a:srgbClr val="EC6A27"/>
              </a:buClr>
              <a:buFont typeface="Arial"/>
              <a:buChar char="•"/>
            </a:pPr>
            <a:r>
              <a:rPr sz="1900" b="0">
                <a:solidFill>
                  <a:srgbClr val="1E1E1E"/>
                </a:solidFill>
                <a:latin typeface="Glacial Indifference"/>
                <a:ea typeface="Glacial Indifference"/>
                <a:cs typeface="Glacial Indifference"/>
              </a:rPr>
              <a:t>Progress tracking and reporting</a:t>
            </a:r>
          </a:p>
          <a:p>
            <a:pPr marL="347472" indent="-347472" algn="l">
              <a:spcAft>
                <a:spcPts val="400"/>
              </a:spcAft>
              <a:buClr>
                <a:srgbClr val="EC6A27"/>
              </a:buClr>
              <a:buFont typeface="Arial"/>
              <a:buChar char="•"/>
            </a:pPr>
            <a:r>
              <a:rPr sz="1900" b="0">
                <a:solidFill>
                  <a:srgbClr val="1E1E1E"/>
                </a:solidFill>
                <a:latin typeface="Glacial Indifference"/>
                <a:ea typeface="Glacial Indifference"/>
                <a:cs typeface="Glacial Indifference"/>
              </a:rPr>
              <a:t>Parent communication and notification</a:t>
            </a:r>
          </a:p>
          <a:p>
            <a:pPr marL="347472" indent="-347472" algn="l">
              <a:spcAft>
                <a:spcPts val="400"/>
              </a:spcAft>
              <a:buClr>
                <a:srgbClr val="EC6A27"/>
              </a:buClr>
              <a:buFont typeface="Arial"/>
              <a:buChar char="•"/>
            </a:pPr>
            <a:r>
              <a:rPr sz="1900" b="0">
                <a:solidFill>
                  <a:srgbClr val="1E1E1E"/>
                </a:solidFill>
                <a:latin typeface="Glacial Indifference"/>
                <a:ea typeface="Glacial Indifference"/>
                <a:cs typeface="Glacial Indifference"/>
              </a:rPr>
              <a:t>Accessibility features management</a:t>
            </a:r>
          </a:p>
          <a:p>
            <a:pPr marL="347472" indent="-347472" algn="l">
              <a:spcAft>
                <a:spcPts val="400"/>
              </a:spcAft>
              <a:buClr>
                <a:srgbClr val="EC6A27"/>
              </a:buClr>
              <a:buFont typeface="Arial"/>
              <a:buChar char="•"/>
            </a:pPr>
            <a:r>
              <a:rPr sz="1900" b="0">
                <a:solidFill>
                  <a:srgbClr val="1E1E1E"/>
                </a:solidFill>
                <a:latin typeface="Glacial Indifference"/>
                <a:ea typeface="Glacial Indifference"/>
                <a:cs typeface="Glacial Indifference"/>
              </a:rPr>
              <a:t>System administration and user management</a:t>
            </a:r>
          </a:p>
        </p:txBody>
      </p:sp>
      <p:sp>
        <p:nvSpPr>
          <p:cNvPr id="19" name="TextBox 18"/>
          <p:cNvSpPr txBox="1"/>
          <p:nvPr/>
        </p:nvSpPr>
        <p:spPr>
          <a:xfrm>
            <a:off x="8046720" y="1874519"/>
            <a:ext cx="9418320" cy="365760"/>
          </a:xfrm>
          <a:prstGeom prst="rect">
            <a:avLst/>
          </a:prstGeom>
          <a:noFill/>
        </p:spPr>
        <p:txBody>
          <a:bodyPr wrap="square" lIns="0" tIns="0" rIns="0" bIns="0" anchor="t">
            <a:spAutoFit/>
          </a:bodyPr>
          <a:lstStyle/>
          <a:p>
            <a:pPr algn="l">
              <a:spcAft>
                <a:spcPts val="800"/>
              </a:spcAft>
            </a:pPr>
            <a:r>
              <a:rPr sz="1900" b="1">
                <a:solidFill>
                  <a:srgbClr val="1E1E1E"/>
                </a:solidFill>
                <a:latin typeface="Glacial Indifference Bold"/>
                <a:ea typeface="Glacial Indifference Bold"/>
                <a:cs typeface="Glacial Indifference Bold"/>
              </a:rPr>
              <a:t>Highest functionality items (weighted mean)</a:t>
            </a:r>
          </a:p>
        </p:txBody>
      </p:sp>
      <p:graphicFrame>
        <p:nvGraphicFramePr>
          <p:cNvPr id="20" name="Chart 19"/>
          <p:cNvGraphicFramePr>
            <a:graphicFrameLocks noGrp="1"/>
          </p:cNvGraphicFramePr>
          <p:nvPr/>
        </p:nvGraphicFramePr>
        <p:xfrm>
          <a:off x="8046720" y="2240280"/>
          <a:ext cx="9418320" cy="3200400"/>
        </p:xfrm>
        <a:graphic>
          <a:graphicData uri="http://schemas.openxmlformats.org/drawingml/2006/chart">
            <c:chart xmlns:c="http://schemas.openxmlformats.org/drawingml/2006/chart" xmlns:r="http://schemas.openxmlformats.org/officeDocument/2006/relationships" r:id="rId23"/>
          </a:graphicData>
        </a:graphic>
      </p:graphicFrame>
      <p:sp>
        <p:nvSpPr>
          <p:cNvPr id="21" name="Rounded Rectangle 20"/>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2" name="TextBox 21"/>
          <p:cNvSpPr txBox="1"/>
          <p:nvPr/>
        </p:nvSpPr>
        <p:spPr>
          <a:xfrm>
            <a:off x="1143000" y="5742432"/>
            <a:ext cx="7498079" cy="411480"/>
          </a:xfrm>
          <a:prstGeom prst="rect">
            <a:avLst/>
          </a:prstGeom>
          <a:noFill/>
        </p:spPr>
        <p:txBody>
          <a:bodyPr wrap="square" lIns="0" tIns="0" rIns="0" bIns="0" anchor="t">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3" name="TextBox 22"/>
          <p:cNvSpPr txBox="1"/>
          <p:nvPr/>
        </p:nvSpPr>
        <p:spPr>
          <a:xfrm>
            <a:off x="1143000" y="6172200"/>
            <a:ext cx="7498079" cy="1554480"/>
          </a:xfrm>
          <a:prstGeom prst="rect">
            <a:avLst/>
          </a:prstGeom>
          <a:noFill/>
        </p:spPr>
        <p:txBody>
          <a:bodyPr wrap="square" lIns="0" tIns="0" rIns="0" bIns="0" anchor="t">
            <a:spAutoFit/>
          </a:bodyPr>
          <a:lstStyle/>
          <a:p>
            <a:pPr algn="l">
              <a:spcAft>
                <a:spcPts val="0"/>
              </a:spcAft>
            </a:pPr>
            <a:r>
              <a:rPr sz="2100" b="0">
                <a:solidFill>
                  <a:srgbClr val="1E1E1E"/>
                </a:solidFill>
                <a:latin typeface="Glacial Indifference"/>
                <a:ea typeface="Glacial Indifference"/>
                <a:cs typeface="Glacial Indifference"/>
              </a:rPr>
              <a:t>Functionality averaged 4.14 (Agree) among students and guardians and 4.27 (Strongly Agree) among teachers and staff.</a:t>
            </a:r>
          </a:p>
        </p:txBody>
      </p:sp>
      <p:sp>
        <p:nvSpPr>
          <p:cNvPr id="24" name="Rounded Rectangle 23"/>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5" name="TextBox 24"/>
          <p:cNvSpPr txBox="1"/>
          <p:nvPr/>
        </p:nvSpPr>
        <p:spPr>
          <a:xfrm>
            <a:off x="9646920" y="5742432"/>
            <a:ext cx="7498079" cy="411480"/>
          </a:xfrm>
          <a:prstGeom prst="rect">
            <a:avLst/>
          </a:prstGeom>
          <a:noFill/>
        </p:spPr>
        <p:txBody>
          <a:bodyPr wrap="square" lIns="0" tIns="0" rIns="0" bIns="0" anchor="t">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6" name="TextBox 25"/>
          <p:cNvSpPr txBox="1"/>
          <p:nvPr/>
        </p:nvSpPr>
        <p:spPr>
          <a:xfrm>
            <a:off x="9646920" y="6172200"/>
            <a:ext cx="7498079" cy="1554480"/>
          </a:xfrm>
          <a:prstGeom prst="rect">
            <a:avLst/>
          </a:prstGeom>
          <a:noFill/>
        </p:spPr>
        <p:txBody>
          <a:bodyPr wrap="square" lIns="0" tIns="0" rIns="0" bIns="0" anchor="t">
            <a:spAutoFit/>
          </a:bodyPr>
          <a:lstStyle/>
          <a:p>
            <a:pPr algn="l">
              <a:spcAft>
                <a:spcPts val="0"/>
              </a:spcAft>
            </a:pPr>
            <a:r>
              <a:rPr sz="2200" b="1">
                <a:solidFill>
                  <a:srgbClr val="FFFFFF"/>
                </a:solidFill>
                <a:latin typeface="Glacial Indifference Bold"/>
                <a:ea typeface="Glacial Indifference Bold"/>
                <a:cs typeface="Glacial Indifference Bold"/>
              </a:rPr>
              <a:t>The core functions for teachers, students and parents were successfully implemented and seen as reliable and effective.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OBJECTIVE 3  |  RESULTS  &gt;  DISCUSSION  &gt;  CONCLUSION</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Evaluation by students, guardians and teachers</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TextBox 15"/>
          <p:cNvSpPr txBox="1"/>
          <p:nvPr/>
        </p:nvSpPr>
        <p:spPr>
          <a:xfrm>
            <a:off x="822960" y="1828800"/>
            <a:ext cx="7315200" cy="365760"/>
          </a:xfrm>
          <a:prstGeom prst="rect">
            <a:avLst/>
          </a:prstGeom>
          <a:noFill/>
        </p:spPr>
        <p:txBody>
          <a:bodyPr wrap="square" lIns="0" tIns="0" rIns="0" bIns="0" anchor="t">
            <a:spAutoFit/>
          </a:bodyPr>
          <a:lstStyle/>
          <a:p>
            <a:pPr algn="l">
              <a:spcAft>
                <a:spcPts val="800"/>
              </a:spcAft>
            </a:pPr>
            <a:r>
              <a:rPr sz="1900" b="1">
                <a:solidFill>
                  <a:srgbClr val="EC6A27"/>
                </a:solidFill>
                <a:latin typeface="Glacial Indifference Bold"/>
                <a:ea typeface="Glacial Indifference Bold"/>
                <a:cs typeface="Glacial Indifference Bold"/>
              </a:rPr>
              <a:t>RESULTS  (weighted mean, five-point Likert scale)</a:t>
            </a:r>
          </a:p>
        </p:txBody>
      </p:sp>
      <p:graphicFrame>
        <p:nvGraphicFramePr>
          <p:cNvPr id="17" name="Chart 16"/>
          <p:cNvGraphicFramePr>
            <a:graphicFrameLocks noGrp="1"/>
          </p:cNvGraphicFramePr>
          <p:nvPr/>
        </p:nvGraphicFramePr>
        <p:xfrm>
          <a:off x="822960" y="2194560"/>
          <a:ext cx="11247120" cy="3291840"/>
        </p:xfrm>
        <a:graphic>
          <a:graphicData uri="http://schemas.openxmlformats.org/drawingml/2006/chart">
            <c:chart xmlns:c="http://schemas.openxmlformats.org/drawingml/2006/chart" xmlns:r="http://schemas.openxmlformats.org/officeDocument/2006/relationships" r:id="rId23"/>
          </a:graphicData>
        </a:graphic>
      </p:graphicFrame>
      <p:sp>
        <p:nvSpPr>
          <p:cNvPr id="18" name="Rounded Rectangle 17"/>
          <p:cNvSpPr/>
          <p:nvPr/>
        </p:nvSpPr>
        <p:spPr>
          <a:xfrm>
            <a:off x="12344400" y="2194560"/>
            <a:ext cx="5120640" cy="15544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9" name="TextBox 18"/>
          <p:cNvSpPr txBox="1"/>
          <p:nvPr/>
        </p:nvSpPr>
        <p:spPr>
          <a:xfrm>
            <a:off x="12573000" y="2331720"/>
            <a:ext cx="4663440" cy="777240"/>
          </a:xfrm>
          <a:prstGeom prst="rect">
            <a:avLst/>
          </a:prstGeom>
          <a:noFill/>
        </p:spPr>
        <p:txBody>
          <a:bodyPr wrap="square" lIns="0" tIns="0" rIns="0" bIns="0" anchor="ctr">
            <a:spAutoFit/>
          </a:bodyPr>
          <a:lstStyle/>
          <a:p>
            <a:pPr algn="ctr">
              <a:spcAft>
                <a:spcPts val="0"/>
              </a:spcAft>
            </a:pPr>
            <a:r>
              <a:rPr sz="4400" b="1">
                <a:solidFill>
                  <a:srgbClr val="EC6A27"/>
                </a:solidFill>
                <a:latin typeface="Glacial Indifference Bold"/>
                <a:ea typeface="Glacial Indifference Bold"/>
                <a:cs typeface="Glacial Indifference Bold"/>
              </a:rPr>
              <a:t>4.19</a:t>
            </a:r>
          </a:p>
        </p:txBody>
      </p:sp>
      <p:sp>
        <p:nvSpPr>
          <p:cNvPr id="20" name="TextBox 19"/>
          <p:cNvSpPr txBox="1"/>
          <p:nvPr/>
        </p:nvSpPr>
        <p:spPr>
          <a:xfrm>
            <a:off x="12573000" y="3049524"/>
            <a:ext cx="4663440" cy="652881"/>
          </a:xfrm>
          <a:prstGeom prst="rect">
            <a:avLst/>
          </a:prstGeom>
          <a:noFill/>
        </p:spPr>
        <p:txBody>
          <a:bodyPr wrap="square" lIns="0" tIns="0" rIns="0" bIns="0" anchor="t">
            <a:spAutoFit/>
          </a:bodyPr>
          <a:lstStyle/>
          <a:p>
            <a:pPr algn="ctr">
              <a:spcAft>
                <a:spcPts val="0"/>
              </a:spcAft>
            </a:pPr>
            <a:r>
              <a:rPr sz="1800" b="0">
                <a:solidFill>
                  <a:srgbClr val="4A4A4A"/>
                </a:solidFill>
                <a:latin typeface="Glacial Indifference"/>
                <a:ea typeface="Glacial Indifference"/>
                <a:cs typeface="Glacial Indifference"/>
              </a:rPr>
              <a:t>Grand weighted mean (Agree)</a:t>
            </a:r>
          </a:p>
        </p:txBody>
      </p:sp>
      <p:sp>
        <p:nvSpPr>
          <p:cNvPr id="21" name="Rounded Rectangle 20"/>
          <p:cNvSpPr/>
          <p:nvPr/>
        </p:nvSpPr>
        <p:spPr>
          <a:xfrm>
            <a:off x="12344400" y="3931920"/>
            <a:ext cx="5120640" cy="15544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2" name="TextBox 21"/>
          <p:cNvSpPr txBox="1"/>
          <p:nvPr/>
        </p:nvSpPr>
        <p:spPr>
          <a:xfrm>
            <a:off x="12573000" y="4069080"/>
            <a:ext cx="4663440" cy="777240"/>
          </a:xfrm>
          <a:prstGeom prst="rect">
            <a:avLst/>
          </a:prstGeom>
          <a:noFill/>
        </p:spPr>
        <p:txBody>
          <a:bodyPr wrap="square" lIns="0" tIns="0" rIns="0" bIns="0" anchor="ctr">
            <a:spAutoFit/>
          </a:bodyPr>
          <a:lstStyle/>
          <a:p>
            <a:pPr algn="ctr">
              <a:spcAft>
                <a:spcPts val="0"/>
              </a:spcAft>
            </a:pPr>
            <a:r>
              <a:rPr sz="4400" b="1">
                <a:solidFill>
                  <a:srgbClr val="EC6A27"/>
                </a:solidFill>
                <a:latin typeface="Glacial Indifference Bold"/>
                <a:ea typeface="Glacial Indifference Bold"/>
                <a:cs typeface="Glacial Indifference Bold"/>
              </a:rPr>
              <a:t>4.25</a:t>
            </a:r>
          </a:p>
        </p:txBody>
      </p:sp>
      <p:sp>
        <p:nvSpPr>
          <p:cNvPr id="23" name="TextBox 22"/>
          <p:cNvSpPr txBox="1"/>
          <p:nvPr/>
        </p:nvSpPr>
        <p:spPr>
          <a:xfrm>
            <a:off x="12573000" y="4786883"/>
            <a:ext cx="4663440" cy="652881"/>
          </a:xfrm>
          <a:prstGeom prst="rect">
            <a:avLst/>
          </a:prstGeom>
          <a:noFill/>
        </p:spPr>
        <p:txBody>
          <a:bodyPr wrap="square" lIns="0" tIns="0" rIns="0" bIns="0" anchor="t">
            <a:spAutoFit/>
          </a:bodyPr>
          <a:lstStyle/>
          <a:p>
            <a:pPr algn="ctr">
              <a:spcAft>
                <a:spcPts val="0"/>
              </a:spcAft>
            </a:pPr>
            <a:r>
              <a:rPr sz="1800" b="0">
                <a:solidFill>
                  <a:srgbClr val="4A4A4A"/>
                </a:solidFill>
                <a:latin typeface="Glacial Indifference"/>
                <a:ea typeface="Glacial Indifference"/>
                <a:cs typeface="Glacial Indifference"/>
              </a:rPr>
              <a:t>Highest: user satisfaction (Strongly Agree)</a:t>
            </a:r>
          </a:p>
        </p:txBody>
      </p:sp>
      <p:sp>
        <p:nvSpPr>
          <p:cNvPr id="24" name="Rounded Rectangle 23"/>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5" name="TextBox 24"/>
          <p:cNvSpPr txBox="1"/>
          <p:nvPr/>
        </p:nvSpPr>
        <p:spPr>
          <a:xfrm>
            <a:off x="1143000" y="5742432"/>
            <a:ext cx="7498079" cy="411480"/>
          </a:xfrm>
          <a:prstGeom prst="rect">
            <a:avLst/>
          </a:prstGeom>
          <a:noFill/>
        </p:spPr>
        <p:txBody>
          <a:bodyPr wrap="square" lIns="0" tIns="0" rIns="0" bIns="0" anchor="t">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6" name="TextBox 25"/>
          <p:cNvSpPr txBox="1"/>
          <p:nvPr/>
        </p:nvSpPr>
        <p:spPr>
          <a:xfrm>
            <a:off x="1143000" y="6172200"/>
            <a:ext cx="7498079" cy="1554480"/>
          </a:xfrm>
          <a:prstGeom prst="rect">
            <a:avLst/>
          </a:prstGeom>
          <a:noFill/>
        </p:spPr>
        <p:txBody>
          <a:bodyPr wrap="square" lIns="0" tIns="0" rIns="0" bIns="0" anchor="t">
            <a:spAutoFit/>
          </a:bodyPr>
          <a:lstStyle/>
          <a:p>
            <a:pPr algn="l">
              <a:spcAft>
                <a:spcPts val="0"/>
              </a:spcAft>
            </a:pPr>
            <a:r>
              <a:rPr sz="2100" b="0">
                <a:solidFill>
                  <a:srgbClr val="1E1E1E"/>
                </a:solidFill>
                <a:latin typeface="Glacial Indifference"/>
                <a:ea typeface="Glacial Indifference"/>
                <a:cs typeface="Glacial Indifference"/>
              </a:rPr>
              <a:t>Lowest items were device use (3.75, teachers) and slower internet (4.03, guardians). These point to device and connectivity limits, not core defects.</a:t>
            </a:r>
          </a:p>
        </p:txBody>
      </p:sp>
      <p:sp>
        <p:nvSpPr>
          <p:cNvPr id="27" name="Rounded Rectangle 26"/>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8" name="TextBox 27"/>
          <p:cNvSpPr txBox="1"/>
          <p:nvPr/>
        </p:nvSpPr>
        <p:spPr>
          <a:xfrm>
            <a:off x="9646920" y="5742432"/>
            <a:ext cx="7498079" cy="411480"/>
          </a:xfrm>
          <a:prstGeom prst="rect">
            <a:avLst/>
          </a:prstGeom>
          <a:noFill/>
        </p:spPr>
        <p:txBody>
          <a:bodyPr wrap="square" lIns="0" tIns="0" rIns="0" bIns="0" anchor="t">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9" name="TextBox 28"/>
          <p:cNvSpPr txBox="1"/>
          <p:nvPr/>
        </p:nvSpPr>
        <p:spPr>
          <a:xfrm>
            <a:off x="9646920" y="6172200"/>
            <a:ext cx="7498079" cy="1554480"/>
          </a:xfrm>
          <a:prstGeom prst="rect">
            <a:avLst/>
          </a:prstGeom>
          <a:noFill/>
        </p:spPr>
        <p:txBody>
          <a:bodyPr wrap="square" lIns="0" tIns="0" rIns="0" bIns="0" anchor="t">
            <a:spAutoFit/>
          </a:bodyPr>
          <a:lstStyle/>
          <a:p>
            <a:pPr algn="l">
              <a:spcAft>
                <a:spcPts val="0"/>
              </a:spcAft>
            </a:pPr>
            <a:r>
              <a:rPr sz="2200" b="1">
                <a:solidFill>
                  <a:srgbClr val="FFFFFF"/>
                </a:solidFill>
                <a:latin typeface="Glacial Indifference Bold"/>
                <a:ea typeface="Glacial Indifference Bold"/>
                <a:cs typeface="Glacial Indifference Bold"/>
              </a:rPr>
              <a:t>End users found the platform generally acceptable, with all ratings in the Agree to Strongly Agree range.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OBJECTIVE 3  |  RESULTS  &gt;  DISCUSSION  &gt;  CONCLUSION</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Evaluation by IT experts (ISO/IEC 25010:2023)</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TextBox 15"/>
          <p:cNvSpPr txBox="1"/>
          <p:nvPr/>
        </p:nvSpPr>
        <p:spPr>
          <a:xfrm>
            <a:off x="822960" y="1828800"/>
            <a:ext cx="8229600" cy="365760"/>
          </a:xfrm>
          <a:prstGeom prst="rect">
            <a:avLst/>
          </a:prstGeom>
          <a:noFill/>
        </p:spPr>
        <p:txBody>
          <a:bodyPr wrap="square" lIns="0" tIns="0" rIns="0" bIns="0" anchor="t">
            <a:spAutoFit/>
          </a:bodyPr>
          <a:lstStyle/>
          <a:p>
            <a:pPr algn="l">
              <a:spcAft>
                <a:spcPts val="800"/>
              </a:spcAft>
            </a:pPr>
            <a:r>
              <a:rPr sz="1900" b="1">
                <a:solidFill>
                  <a:srgbClr val="EC6A27"/>
                </a:solidFill>
                <a:latin typeface="Glacial Indifference Bold"/>
                <a:ea typeface="Glacial Indifference Bold"/>
                <a:cs typeface="Glacial Indifference Bold"/>
              </a:rPr>
              <a:t>RESULTS  (n = 5, weighted mean)</a:t>
            </a:r>
          </a:p>
        </p:txBody>
      </p:sp>
      <p:graphicFrame>
        <p:nvGraphicFramePr>
          <p:cNvPr id="17" name="Chart 16"/>
          <p:cNvGraphicFramePr>
            <a:graphicFrameLocks noGrp="1"/>
          </p:cNvGraphicFramePr>
          <p:nvPr/>
        </p:nvGraphicFramePr>
        <p:xfrm>
          <a:off x="822960" y="2194560"/>
          <a:ext cx="8778240" cy="5577840"/>
        </p:xfrm>
        <a:graphic>
          <a:graphicData uri="http://schemas.openxmlformats.org/drawingml/2006/chart">
            <c:chart xmlns:c="http://schemas.openxmlformats.org/drawingml/2006/chart" xmlns:r="http://schemas.openxmlformats.org/officeDocument/2006/relationships" r:id="rId23"/>
          </a:graphicData>
        </a:graphic>
      </p:graphicFrame>
      <p:sp>
        <p:nvSpPr>
          <p:cNvPr id="18" name="Rounded Rectangle 17"/>
          <p:cNvSpPr/>
          <p:nvPr/>
        </p:nvSpPr>
        <p:spPr>
          <a:xfrm>
            <a:off x="9875520" y="2194560"/>
            <a:ext cx="3611880" cy="17373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9" name="TextBox 18"/>
          <p:cNvSpPr txBox="1"/>
          <p:nvPr/>
        </p:nvSpPr>
        <p:spPr>
          <a:xfrm>
            <a:off x="10104120" y="2331720"/>
            <a:ext cx="3154680" cy="868680"/>
          </a:xfrm>
          <a:prstGeom prst="rect">
            <a:avLst/>
          </a:prstGeom>
          <a:noFill/>
        </p:spPr>
        <p:txBody>
          <a:bodyPr wrap="square" lIns="0" tIns="0" rIns="0" bIns="0" anchor="ctr">
            <a:spAutoFit/>
          </a:bodyPr>
          <a:lstStyle/>
          <a:p>
            <a:pPr algn="ctr">
              <a:spcAft>
                <a:spcPts val="0"/>
              </a:spcAft>
            </a:pPr>
            <a:r>
              <a:rPr sz="4600" b="1">
                <a:solidFill>
                  <a:srgbClr val="EC6A27"/>
                </a:solidFill>
                <a:latin typeface="Glacial Indifference Bold"/>
                <a:ea typeface="Glacial Indifference Bold"/>
                <a:cs typeface="Glacial Indifference Bold"/>
              </a:rPr>
              <a:t>4.10</a:t>
            </a:r>
          </a:p>
        </p:txBody>
      </p:sp>
      <p:sp>
        <p:nvSpPr>
          <p:cNvPr id="20" name="TextBox 19"/>
          <p:cNvSpPr txBox="1"/>
          <p:nvPr/>
        </p:nvSpPr>
        <p:spPr>
          <a:xfrm>
            <a:off x="10104120" y="3150108"/>
            <a:ext cx="3154680" cy="729691"/>
          </a:xfrm>
          <a:prstGeom prst="rect">
            <a:avLst/>
          </a:prstGeom>
          <a:noFill/>
        </p:spPr>
        <p:txBody>
          <a:bodyPr wrap="square" lIns="0" tIns="0" rIns="0" bIns="0" anchor="t">
            <a:spAutoFit/>
          </a:bodyPr>
          <a:lstStyle/>
          <a:p>
            <a:pPr algn="ctr">
              <a:spcAft>
                <a:spcPts val="0"/>
              </a:spcAft>
            </a:pPr>
            <a:r>
              <a:rPr sz="1800" b="0">
                <a:solidFill>
                  <a:srgbClr val="4A4A4A"/>
                </a:solidFill>
                <a:latin typeface="Glacial Indifference"/>
                <a:ea typeface="Glacial Indifference"/>
                <a:cs typeface="Glacial Indifference"/>
              </a:rPr>
              <a:t>Overall weighted mean (Agree)</a:t>
            </a:r>
          </a:p>
        </p:txBody>
      </p:sp>
      <p:sp>
        <p:nvSpPr>
          <p:cNvPr id="21" name="Rounded Rectangle 20"/>
          <p:cNvSpPr/>
          <p:nvPr/>
        </p:nvSpPr>
        <p:spPr>
          <a:xfrm>
            <a:off x="13853160" y="2194560"/>
            <a:ext cx="3611880" cy="17373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2" name="TextBox 21"/>
          <p:cNvSpPr txBox="1"/>
          <p:nvPr/>
        </p:nvSpPr>
        <p:spPr>
          <a:xfrm>
            <a:off x="14081760" y="2331720"/>
            <a:ext cx="3154680" cy="868680"/>
          </a:xfrm>
          <a:prstGeom prst="rect">
            <a:avLst/>
          </a:prstGeom>
          <a:noFill/>
        </p:spPr>
        <p:txBody>
          <a:bodyPr wrap="square" lIns="0" tIns="0" rIns="0" bIns="0" anchor="ctr">
            <a:spAutoFit/>
          </a:bodyPr>
          <a:lstStyle/>
          <a:p>
            <a:pPr algn="ctr">
              <a:spcAft>
                <a:spcPts val="0"/>
              </a:spcAft>
            </a:pPr>
            <a:r>
              <a:rPr sz="4600" b="1">
                <a:solidFill>
                  <a:srgbClr val="EC6A27"/>
                </a:solidFill>
                <a:latin typeface="Glacial Indifference Bold"/>
                <a:ea typeface="Glacial Indifference Bold"/>
                <a:cs typeface="Glacial Indifference Bold"/>
              </a:rPr>
              <a:t>4.20</a:t>
            </a:r>
          </a:p>
        </p:txBody>
      </p:sp>
      <p:sp>
        <p:nvSpPr>
          <p:cNvPr id="23" name="TextBox 22"/>
          <p:cNvSpPr txBox="1"/>
          <p:nvPr/>
        </p:nvSpPr>
        <p:spPr>
          <a:xfrm>
            <a:off x="14081760" y="3150108"/>
            <a:ext cx="3154680" cy="729691"/>
          </a:xfrm>
          <a:prstGeom prst="rect">
            <a:avLst/>
          </a:prstGeom>
          <a:noFill/>
        </p:spPr>
        <p:txBody>
          <a:bodyPr wrap="square" lIns="0" tIns="0" rIns="0" bIns="0" anchor="t">
            <a:spAutoFit/>
          </a:bodyPr>
          <a:lstStyle/>
          <a:p>
            <a:pPr algn="ctr">
              <a:spcAft>
                <a:spcPts val="0"/>
              </a:spcAft>
            </a:pPr>
            <a:r>
              <a:rPr sz="1800" b="0">
                <a:solidFill>
                  <a:srgbClr val="4A4A4A"/>
                </a:solidFill>
                <a:latin typeface="Glacial Indifference"/>
                <a:ea typeface="Glacial Indifference"/>
                <a:cs typeface="Glacial Indifference"/>
              </a:rPr>
              <a:t>Security and portability (Strongly Agree)</a:t>
            </a:r>
          </a:p>
        </p:txBody>
      </p:sp>
      <p:sp>
        <p:nvSpPr>
          <p:cNvPr id="24" name="Rounded Rectangle 23"/>
          <p:cNvSpPr/>
          <p:nvPr/>
        </p:nvSpPr>
        <p:spPr>
          <a:xfrm>
            <a:off x="9875520" y="4160520"/>
            <a:ext cx="7589520" cy="1691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5" name="TextBox 24"/>
          <p:cNvSpPr txBox="1"/>
          <p:nvPr/>
        </p:nvSpPr>
        <p:spPr>
          <a:xfrm>
            <a:off x="10149840" y="4251960"/>
            <a:ext cx="7040880" cy="365760"/>
          </a:xfrm>
          <a:prstGeom prst="rect">
            <a:avLst/>
          </a:prstGeom>
          <a:noFill/>
        </p:spPr>
        <p:txBody>
          <a:bodyPr wrap="square" lIns="0" tIns="0" rIns="0" bIns="0" anchor="t">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6" name="TextBox 25"/>
          <p:cNvSpPr txBox="1"/>
          <p:nvPr/>
        </p:nvSpPr>
        <p:spPr>
          <a:xfrm>
            <a:off x="10149840" y="4663440"/>
            <a:ext cx="7040880" cy="1188720"/>
          </a:xfrm>
          <a:prstGeom prst="rect">
            <a:avLst/>
          </a:prstGeom>
          <a:noFill/>
        </p:spPr>
        <p:txBody>
          <a:bodyPr wrap="square" lIns="0" tIns="0" rIns="0" bIns="0" anchor="t">
            <a:spAutoFit/>
          </a:bodyPr>
          <a:lstStyle/>
          <a:p>
            <a:pPr algn="l">
              <a:spcAft>
                <a:spcPts val="0"/>
              </a:spcAft>
            </a:pPr>
            <a:r>
              <a:rPr sz="2000" b="0">
                <a:solidFill>
                  <a:srgbClr val="1E1E1E"/>
                </a:solidFill>
                <a:latin typeface="Glacial Indifference"/>
                <a:ea typeface="Glacial Indifference"/>
                <a:cs typeface="Glacial Indifference"/>
              </a:rPr>
              <a:t>Experts rated every quality characteristic Agree or higher; function suitability was lowest at 3.95.</a:t>
            </a:r>
          </a:p>
        </p:txBody>
      </p:sp>
      <p:sp>
        <p:nvSpPr>
          <p:cNvPr id="27" name="Rounded Rectangle 26"/>
          <p:cNvSpPr/>
          <p:nvPr/>
        </p:nvSpPr>
        <p:spPr>
          <a:xfrm>
            <a:off x="9875520" y="6035040"/>
            <a:ext cx="7589520" cy="173736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8" name="TextBox 27"/>
          <p:cNvSpPr txBox="1"/>
          <p:nvPr/>
        </p:nvSpPr>
        <p:spPr>
          <a:xfrm>
            <a:off x="10149840" y="6126480"/>
            <a:ext cx="7040880" cy="365760"/>
          </a:xfrm>
          <a:prstGeom prst="rect">
            <a:avLst/>
          </a:prstGeom>
          <a:noFill/>
        </p:spPr>
        <p:txBody>
          <a:bodyPr wrap="square" lIns="0" tIns="0" rIns="0" bIns="0" anchor="t">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9" name="TextBox 28"/>
          <p:cNvSpPr txBox="1"/>
          <p:nvPr/>
        </p:nvSpPr>
        <p:spPr>
          <a:xfrm>
            <a:off x="10149840" y="6537960"/>
            <a:ext cx="7040880" cy="1188720"/>
          </a:xfrm>
          <a:prstGeom prst="rect">
            <a:avLst/>
          </a:prstGeom>
          <a:noFill/>
        </p:spPr>
        <p:txBody>
          <a:bodyPr wrap="square" lIns="0" tIns="0" rIns="0" bIns="0" anchor="t">
            <a:spAutoFit/>
          </a:bodyPr>
          <a:lstStyle/>
          <a:p>
            <a:pPr algn="l">
              <a:spcAft>
                <a:spcPts val="0"/>
              </a:spcAft>
            </a:pPr>
            <a:r>
              <a:rPr sz="2000" b="1">
                <a:solidFill>
                  <a:srgbClr val="FFFFFF"/>
                </a:solidFill>
                <a:latin typeface="Glacial Indifference Bold"/>
                <a:ea typeface="Glacial Indifference Bold"/>
                <a:cs typeface="Glacial Indifference Bold"/>
              </a:rPr>
              <a:t>The platform is acceptable to users (4.19) and technically sound (4.10). The general objective was met.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RECOMMENDATIONS</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Based on what the results showed</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
        <p:nvSpPr>
          <p:cNvPr id="16" name="Rounded Rectangle 15"/>
          <p:cNvSpPr/>
          <p:nvPr/>
        </p:nvSpPr>
        <p:spPr>
          <a:xfrm>
            <a:off x="82296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7" name="TextBox 16"/>
          <p:cNvSpPr txBox="1"/>
          <p:nvPr/>
        </p:nvSpPr>
        <p:spPr>
          <a:xfrm>
            <a:off x="1097280" y="2148840"/>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18" name="TextBox 17"/>
          <p:cNvSpPr txBox="1"/>
          <p:nvPr/>
        </p:nvSpPr>
        <p:spPr>
          <a:xfrm>
            <a:off x="1097280" y="2468880"/>
            <a:ext cx="4800600" cy="7772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Slower internet rated lowest by guardians (4.03)</a:t>
            </a:r>
          </a:p>
        </p:txBody>
      </p:sp>
      <p:sp>
        <p:nvSpPr>
          <p:cNvPr id="19" name="TextBox 18"/>
          <p:cNvSpPr txBox="1"/>
          <p:nvPr/>
        </p:nvSpPr>
        <p:spPr>
          <a:xfrm>
            <a:off x="1097280" y="329183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20" name="TextBox 19"/>
          <p:cNvSpPr txBox="1"/>
          <p:nvPr/>
        </p:nvSpPr>
        <p:spPr>
          <a:xfrm>
            <a:off x="1097280" y="3611880"/>
            <a:ext cx="4800600" cy="1051560"/>
          </a:xfrm>
          <a:prstGeom prst="rect">
            <a:avLst/>
          </a:prstGeom>
          <a:noFill/>
        </p:spPr>
        <p:txBody>
          <a:bodyPr wrap="square" lIns="0" tIns="0" rIns="0" bIns="0" anchor="t">
            <a:spAutoFit/>
          </a:bodyPr>
          <a:lstStyle/>
          <a:p>
            <a:pPr algn="l">
              <a:spcAft>
                <a:spcPts val="0"/>
              </a:spcAft>
            </a:pPr>
            <a:r>
              <a:rPr sz="2100" b="1">
                <a:solidFill>
                  <a:srgbClr val="1E1E1E"/>
                </a:solidFill>
                <a:latin typeface="Glacial Indifference Bold"/>
                <a:ea typeface="Glacial Indifference Bold"/>
                <a:cs typeface="Glacial Indifference Bold"/>
              </a:rPr>
              <a:t>Optimize the platform for slow connections</a:t>
            </a:r>
          </a:p>
        </p:txBody>
      </p:sp>
      <p:sp>
        <p:nvSpPr>
          <p:cNvPr id="21" name="Rounded Rectangle 20"/>
          <p:cNvSpPr/>
          <p:nvPr/>
        </p:nvSpPr>
        <p:spPr>
          <a:xfrm>
            <a:off x="644652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2" name="TextBox 21"/>
          <p:cNvSpPr txBox="1"/>
          <p:nvPr/>
        </p:nvSpPr>
        <p:spPr>
          <a:xfrm>
            <a:off x="6720840" y="2148840"/>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23" name="TextBox 22"/>
          <p:cNvSpPr txBox="1"/>
          <p:nvPr/>
        </p:nvSpPr>
        <p:spPr>
          <a:xfrm>
            <a:off x="6720840" y="2468880"/>
            <a:ext cx="4800600" cy="7772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Device use rated lowest by teachers (3.75)</a:t>
            </a:r>
          </a:p>
        </p:txBody>
      </p:sp>
      <p:sp>
        <p:nvSpPr>
          <p:cNvPr id="24" name="TextBox 23"/>
          <p:cNvSpPr txBox="1"/>
          <p:nvPr/>
        </p:nvSpPr>
        <p:spPr>
          <a:xfrm>
            <a:off x="6720840" y="329183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25" name="TextBox 24"/>
          <p:cNvSpPr txBox="1"/>
          <p:nvPr/>
        </p:nvSpPr>
        <p:spPr>
          <a:xfrm>
            <a:off x="6720840" y="3611880"/>
            <a:ext cx="4800600" cy="1051560"/>
          </a:xfrm>
          <a:prstGeom prst="rect">
            <a:avLst/>
          </a:prstGeom>
          <a:noFill/>
        </p:spPr>
        <p:txBody>
          <a:bodyPr wrap="square" lIns="0" tIns="0" rIns="0" bIns="0" anchor="t">
            <a:spAutoFit/>
          </a:bodyPr>
          <a:lstStyle/>
          <a:p>
            <a:pPr algn="l">
              <a:spcAft>
                <a:spcPts val="0"/>
              </a:spcAft>
            </a:pPr>
            <a:r>
              <a:rPr sz="2100" b="1">
                <a:solidFill>
                  <a:srgbClr val="1E1E1E"/>
                </a:solidFill>
                <a:latin typeface="Glacial Indifference Bold"/>
                <a:ea typeface="Glacial Indifference Bold"/>
                <a:cs typeface="Glacial Indifference Bold"/>
              </a:rPr>
              <a:t>Improve the experience on tablets and mobile phones</a:t>
            </a:r>
          </a:p>
        </p:txBody>
      </p:sp>
      <p:sp>
        <p:nvSpPr>
          <p:cNvPr id="26" name="Rounded Rectangle 25"/>
          <p:cNvSpPr/>
          <p:nvPr/>
        </p:nvSpPr>
        <p:spPr>
          <a:xfrm>
            <a:off x="1207008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7" name="TextBox 26"/>
          <p:cNvSpPr txBox="1"/>
          <p:nvPr/>
        </p:nvSpPr>
        <p:spPr>
          <a:xfrm>
            <a:off x="12344400" y="2148840"/>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28" name="TextBox 27"/>
          <p:cNvSpPr txBox="1"/>
          <p:nvPr/>
        </p:nvSpPr>
        <p:spPr>
          <a:xfrm>
            <a:off x="12344400" y="2468880"/>
            <a:ext cx="4800600" cy="7772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Teacher satisfaction was the lowest criterion (4.05)</a:t>
            </a:r>
          </a:p>
        </p:txBody>
      </p:sp>
      <p:sp>
        <p:nvSpPr>
          <p:cNvPr id="29" name="TextBox 28"/>
          <p:cNvSpPr txBox="1"/>
          <p:nvPr/>
        </p:nvSpPr>
        <p:spPr>
          <a:xfrm>
            <a:off x="12344400" y="329183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30" name="TextBox 29"/>
          <p:cNvSpPr txBox="1"/>
          <p:nvPr/>
        </p:nvSpPr>
        <p:spPr>
          <a:xfrm>
            <a:off x="12344400" y="3611880"/>
            <a:ext cx="4800600" cy="1051560"/>
          </a:xfrm>
          <a:prstGeom prst="rect">
            <a:avLst/>
          </a:prstGeom>
          <a:noFill/>
        </p:spPr>
        <p:txBody>
          <a:bodyPr wrap="square" lIns="0" tIns="0" rIns="0" bIns="0" anchor="t">
            <a:spAutoFit/>
          </a:bodyPr>
          <a:lstStyle/>
          <a:p>
            <a:pPr algn="l">
              <a:spcAft>
                <a:spcPts val="0"/>
              </a:spcAft>
            </a:pPr>
            <a:r>
              <a:rPr sz="2100" b="1">
                <a:solidFill>
                  <a:srgbClr val="1E1E1E"/>
                </a:solidFill>
                <a:latin typeface="Glacial Indifference Bold"/>
                <a:ea typeface="Glacial Indifference Bold"/>
                <a:cs typeface="Glacial Indifference Bold"/>
              </a:rPr>
              <a:t>Gather teacher feedback and add teacher training and support</a:t>
            </a:r>
          </a:p>
        </p:txBody>
      </p:sp>
      <p:sp>
        <p:nvSpPr>
          <p:cNvPr id="31" name="Rounded Rectangle 30"/>
          <p:cNvSpPr/>
          <p:nvPr/>
        </p:nvSpPr>
        <p:spPr>
          <a:xfrm>
            <a:off x="822960" y="4983479"/>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2" name="TextBox 31"/>
          <p:cNvSpPr txBox="1"/>
          <p:nvPr/>
        </p:nvSpPr>
        <p:spPr>
          <a:xfrm>
            <a:off x="1097280" y="516635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33" name="TextBox 32"/>
          <p:cNvSpPr txBox="1"/>
          <p:nvPr/>
        </p:nvSpPr>
        <p:spPr>
          <a:xfrm>
            <a:off x="1097280" y="5486399"/>
            <a:ext cx="4800600" cy="7772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Function suitability was the lowest for IT experts (3.95)</a:t>
            </a:r>
          </a:p>
        </p:txBody>
      </p:sp>
      <p:sp>
        <p:nvSpPr>
          <p:cNvPr id="34" name="TextBox 33"/>
          <p:cNvSpPr txBox="1"/>
          <p:nvPr/>
        </p:nvSpPr>
        <p:spPr>
          <a:xfrm>
            <a:off x="1097280" y="630935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35" name="TextBox 34"/>
          <p:cNvSpPr txBox="1"/>
          <p:nvPr/>
        </p:nvSpPr>
        <p:spPr>
          <a:xfrm>
            <a:off x="1097280" y="6629399"/>
            <a:ext cx="4800600" cy="1051560"/>
          </a:xfrm>
          <a:prstGeom prst="rect">
            <a:avLst/>
          </a:prstGeom>
          <a:noFill/>
        </p:spPr>
        <p:txBody>
          <a:bodyPr wrap="square" lIns="0" tIns="0" rIns="0" bIns="0" anchor="t">
            <a:spAutoFit/>
          </a:bodyPr>
          <a:lstStyle/>
          <a:p>
            <a:pPr algn="l">
              <a:spcAft>
                <a:spcPts val="0"/>
              </a:spcAft>
            </a:pPr>
            <a:r>
              <a:rPr sz="2100" b="1">
                <a:solidFill>
                  <a:srgbClr val="1E1E1E"/>
                </a:solidFill>
                <a:latin typeface="Glacial Indifference Bold"/>
                <a:ea typeface="Glacial Indifference Bold"/>
                <a:cs typeface="Glacial Indifference Bold"/>
              </a:rPr>
              <a:t>Keep refining features with further testing</a:t>
            </a:r>
          </a:p>
        </p:txBody>
      </p:sp>
      <p:sp>
        <p:nvSpPr>
          <p:cNvPr id="36" name="Rounded Rectangle 35"/>
          <p:cNvSpPr/>
          <p:nvPr/>
        </p:nvSpPr>
        <p:spPr>
          <a:xfrm>
            <a:off x="6446520" y="4983479"/>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7" name="TextBox 36"/>
          <p:cNvSpPr txBox="1"/>
          <p:nvPr/>
        </p:nvSpPr>
        <p:spPr>
          <a:xfrm>
            <a:off x="6720840" y="516635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38" name="TextBox 37"/>
          <p:cNvSpPr txBox="1"/>
          <p:nvPr/>
        </p:nvSpPr>
        <p:spPr>
          <a:xfrm>
            <a:off x="6720840" y="5486399"/>
            <a:ext cx="4800600" cy="7772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ea typeface="Glacial Indifference"/>
                <a:cs typeface="Glacial Indifference"/>
              </a:rPr>
              <a:t>Study covered one school and one research period</a:t>
            </a:r>
          </a:p>
        </p:txBody>
      </p:sp>
      <p:sp>
        <p:nvSpPr>
          <p:cNvPr id="39" name="TextBox 38"/>
          <p:cNvSpPr txBox="1"/>
          <p:nvPr/>
        </p:nvSpPr>
        <p:spPr>
          <a:xfrm>
            <a:off x="6720840" y="630935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40" name="TextBox 39"/>
          <p:cNvSpPr txBox="1"/>
          <p:nvPr/>
        </p:nvSpPr>
        <p:spPr>
          <a:xfrm>
            <a:off x="6720840" y="6629399"/>
            <a:ext cx="4800600" cy="1051560"/>
          </a:xfrm>
          <a:prstGeom prst="rect">
            <a:avLst/>
          </a:prstGeom>
          <a:noFill/>
        </p:spPr>
        <p:txBody>
          <a:bodyPr wrap="square" lIns="0" tIns="0" rIns="0" bIns="0" anchor="t">
            <a:spAutoFit/>
          </a:bodyPr>
          <a:lstStyle/>
          <a:p>
            <a:pPr algn="l">
              <a:spcAft>
                <a:spcPts val="0"/>
              </a:spcAft>
            </a:pPr>
            <a:r>
              <a:rPr sz="2100" b="1">
                <a:solidFill>
                  <a:srgbClr val="1E1E1E"/>
                </a:solidFill>
                <a:latin typeface="Glacial Indifference Bold"/>
                <a:ea typeface="Glacial Indifference Bold"/>
                <a:cs typeface="Glacial Indifference Bold"/>
              </a:rPr>
              <a:t>Future studies: other schools and long-term learning effects</a:t>
            </a:r>
          </a:p>
        </p:txBody>
      </p:sp>
      <p:sp>
        <p:nvSpPr>
          <p:cNvPr id="41" name="Rounded Rectangle 40"/>
          <p:cNvSpPr/>
          <p:nvPr/>
        </p:nvSpPr>
        <p:spPr>
          <a:xfrm>
            <a:off x="12070080" y="4983479"/>
            <a:ext cx="5349240" cy="278892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l">
              <a:spcAft>
                <a:spcPts val="0"/>
              </a:spcAft>
            </a:pPr>
            <a:r>
              <a:rPr sz="2100" b="1">
                <a:solidFill>
                  <a:srgbClr val="FFFFFF"/>
                </a:solidFill>
                <a:latin typeface="Glacial Indifference Bold"/>
                <a:ea typeface="Glacial Indifference Bold"/>
                <a:cs typeface="Glacial Indifference Bold"/>
              </a:rPr>
              <a:t>Keep the platform as a supplement to teachers, not a replacement.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r:embed="rId7">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r:embed="rId11">
              <a:alphaModFix amt="16000"/>
              <a:extLst>
                <a:ext uri="{96DAC541-7B7A-43D3-8B79-37D633B846F1}">
                  <asvg:svgBlip xmlns:asvg="http://schemas.microsoft.com/office/drawing/2016/SVG/main" r:embed="rId12"/>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r:embed="rId15">
              <a:alphaModFix amt="16000"/>
              <a:extLst>
                <a:ext uri="{96DAC541-7B7A-43D3-8B79-37D633B846F1}">
                  <asvg:svgBlip xmlns:asvg="http://schemas.microsoft.com/office/drawing/2016/SVG/main" r:embed="rId16"/>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r:embed="rId17">
              <a:alphaModFix amt="16000"/>
              <a:extLst>
                <a:ext uri="{96DAC541-7B7A-43D3-8B79-37D633B846F1}">
                  <asvg:svgBlip xmlns:asvg="http://schemas.microsoft.com/office/drawing/2016/SVG/main" r:embed="rId18"/>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r:embed="rId19">
              <a:extLst>
                <a:ext uri="{96DAC541-7B7A-43D3-8B79-37D633B846F1}">
                  <asvg:svgBlip xmlns:asvg="http://schemas.microsoft.com/office/drawing/2016/SVG/main" r:embed="rId20"/>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r:embed="rId21">
              <a:extLst>
                <a:ext uri="{96DAC541-7B7A-43D3-8B79-37D633B846F1}">
                  <asvg:svgBlip xmlns:asvg="http://schemas.microsoft.com/office/drawing/2016/SVG/main" r:embed="rId22"/>
                </a:ext>
              </a:extLst>
            </a:blip>
            <a:stretch>
              <a:fillRect l="-83" r="-23125" b="-23209"/>
            </a:stretch>
          </a:blipFill>
        </p:spPr>
        <p:txBody>
          <a:bodyPr/>
          <a:lstStyle/>
          <a:p>
            <a:endParaRPr lang="en-PH" dirty="0"/>
          </a:p>
        </p:txBody>
      </p:sp>
      <p:sp>
        <p:nvSpPr>
          <p:cNvPr id="13" name="TextBox 12"/>
          <p:cNvSpPr txBox="1"/>
          <p:nvPr/>
        </p:nvSpPr>
        <p:spPr>
          <a:xfrm>
            <a:off x="1097280" y="2377440"/>
            <a:ext cx="16093440" cy="1828800"/>
          </a:xfrm>
          <a:prstGeom prst="rect">
            <a:avLst/>
          </a:prstGeom>
          <a:noFill/>
        </p:spPr>
        <p:txBody>
          <a:bodyPr wrap="square" lIns="0" tIns="0" rIns="0" bIns="0" anchor="ctr">
            <a:spAutoFit/>
          </a:bodyPr>
          <a:lstStyle/>
          <a:p>
            <a:pPr algn="ctr">
              <a:spcAft>
                <a:spcPts val="800"/>
              </a:spcAft>
            </a:pPr>
            <a:r>
              <a:rPr sz="9600" b="1">
                <a:solidFill>
                  <a:srgbClr val="1E1E1E"/>
                </a:solidFill>
                <a:latin typeface="Glacial Indifference Bold"/>
                <a:ea typeface="Glacial Indifference Bold"/>
                <a:cs typeface="Glacial Indifference Bold"/>
              </a:rPr>
              <a:t>THANK YOU</a:t>
            </a:r>
          </a:p>
        </p:txBody>
      </p:sp>
      <p:sp>
        <p:nvSpPr>
          <p:cNvPr id="14" name="TextBox 13"/>
          <p:cNvSpPr txBox="1"/>
          <p:nvPr/>
        </p:nvSpPr>
        <p:spPr>
          <a:xfrm>
            <a:off x="1097280" y="4480560"/>
            <a:ext cx="16093440" cy="914400"/>
          </a:xfrm>
          <a:prstGeom prst="rect">
            <a:avLst/>
          </a:prstGeom>
          <a:noFill/>
        </p:spPr>
        <p:txBody>
          <a:bodyPr wrap="square" lIns="0" tIns="0" rIns="0" bIns="0" anchor="t">
            <a:spAutoFit/>
          </a:bodyPr>
          <a:lstStyle/>
          <a:p>
            <a:pPr algn="ctr">
              <a:spcAft>
                <a:spcPts val="800"/>
              </a:spcAft>
            </a:pPr>
            <a:r>
              <a:rPr sz="3400" b="0">
                <a:solidFill>
                  <a:srgbClr val="4A4A4A"/>
                </a:solidFill>
                <a:latin typeface="Glacial Indifference"/>
                <a:ea typeface="Glacial Indifference"/>
                <a:cs typeface="Glacial Indifference"/>
              </a:rPr>
              <a:t>We welcome your questions and suggestions.</a:t>
            </a:r>
          </a:p>
        </p:txBody>
      </p:sp>
      <p:sp>
        <p:nvSpPr>
          <p:cNvPr id="15" name="TextBox 14"/>
          <p:cNvSpPr txBox="1"/>
          <p:nvPr/>
        </p:nvSpPr>
        <p:spPr>
          <a:xfrm>
            <a:off x="1097280" y="5852160"/>
            <a:ext cx="16093440" cy="1097280"/>
          </a:xfrm>
          <a:prstGeom prst="rect">
            <a:avLst/>
          </a:prstGeom>
          <a:noFill/>
        </p:spPr>
        <p:txBody>
          <a:bodyPr wrap="square" lIns="0" tIns="0" rIns="0" bIns="0" anchor="t">
            <a:spAutoFit/>
          </a:bodyPr>
          <a:lstStyle/>
          <a:p>
            <a:pPr algn="ctr">
              <a:spcAft>
                <a:spcPts val="800"/>
              </a:spcAft>
            </a:pPr>
            <a:r>
              <a:rPr sz="2200" b="0">
                <a:solidFill>
                  <a:srgbClr val="4A4A4A"/>
                </a:solidFill>
                <a:latin typeface="Glacial Indifference"/>
                <a:ea typeface="Glacial Indifference"/>
                <a:cs typeface="Glacial Indifference"/>
              </a:rPr>
              <a:t>Escarez, Kurt Ronel B.  |  Onda, Kurby Dane B.  |  Parao, Eliseo Evangelista Jr.  |  Quintana, Felipe A. Jr.</a:t>
            </a:r>
          </a:p>
        </p:txBody>
      </p:sp>
      <p:sp>
        <p:nvSpPr>
          <p:cNvPr id="16" name="TextBox 15"/>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ea typeface="Glacial Indifference Bold"/>
                <a:cs typeface="Glacial Indifference Bold"/>
              </a:rPr>
              <a:t>E-LEARNING PLATFORM FOR SNED PROGRAM</a:t>
            </a:r>
          </a:p>
          <a:p>
            <a:pPr algn="l">
              <a:spcAft>
                <a:spcPts val="0"/>
              </a:spcAft>
            </a:pPr>
            <a:r>
              <a:rPr sz="1500" b="1">
                <a:solidFill>
                  <a:srgbClr val="1E1E1E"/>
                </a:solidFill>
                <a:latin typeface="Glacial Indifference Bold"/>
                <a:ea typeface="Glacial Indifference Bold"/>
                <a:cs typeface="Glacial Indifference Bold"/>
              </a:rPr>
              <a:t>BIGAA ELEMENTARY SCHOOL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1775</Words>
  <Application>Microsoft Office PowerPoint</Application>
  <PresentationFormat>Custom</PresentationFormat>
  <Paragraphs>218</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Glacial Indifference</vt:lpstr>
      <vt:lpstr>Calibri</vt:lpstr>
      <vt:lpstr>Arial</vt:lpstr>
      <vt:lpstr>Glacial Indifference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pnc.edu.ph</dc:title>
  <dc:creator>GIMA</dc:creator>
  <cp:lastModifiedBy>Zyrus Miranda</cp:lastModifiedBy>
  <cp:revision>4</cp:revision>
  <dcterms:created xsi:type="dcterms:W3CDTF">2006-08-16T00:00:00Z</dcterms:created>
  <dcterms:modified xsi:type="dcterms:W3CDTF">2026-10-03T14:18:15Z</dcterms:modified>
  <dc:identifier>DAHGg8uSddU</dc:identifier>
</cp:coreProperties>
</file>